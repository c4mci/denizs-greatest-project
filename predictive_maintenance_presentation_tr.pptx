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Hosgeldiniz. Bu sunum, PatchTST Transformer ile gelistirilen prediktif bakim sistemi icin yontem secim mantigi, mimari tasarim ve deneysel sonuclari kapsamaktadir.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problemi ikili siniflandirma olarak tanimliyoruz. Her giris penceresi 4 sensor kanalindan 60 saniyelik veridir. Etiket, sonraki 30 saniyede ariza olursa 1'dir. Pencerelerin yalnizca %2'si ariza oncesidir — gercekci ama zorlu bir sinif dengesizligi.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 mimari aile degerlendirildi. Klasik ML zamansal modelleme yetersiz, manuel ozellik gerektirir. LSTM'ler adim adim isler, gradyan bozunur. PatchTST, yamalar uzerinde paralel oz-dikkat kullanarak uzun mesafeli bagimliliklari dogrudan yakalar — tam olarak cok adimli ariza imzalarimizin gerektirdigi sey.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 yenilik yama tokenizasyonudur. Her zaman adimi icin bir token yerine, 12 ardisik zaman adimini bir yamada gruplandiriyoruz. Bu her tokene yerel zamansal baglam saglar, dizi uzunlugunu 12 kat azaltir ve dikkati cok daha verimli yapar. 4 sensor kanalinin her biri bagimsiz islenir, ardindan birlestirilir.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 seti sentetik ama gercekci olacak sekilde tasarlanmistir. 1 Hz'de 50.000 zaman adimi bize 50.000'e yakin dizi penceresi saglar. Yatak asinmasi, kademeli ve cok kanalli oldugu icin en zor tespit edilen arizadir.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 sonuc: Yalnizca 5 epoch sonrasi 0.997 ROC-AUC. 150 ariza olayindan 145'ini tespit ediyoruz. Dikkat cekici bicimde, Transformer'imiz LSTM'den %17 daha az parametre kullanarak daha yuksek performans elde ediyor.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temel mekanizmayı gostermektedir. Yatak asinmasi en ilginc arizadir cunku sinyal 60 adimlik pencerenin tamamina yayilir. LSTM bu sinyali 60 ardisik guncelleme boyunca tasimak zorundadir. Transformer ise diziyi 5 token'a bolup hepsinin birbirine dogrudan dikkat etmesini saglar.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buyuk pratik zorluk sinif dengesizligidir. Yalnizca %2 ariza penceresiyle, basit bir model 'normal' tahmin edip %98 dogruluk elde edebilir. Bu yuzden agirlikli ornekleme kullaniyoruz ve F1'i izliyoruz, dogruluğu degil.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Sinirlamalar konusunda donuk olmak sunumu guclendirir. Temel sinirlamalar: kanal arasi korelasyonlari modellemiyoruz, penceremiz yatak asinmasinin tam evrimi icin cok kisa ve dikkat agirliklarini henuz gorsellestirilmedik.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ile ozetleyin. Alttaki tirnak cumlesini okuyun — sunum icin hazir kullanilabilir bir konusma cumesidir. Dinleyicilere tesekkur edin ve sorulara acin.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w="12700">
            <a:solidFill>
              <a:srgbClr val="0EA5E9"/>
            </a:solidFill>
            <a:prstDash val="solid"/>
          </a:ln>
        </p:spPr>
      </p:sp>
      <p:sp>
        <p:nvSpPr>
          <p:cNvPr id="3" name="Shape 1"/>
          <p:cNvSpPr/>
          <p:nvPr/>
        </p:nvSpPr>
        <p:spPr>
          <a:xfrm>
            <a:off x="0" y="73152"/>
            <a:ext cx="9144000" cy="5070348"/>
          </a:xfrm>
          <a:prstGeom prst="rect">
            <a:avLst/>
          </a:prstGeom>
          <a:solidFill>
            <a:srgbClr val="0A1628"/>
          </a:solidFill>
          <a:ln w="12700">
            <a:solidFill>
              <a:srgbClr val="0A1628"/>
            </a:solidFill>
            <a:prstDash val="solid"/>
          </a:ln>
        </p:spPr>
      </p:sp>
      <p:sp>
        <p:nvSpPr>
          <p:cNvPr id="4" name="Shape 2"/>
          <p:cNvSpPr/>
          <p:nvPr/>
        </p:nvSpPr>
        <p:spPr>
          <a:xfrm>
            <a:off x="6583680" y="548640"/>
            <a:ext cx="2926080" cy="2926080"/>
          </a:xfrm>
          <a:prstGeom prst="ellipse">
            <a:avLst/>
          </a:prstGeom>
          <a:solidFill>
            <a:srgbClr val="0EA5E9">
              <a:alpha val="12000"/>
            </a:srgbClr>
          </a:solidFill>
          <a:ln w="6350">
            <a:solidFill>
              <a:srgbClr val="0EA5E9">
                <a:alpha val="40000"/>
              </a:srgbClr>
            </a:solidFill>
            <a:prstDash val="solid"/>
          </a:ln>
        </p:spPr>
      </p:sp>
      <p:sp>
        <p:nvSpPr>
          <p:cNvPr id="5" name="Shape 3"/>
          <p:cNvSpPr/>
          <p:nvPr/>
        </p:nvSpPr>
        <p:spPr>
          <a:xfrm>
            <a:off x="7132320" y="1005840"/>
            <a:ext cx="1920240" cy="1920240"/>
          </a:xfrm>
          <a:prstGeom prst="ellipse">
            <a:avLst/>
          </a:prstGeom>
          <a:solidFill>
            <a:srgbClr val="0EA5E9">
              <a:alpha val="20000"/>
            </a:srgbClr>
          </a:solidFill>
          <a:ln w="12700">
            <a:solidFill>
              <a:srgbClr val="0EA5E9"/>
            </a:solidFill>
            <a:prstDash val="solid"/>
          </a:ln>
        </p:spPr>
      </p:sp>
      <p:pic>
        <p:nvPicPr>
          <p:cNvPr id="6" name="Image 0" descr="preencoded.png">    </p:cNvPr>
          <p:cNvPicPr>
            <a:picLocks noChangeAspect="1"/>
          </p:cNvPicPr>
          <p:nvPr/>
        </p:nvPicPr>
        <p:blipFill>
          <a:blip r:embed="rId1"/>
          <a:stretch>
            <a:fillRect/>
          </a:stretch>
        </p:blipFill>
        <p:spPr>
          <a:xfrm>
            <a:off x="7406640" y="1280160"/>
            <a:ext cx="1280160" cy="1280160"/>
          </a:xfrm>
          <a:prstGeom prst="rect">
            <a:avLst/>
          </a:prstGeom>
        </p:spPr>
      </p:pic>
      <p:sp>
        <p:nvSpPr>
          <p:cNvPr id="7" name="Text 4"/>
          <p:cNvSpPr/>
          <p:nvPr/>
        </p:nvSpPr>
        <p:spPr>
          <a:xfrm>
            <a:off x="457200" y="822960"/>
            <a:ext cx="5943600" cy="256032"/>
          </a:xfrm>
          <a:prstGeom prst="rect">
            <a:avLst/>
          </a:prstGeom>
          <a:noFill/>
          <a:ln/>
        </p:spPr>
        <p:txBody>
          <a:bodyPr wrap="square" rtlCol="0" anchor="ctr"/>
          <a:lstStyle/>
          <a:p>
            <a:pPr indent="0" marL="0">
              <a:buNone/>
            </a:pPr>
            <a:r>
              <a:rPr lang="en-US" sz="900" b="1" spc="400" kern="0" dirty="0">
                <a:solidFill>
                  <a:srgbClr val="0EA5E9"/>
                </a:solidFill>
                <a:latin typeface="Calibri" pitchFamily="34" charset="0"/>
                <a:ea typeface="Calibri" pitchFamily="34" charset="-122"/>
                <a:cs typeface="Calibri" pitchFamily="34" charset="-120"/>
              </a:rPr>
              <a:t>DERIN OGRENME PROJESI</a:t>
            </a:r>
            <a:endParaRPr lang="en-US" sz="900" dirty="0"/>
          </a:p>
        </p:txBody>
      </p:sp>
      <p:sp>
        <p:nvSpPr>
          <p:cNvPr id="8" name="Text 5"/>
          <p:cNvSpPr/>
          <p:nvPr/>
        </p:nvSpPr>
        <p:spPr>
          <a:xfrm>
            <a:off x="457200" y="1143000"/>
            <a:ext cx="6400800" cy="91440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Prediktif Bakim</a:t>
            </a:r>
            <a:endParaRPr lang="en-US" sz="4400" dirty="0"/>
          </a:p>
        </p:txBody>
      </p:sp>
      <p:sp>
        <p:nvSpPr>
          <p:cNvPr id="9" name="Text 6"/>
          <p:cNvSpPr/>
          <p:nvPr/>
        </p:nvSpPr>
        <p:spPr>
          <a:xfrm>
            <a:off x="457200" y="2176272"/>
            <a:ext cx="6583680" cy="822960"/>
          </a:xfrm>
          <a:prstGeom prst="rect">
            <a:avLst/>
          </a:prstGeom>
          <a:noFill/>
          <a:ln/>
        </p:spPr>
        <p:txBody>
          <a:bodyPr wrap="square" rtlCol="0" anchor="ctr"/>
          <a:lstStyle/>
          <a:p>
            <a:pPr indent="0" marL="0">
              <a:lnSpc>
                <a:spcPct val="130000"/>
              </a:lnSpc>
              <a:buNone/>
            </a:pPr>
            <a:r>
              <a:rPr lang="en-US" sz="1800" dirty="0">
                <a:solidFill>
                  <a:srgbClr val="E2E8F0"/>
                </a:solidFill>
                <a:latin typeface="Calibri" pitchFamily="34" charset="0"/>
                <a:ea typeface="Calibri" pitchFamily="34" charset="-122"/>
                <a:cs typeface="Calibri" pitchFamily="34" charset="-120"/>
              </a:rPr>
              <a:t>Endustriyel Ariza Tahmini icin</a:t>
            </a:r>
            <a:endParaRPr lang="en-US" sz="1800" dirty="0"/>
          </a:p>
          <a:p>
            <a:pPr indent="0" marL="0">
              <a:lnSpc>
                <a:spcPct val="130000"/>
              </a:lnSpc>
              <a:buNone/>
            </a:pPr>
            <a:r>
              <a:rPr lang="en-US" sz="1800" dirty="0">
                <a:solidFill>
                  <a:srgbClr val="E2E8F0"/>
                </a:solidFill>
                <a:latin typeface="Calibri" pitchFamily="34" charset="0"/>
                <a:ea typeface="Calibri" pitchFamily="34" charset="-122"/>
                <a:cs typeface="Calibri" pitchFamily="34" charset="-120"/>
              </a:rPr>
              <a:t>Transformer Tabanli Derin Ogrenme</a:t>
            </a:r>
            <a:endParaRPr lang="en-US" sz="1800" dirty="0"/>
          </a:p>
        </p:txBody>
      </p:sp>
      <p:sp>
        <p:nvSpPr>
          <p:cNvPr id="10" name="Shape 7"/>
          <p:cNvSpPr/>
          <p:nvPr/>
        </p:nvSpPr>
        <p:spPr>
          <a:xfrm>
            <a:off x="457200" y="3090672"/>
            <a:ext cx="1645920" cy="45720"/>
          </a:xfrm>
          <a:prstGeom prst="rect">
            <a:avLst/>
          </a:prstGeom>
          <a:solidFill>
            <a:srgbClr val="0EA5E9"/>
          </a:solidFill>
          <a:ln w="12700">
            <a:solidFill>
              <a:srgbClr val="0EA5E9"/>
            </a:solidFill>
            <a:prstDash val="solid"/>
          </a:ln>
        </p:spPr>
      </p:sp>
      <p:sp>
        <p:nvSpPr>
          <p:cNvPr id="11" name="Text 8"/>
          <p:cNvSpPr/>
          <p:nvPr/>
        </p:nvSpPr>
        <p:spPr>
          <a:xfrm>
            <a:off x="457200" y="3246120"/>
            <a:ext cx="8229600" cy="27432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PatchTST Transformer  ·  Cok Degiskenli Sensor Verisi  ·  Ikili Ariza Siniflandirmasi</a:t>
            </a:r>
            <a:endParaRPr lang="en-US" sz="1100" dirty="0"/>
          </a:p>
        </p:txBody>
      </p:sp>
      <p:sp>
        <p:nvSpPr>
          <p:cNvPr id="12" name="Shape 9"/>
          <p:cNvSpPr/>
          <p:nvPr/>
        </p:nvSpPr>
        <p:spPr>
          <a:xfrm>
            <a:off x="0" y="4846320"/>
            <a:ext cx="9144000" cy="297180"/>
          </a:xfrm>
          <a:prstGeom prst="rect">
            <a:avLst/>
          </a:prstGeom>
          <a:solidFill>
            <a:srgbClr val="162D5A"/>
          </a:solidFill>
          <a:ln w="12700">
            <a:solidFill>
              <a:srgbClr val="162D5A"/>
            </a:solidFill>
            <a:prstDash val="solid"/>
          </a:ln>
        </p:spPr>
      </p:sp>
      <p:sp>
        <p:nvSpPr>
          <p:cNvPr id="13" name="Text 10"/>
          <p:cNvSpPr/>
          <p:nvPr/>
        </p:nvSpPr>
        <p:spPr>
          <a:xfrm>
            <a:off x="457200" y="4873752"/>
            <a:ext cx="8229600" cy="24688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Yontem Secimi ve Sonuclar Raporu</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PROBLEM TANIMI</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Ne Tahmin Etmeye Calisiyoruz?</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61872"/>
            <a:ext cx="4023360" cy="347472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548640" y="1389888"/>
            <a:ext cx="3657600" cy="292608"/>
          </a:xfrm>
          <a:prstGeom prst="rect">
            <a:avLst/>
          </a:prstGeom>
          <a:noFill/>
          <a:ln/>
        </p:spPr>
        <p:txBody>
          <a:bodyPr wrap="square" rtlCol="0" anchor="ctr"/>
          <a:lstStyle/>
          <a:p>
            <a:pPr indent="0" marL="0">
              <a:buNone/>
            </a:pPr>
            <a:r>
              <a:rPr lang="en-US" sz="1400" b="1" dirty="0">
                <a:solidFill>
                  <a:srgbClr val="0EA5E9"/>
                </a:solidFill>
                <a:latin typeface="Calibri" pitchFamily="34" charset="0"/>
                <a:ea typeface="Calibri" pitchFamily="34" charset="-122"/>
                <a:cs typeface="Calibri" pitchFamily="34" charset="-120"/>
              </a:rPr>
              <a:t>Gorev</a:t>
            </a:r>
            <a:endParaRPr lang="en-US" sz="1400" dirty="0"/>
          </a:p>
        </p:txBody>
      </p:sp>
      <p:sp>
        <p:nvSpPr>
          <p:cNvPr id="7" name="Text 5"/>
          <p:cNvSpPr/>
          <p:nvPr/>
        </p:nvSpPr>
        <p:spPr>
          <a:xfrm>
            <a:off x="548640" y="1737360"/>
            <a:ext cx="3657600" cy="2834640"/>
          </a:xfrm>
          <a:prstGeom prst="rect">
            <a:avLst/>
          </a:prstGeom>
          <a:noFill/>
          <a:ln/>
        </p:spPr>
        <p:txBody>
          <a:bodyPr wrap="square" rtlCol="0" anchor="t"/>
          <a:lstStyle/>
          <a:p>
            <a:pPr indent="0" marL="0">
              <a:buNone/>
            </a:pPr>
            <a:r>
              <a:rPr lang="en-US" sz="1250" b="1" dirty="0">
                <a:solidFill>
                  <a:srgbClr val="E2E8F0"/>
                </a:solidFill>
                <a:latin typeface="Calibri" pitchFamily="34" charset="0"/>
                <a:ea typeface="Calibri" pitchFamily="34" charset="-122"/>
                <a:cs typeface="Calibri" pitchFamily="34" charset="-120"/>
              </a:rPr>
              <a:t>Ikili dizi siniflandirmasi</a:t>
            </a:r>
            <a:endParaRPr lang="en-US" sz="1250" dirty="0"/>
          </a:p>
          <a:p>
            <a:pPr indent="0" marL="0">
              <a:buNone/>
            </a:pPr>
            <a:endParaRPr lang="en-US" sz="1250" dirty="0"/>
          </a:p>
          <a:p>
            <a:pPr indent="0" marL="0">
              <a:buNone/>
            </a:pPr>
            <a:r>
              <a:rPr lang="en-US" sz="1250" b="1" dirty="0">
                <a:solidFill>
                  <a:srgbClr val="E2E8F0"/>
                </a:solidFill>
                <a:latin typeface="Calibri" pitchFamily="34" charset="0"/>
                <a:ea typeface="Calibri" pitchFamily="34" charset="-122"/>
                <a:cs typeface="Calibri" pitchFamily="34" charset="-120"/>
              </a:rPr>
              <a:t>Giris: </a:t>
            </a:r>
            <a:endParaRPr lang="en-US" sz="1250" dirty="0"/>
          </a:p>
          <a:p>
            <a:pPr indent="0" marL="0">
              <a:buNone/>
            </a:pPr>
            <a:r>
              <a:rPr lang="en-US" sz="1250" dirty="0">
                <a:solidFill>
                  <a:srgbClr val="E2E8F0"/>
                </a:solidFill>
                <a:latin typeface="Calibri" pitchFamily="34" charset="0"/>
                <a:ea typeface="Calibri" pitchFamily="34" charset="-122"/>
                <a:cs typeface="Calibri" pitchFamily="34" charset="-120"/>
              </a:rPr>
              <a:t>60 zaman adimi × 4 sensor kanali
</a:t>
            </a:r>
            <a:pPr indent="0" marL="0">
              <a:buNone/>
            </a:pPr>
            <a:endParaRPr lang="en-US" sz="1250" dirty="0"/>
          </a:p>
          <a:p>
            <a:pPr indent="0" marL="0">
              <a:buNone/>
            </a:pPr>
            <a:r>
              <a:rPr lang="en-US" sz="1250" b="1" dirty="0">
                <a:solidFill>
                  <a:srgbClr val="E2E8F0"/>
                </a:solidFill>
                <a:latin typeface="Calibri" pitchFamily="34" charset="0"/>
                <a:ea typeface="Calibri" pitchFamily="34" charset="-122"/>
                <a:cs typeface="Calibri" pitchFamily="34" charset="-120"/>
              </a:rPr>
              <a:t>Etiket: </a:t>
            </a:r>
            <a:endParaRPr lang="en-US" sz="1250" dirty="0"/>
          </a:p>
          <a:p>
            <a:pPr indent="0" marL="0">
              <a:buNone/>
            </a:pPr>
            <a:r>
              <a:rPr lang="en-US" sz="1250" dirty="0">
                <a:solidFill>
                  <a:srgbClr val="E2E8F0"/>
                </a:solidFill>
                <a:latin typeface="Calibri" pitchFamily="34" charset="0"/>
                <a:ea typeface="Calibri" pitchFamily="34" charset="-122"/>
                <a:cs typeface="Calibri" pitchFamily="34" charset="-120"/>
              </a:rPr>
              <a:t>Sonraki 30 adimda ariza varsa 1, yoksa 0
</a:t>
            </a:r>
            <a:pPr indent="0" marL="0">
              <a:buNone/>
            </a:pPr>
            <a:endParaRPr lang="en-US" sz="1250" dirty="0"/>
          </a:p>
          <a:p>
            <a:pPr indent="0" marL="0">
              <a:buNone/>
            </a:pPr>
            <a:r>
              <a:rPr lang="en-US" sz="1250" b="1" dirty="0">
                <a:solidFill>
                  <a:srgbClr val="E2E8F0"/>
                </a:solidFill>
                <a:latin typeface="Calibri" pitchFamily="34" charset="0"/>
                <a:ea typeface="Calibri" pitchFamily="34" charset="-122"/>
                <a:cs typeface="Calibri" pitchFamily="34" charset="-120"/>
              </a:rPr>
              <a:t>Ornekleme hizi: </a:t>
            </a:r>
            <a:endParaRPr lang="en-US" sz="1250" dirty="0"/>
          </a:p>
          <a:p>
            <a:pPr indent="0" marL="0">
              <a:buNone/>
            </a:pPr>
            <a:r>
              <a:rPr lang="en-US" sz="1250" dirty="0">
                <a:solidFill>
                  <a:srgbClr val="E2E8F0"/>
                </a:solidFill>
                <a:latin typeface="Calibri" pitchFamily="34" charset="0"/>
                <a:ea typeface="Calibri" pitchFamily="34" charset="-122"/>
                <a:cs typeface="Calibri" pitchFamily="34" charset="-120"/>
              </a:rPr>
              <a:t>1 Hz (saniyede 1 ornek)
</a:t>
            </a:r>
            <a:pPr indent="0" marL="0">
              <a:buNone/>
            </a:pPr>
            <a:endParaRPr lang="en-US" sz="1250" dirty="0"/>
          </a:p>
          <a:p>
            <a:pPr indent="0" marL="0">
              <a:buNone/>
            </a:pPr>
            <a:r>
              <a:rPr lang="en-US" sz="1250" b="1" dirty="0">
                <a:solidFill>
                  <a:srgbClr val="E2E8F0"/>
                </a:solidFill>
                <a:latin typeface="Calibri" pitchFamily="34" charset="0"/>
                <a:ea typeface="Calibri" pitchFamily="34" charset="-122"/>
                <a:cs typeface="Calibri" pitchFamily="34" charset="-120"/>
              </a:rPr>
              <a:t>Sinif orani: </a:t>
            </a:r>
            <a:endParaRPr lang="en-US" sz="1250" dirty="0"/>
          </a:p>
          <a:p>
            <a:pPr indent="0" marL="0">
              <a:buNone/>
            </a:pPr>
            <a:r>
              <a:rPr lang="en-US" sz="1250" dirty="0">
                <a:solidFill>
                  <a:srgbClr val="E2E8F0"/>
                </a:solidFill>
                <a:latin typeface="Calibri" pitchFamily="34" charset="0"/>
                <a:ea typeface="Calibri" pitchFamily="34" charset="-122"/>
                <a:cs typeface="Calibri" pitchFamily="34" charset="-120"/>
              </a:rPr>
              <a:t>~%98 normal · ~%2 ariza oncesi</a:t>
            </a:r>
            <a:endParaRPr lang="en-US" sz="1250" dirty="0"/>
          </a:p>
        </p:txBody>
      </p:sp>
      <p:sp>
        <p:nvSpPr>
          <p:cNvPr id="8" name="Shape 6"/>
          <p:cNvSpPr/>
          <p:nvPr/>
        </p:nvSpPr>
        <p:spPr>
          <a:xfrm>
            <a:off x="4663440" y="1261872"/>
            <a:ext cx="2084832" cy="1143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9" name="Shape 7"/>
          <p:cNvSpPr/>
          <p:nvPr/>
        </p:nvSpPr>
        <p:spPr>
          <a:xfrm>
            <a:off x="4663440" y="1261872"/>
            <a:ext cx="2084832" cy="64008"/>
          </a:xfrm>
          <a:prstGeom prst="rect">
            <a:avLst/>
          </a:prstGeom>
          <a:solidFill>
            <a:srgbClr val="F43F5E"/>
          </a:solidFill>
          <a:ln w="12700">
            <a:solidFill>
              <a:srgbClr val="F43F5E"/>
            </a:solidFill>
            <a:prstDash val="solid"/>
          </a:ln>
        </p:spPr>
      </p:sp>
      <p:sp>
        <p:nvSpPr>
          <p:cNvPr id="10" name="Text 8"/>
          <p:cNvSpPr/>
          <p:nvPr/>
        </p:nvSpPr>
        <p:spPr>
          <a:xfrm>
            <a:off x="4773168" y="1426464"/>
            <a:ext cx="1865376"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Sicaklik</a:t>
            </a:r>
            <a:endParaRPr lang="en-US" sz="1300" dirty="0"/>
          </a:p>
        </p:txBody>
      </p:sp>
      <p:sp>
        <p:nvSpPr>
          <p:cNvPr id="11" name="Text 9"/>
          <p:cNvSpPr/>
          <p:nvPr/>
        </p:nvSpPr>
        <p:spPr>
          <a:xfrm>
            <a:off x="4773168" y="1737360"/>
            <a:ext cx="1865376" cy="228600"/>
          </a:xfrm>
          <a:prstGeom prst="rect">
            <a:avLst/>
          </a:prstGeom>
          <a:noFill/>
          <a:ln/>
        </p:spPr>
        <p:txBody>
          <a:bodyPr wrap="square" rtlCol="0" anchor="ctr"/>
          <a:lstStyle/>
          <a:p>
            <a:pPr indent="0" marL="0">
              <a:buNone/>
            </a:pPr>
            <a:r>
              <a:rPr lang="en-US" sz="1100" dirty="0">
                <a:solidFill>
                  <a:srgbClr val="F43F5E"/>
                </a:solidFill>
                <a:latin typeface="Calibri" pitchFamily="34" charset="0"/>
                <a:ea typeface="Calibri" pitchFamily="34" charset="-122"/>
                <a:cs typeface="Calibri" pitchFamily="34" charset="-120"/>
              </a:rPr>
              <a:t>°C</a:t>
            </a:r>
            <a:endParaRPr lang="en-US" sz="1100" dirty="0"/>
          </a:p>
        </p:txBody>
      </p:sp>
      <p:sp>
        <p:nvSpPr>
          <p:cNvPr id="12" name="Text 10"/>
          <p:cNvSpPr/>
          <p:nvPr/>
        </p:nvSpPr>
        <p:spPr>
          <a:xfrm>
            <a:off x="4773168" y="2011680"/>
            <a:ext cx="1865376"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Surekli sensor</a:t>
            </a:r>
            <a:endParaRPr lang="en-US" sz="1000" dirty="0"/>
          </a:p>
        </p:txBody>
      </p:sp>
      <p:sp>
        <p:nvSpPr>
          <p:cNvPr id="13" name="Shape 11"/>
          <p:cNvSpPr/>
          <p:nvPr/>
        </p:nvSpPr>
        <p:spPr>
          <a:xfrm>
            <a:off x="6949440" y="1261872"/>
            <a:ext cx="2084832" cy="1143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6949440" y="1261872"/>
            <a:ext cx="2084832" cy="64008"/>
          </a:xfrm>
          <a:prstGeom prst="rect">
            <a:avLst/>
          </a:prstGeom>
          <a:solidFill>
            <a:srgbClr val="F59E0B"/>
          </a:solidFill>
          <a:ln w="12700">
            <a:solidFill>
              <a:srgbClr val="F59E0B"/>
            </a:solidFill>
            <a:prstDash val="solid"/>
          </a:ln>
        </p:spPr>
      </p:sp>
      <p:sp>
        <p:nvSpPr>
          <p:cNvPr id="15" name="Text 13"/>
          <p:cNvSpPr/>
          <p:nvPr/>
        </p:nvSpPr>
        <p:spPr>
          <a:xfrm>
            <a:off x="7059168" y="1426464"/>
            <a:ext cx="1865376"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Titresim</a:t>
            </a:r>
            <a:endParaRPr lang="en-US" sz="1300" dirty="0"/>
          </a:p>
        </p:txBody>
      </p:sp>
      <p:sp>
        <p:nvSpPr>
          <p:cNvPr id="16" name="Text 14"/>
          <p:cNvSpPr/>
          <p:nvPr/>
        </p:nvSpPr>
        <p:spPr>
          <a:xfrm>
            <a:off x="7059168" y="1737360"/>
            <a:ext cx="1865376" cy="228600"/>
          </a:xfrm>
          <a:prstGeom prst="rect">
            <a:avLst/>
          </a:prstGeom>
          <a:noFill/>
          <a:ln/>
        </p:spPr>
        <p:txBody>
          <a:bodyPr wrap="square" rtlCol="0" anchor="ctr"/>
          <a:lstStyle/>
          <a:p>
            <a:pPr indent="0" marL="0">
              <a:buNone/>
            </a:pPr>
            <a:r>
              <a:rPr lang="en-US" sz="1100" dirty="0">
                <a:solidFill>
                  <a:srgbClr val="F59E0B"/>
                </a:solidFill>
                <a:latin typeface="Calibri" pitchFamily="34" charset="0"/>
                <a:ea typeface="Calibri" pitchFamily="34" charset="-122"/>
                <a:cs typeface="Calibri" pitchFamily="34" charset="-120"/>
              </a:rPr>
              <a:t>mm/s</a:t>
            </a:r>
            <a:endParaRPr lang="en-US" sz="1100" dirty="0"/>
          </a:p>
        </p:txBody>
      </p:sp>
      <p:sp>
        <p:nvSpPr>
          <p:cNvPr id="17" name="Text 15"/>
          <p:cNvSpPr/>
          <p:nvPr/>
        </p:nvSpPr>
        <p:spPr>
          <a:xfrm>
            <a:off x="7059168" y="2011680"/>
            <a:ext cx="1865376"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Surekli sensor</a:t>
            </a:r>
            <a:endParaRPr lang="en-US" sz="1000" dirty="0"/>
          </a:p>
        </p:txBody>
      </p:sp>
      <p:sp>
        <p:nvSpPr>
          <p:cNvPr id="18" name="Shape 16"/>
          <p:cNvSpPr/>
          <p:nvPr/>
        </p:nvSpPr>
        <p:spPr>
          <a:xfrm>
            <a:off x="4663440" y="2542032"/>
            <a:ext cx="2084832" cy="1143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9" name="Shape 17"/>
          <p:cNvSpPr/>
          <p:nvPr/>
        </p:nvSpPr>
        <p:spPr>
          <a:xfrm>
            <a:off x="4663440" y="2542032"/>
            <a:ext cx="2084832" cy="64008"/>
          </a:xfrm>
          <a:prstGeom prst="rect">
            <a:avLst/>
          </a:prstGeom>
          <a:solidFill>
            <a:srgbClr val="0EA5E9"/>
          </a:solidFill>
          <a:ln w="12700">
            <a:solidFill>
              <a:srgbClr val="0EA5E9"/>
            </a:solidFill>
            <a:prstDash val="solid"/>
          </a:ln>
        </p:spPr>
      </p:sp>
      <p:sp>
        <p:nvSpPr>
          <p:cNvPr id="20" name="Text 18"/>
          <p:cNvSpPr/>
          <p:nvPr/>
        </p:nvSpPr>
        <p:spPr>
          <a:xfrm>
            <a:off x="4773168" y="2706624"/>
            <a:ext cx="1865376"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Basinc</a:t>
            </a:r>
            <a:endParaRPr lang="en-US" sz="1300" dirty="0"/>
          </a:p>
        </p:txBody>
      </p:sp>
      <p:sp>
        <p:nvSpPr>
          <p:cNvPr id="21" name="Text 19"/>
          <p:cNvSpPr/>
          <p:nvPr/>
        </p:nvSpPr>
        <p:spPr>
          <a:xfrm>
            <a:off x="4773168" y="3017520"/>
            <a:ext cx="1865376" cy="228600"/>
          </a:xfrm>
          <a:prstGeom prst="rect">
            <a:avLst/>
          </a:prstGeom>
          <a:noFill/>
          <a:ln/>
        </p:spPr>
        <p:txBody>
          <a:bodyPr wrap="square" rtlCol="0" anchor="ctr"/>
          <a:lstStyle/>
          <a:p>
            <a:pPr indent="0" marL="0">
              <a:buNone/>
            </a:pPr>
            <a:r>
              <a:rPr lang="en-US" sz="1100" dirty="0">
                <a:solidFill>
                  <a:srgbClr val="0EA5E9"/>
                </a:solidFill>
                <a:latin typeface="Calibri" pitchFamily="34" charset="0"/>
                <a:ea typeface="Calibri" pitchFamily="34" charset="-122"/>
                <a:cs typeface="Calibri" pitchFamily="34" charset="-120"/>
              </a:rPr>
              <a:t>bar</a:t>
            </a:r>
            <a:endParaRPr lang="en-US" sz="1100" dirty="0"/>
          </a:p>
        </p:txBody>
      </p:sp>
      <p:sp>
        <p:nvSpPr>
          <p:cNvPr id="22" name="Text 20"/>
          <p:cNvSpPr/>
          <p:nvPr/>
        </p:nvSpPr>
        <p:spPr>
          <a:xfrm>
            <a:off x="4773168" y="3291840"/>
            <a:ext cx="1865376"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Surekli sensor</a:t>
            </a:r>
            <a:endParaRPr lang="en-US" sz="1000" dirty="0"/>
          </a:p>
        </p:txBody>
      </p:sp>
      <p:sp>
        <p:nvSpPr>
          <p:cNvPr id="23" name="Shape 21"/>
          <p:cNvSpPr/>
          <p:nvPr/>
        </p:nvSpPr>
        <p:spPr>
          <a:xfrm>
            <a:off x="6949440" y="2542032"/>
            <a:ext cx="2084832" cy="1143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4" name="Shape 22"/>
          <p:cNvSpPr/>
          <p:nvPr/>
        </p:nvSpPr>
        <p:spPr>
          <a:xfrm>
            <a:off x="6949440" y="2542032"/>
            <a:ext cx="2084832" cy="64008"/>
          </a:xfrm>
          <a:prstGeom prst="rect">
            <a:avLst/>
          </a:prstGeom>
          <a:solidFill>
            <a:srgbClr val="10B981"/>
          </a:solidFill>
          <a:ln w="12700">
            <a:solidFill>
              <a:srgbClr val="10B981"/>
            </a:solidFill>
            <a:prstDash val="solid"/>
          </a:ln>
        </p:spPr>
      </p:sp>
      <p:sp>
        <p:nvSpPr>
          <p:cNvPr id="25" name="Text 23"/>
          <p:cNvSpPr/>
          <p:nvPr/>
        </p:nvSpPr>
        <p:spPr>
          <a:xfrm>
            <a:off x="7059168" y="2706624"/>
            <a:ext cx="1865376"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Devir (RPM)</a:t>
            </a:r>
            <a:endParaRPr lang="en-US" sz="1300" dirty="0"/>
          </a:p>
        </p:txBody>
      </p:sp>
      <p:sp>
        <p:nvSpPr>
          <p:cNvPr id="26" name="Text 24"/>
          <p:cNvSpPr/>
          <p:nvPr/>
        </p:nvSpPr>
        <p:spPr>
          <a:xfrm>
            <a:off x="7059168" y="3017520"/>
            <a:ext cx="1865376" cy="228600"/>
          </a:xfrm>
          <a:prstGeom prst="rect">
            <a:avLst/>
          </a:prstGeom>
          <a:noFill/>
          <a:ln/>
        </p:spPr>
        <p:txBody>
          <a:bodyPr wrap="square" rtlCol="0" anchor="ctr"/>
          <a:lstStyle/>
          <a:p>
            <a:pPr indent="0" marL="0">
              <a:buNone/>
            </a:pPr>
            <a:r>
              <a:rPr lang="en-US" sz="1100" dirty="0">
                <a:solidFill>
                  <a:srgbClr val="10B981"/>
                </a:solidFill>
                <a:latin typeface="Calibri" pitchFamily="34" charset="0"/>
                <a:ea typeface="Calibri" pitchFamily="34" charset="-122"/>
                <a:cs typeface="Calibri" pitchFamily="34" charset="-120"/>
              </a:rPr>
              <a:t>RPM</a:t>
            </a:r>
            <a:endParaRPr lang="en-US" sz="1100" dirty="0"/>
          </a:p>
        </p:txBody>
      </p:sp>
      <p:sp>
        <p:nvSpPr>
          <p:cNvPr id="27" name="Text 25"/>
          <p:cNvSpPr/>
          <p:nvPr/>
        </p:nvSpPr>
        <p:spPr>
          <a:xfrm>
            <a:off x="7059168" y="3291840"/>
            <a:ext cx="1865376"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Surekli sensor</a:t>
            </a:r>
            <a:endParaRPr lang="en-US" sz="1000" dirty="0"/>
          </a:p>
        </p:txBody>
      </p:sp>
      <p:sp>
        <p:nvSpPr>
          <p:cNvPr id="28" name="Shape 26"/>
          <p:cNvSpPr/>
          <p:nvPr/>
        </p:nvSpPr>
        <p:spPr>
          <a:xfrm>
            <a:off x="4663440" y="3730752"/>
            <a:ext cx="4480560" cy="100584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9" name="Text 27"/>
          <p:cNvSpPr/>
          <p:nvPr/>
        </p:nvSpPr>
        <p:spPr>
          <a:xfrm>
            <a:off x="4800600" y="3785616"/>
            <a:ext cx="4206240" cy="256032"/>
          </a:xfrm>
          <a:prstGeom prst="rect">
            <a:avLst/>
          </a:prstGeom>
          <a:noFill/>
          <a:ln/>
        </p:spPr>
        <p:txBody>
          <a:bodyPr wrap="square" rtlCol="0" anchor="ctr"/>
          <a:lstStyle/>
          <a:p>
            <a:pPr indent="0" marL="0">
              <a:buNone/>
            </a:pPr>
            <a:r>
              <a:rPr lang="en-US" sz="1100" b="1" dirty="0">
                <a:solidFill>
                  <a:srgbClr val="0EA5E9"/>
                </a:solidFill>
                <a:latin typeface="Calibri" pitchFamily="34" charset="0"/>
                <a:ea typeface="Calibri" pitchFamily="34" charset="-122"/>
                <a:cs typeface="Calibri" pitchFamily="34" charset="-120"/>
              </a:rPr>
              <a:t>3 Enjekte Edilmis Ariza Modu:</a:t>
            </a:r>
            <a:endParaRPr lang="en-US" sz="1100" dirty="0"/>
          </a:p>
        </p:txBody>
      </p:sp>
      <p:sp>
        <p:nvSpPr>
          <p:cNvPr id="30" name="Text 28"/>
          <p:cNvSpPr/>
          <p:nvPr/>
        </p:nvSpPr>
        <p:spPr>
          <a:xfrm>
            <a:off x="4800600" y="4096512"/>
            <a:ext cx="4206240" cy="201168"/>
          </a:xfrm>
          <a:prstGeom prst="rect">
            <a:avLst/>
          </a:prstGeom>
          <a:noFill/>
          <a:ln/>
        </p:spPr>
        <p:txBody>
          <a:bodyPr wrap="square" rtlCol="0" anchor="ctr"/>
          <a:lstStyle/>
          <a:p>
            <a:pPr indent="0" marL="0">
              <a:buNone/>
            </a:pPr>
            <a:r>
              <a:rPr lang="en-US" sz="1050" dirty="0">
                <a:solidFill>
                  <a:srgbClr val="E2E8F0"/>
                </a:solidFill>
                <a:latin typeface="Calibri" pitchFamily="34" charset="0"/>
                <a:ea typeface="Calibri" pitchFamily="34" charset="-122"/>
                <a:cs typeface="Calibri" pitchFamily="34" charset="-120"/>
              </a:rPr>
              <a:t>Asiri Isinma — sicaklik rampi + ani artis</a:t>
            </a:r>
            <a:endParaRPr lang="en-US" sz="1050" dirty="0"/>
          </a:p>
        </p:txBody>
      </p:sp>
      <p:sp>
        <p:nvSpPr>
          <p:cNvPr id="31" name="Shape 29"/>
          <p:cNvSpPr/>
          <p:nvPr/>
        </p:nvSpPr>
        <p:spPr>
          <a:xfrm>
            <a:off x="4700016" y="4133088"/>
            <a:ext cx="82296" cy="82296"/>
          </a:xfrm>
          <a:prstGeom prst="ellipse">
            <a:avLst/>
          </a:prstGeom>
          <a:solidFill>
            <a:srgbClr val="0EA5E9"/>
          </a:solidFill>
          <a:ln w="12700">
            <a:solidFill>
              <a:srgbClr val="0EA5E9"/>
            </a:solidFill>
            <a:prstDash val="solid"/>
          </a:ln>
        </p:spPr>
      </p:sp>
      <p:sp>
        <p:nvSpPr>
          <p:cNvPr id="32" name="Text 30"/>
          <p:cNvSpPr/>
          <p:nvPr/>
        </p:nvSpPr>
        <p:spPr>
          <a:xfrm>
            <a:off x="4800600" y="4297680"/>
            <a:ext cx="4206240" cy="201168"/>
          </a:xfrm>
          <a:prstGeom prst="rect">
            <a:avLst/>
          </a:prstGeom>
          <a:noFill/>
          <a:ln/>
        </p:spPr>
        <p:txBody>
          <a:bodyPr wrap="square" rtlCol="0" anchor="ctr"/>
          <a:lstStyle/>
          <a:p>
            <a:pPr indent="0" marL="0">
              <a:buNone/>
            </a:pPr>
            <a:r>
              <a:rPr lang="en-US" sz="1050" dirty="0">
                <a:solidFill>
                  <a:srgbClr val="E2E8F0"/>
                </a:solidFill>
                <a:latin typeface="Calibri" pitchFamily="34" charset="0"/>
                <a:ea typeface="Calibri" pitchFamily="34" charset="-122"/>
                <a:cs typeface="Calibri" pitchFamily="34" charset="-120"/>
              </a:rPr>
              <a:t>Yatak Asinmasi — titresim artisi + RPM dususu</a:t>
            </a:r>
            <a:endParaRPr lang="en-US" sz="1050" dirty="0"/>
          </a:p>
        </p:txBody>
      </p:sp>
      <p:sp>
        <p:nvSpPr>
          <p:cNvPr id="33" name="Shape 31"/>
          <p:cNvSpPr/>
          <p:nvPr/>
        </p:nvSpPr>
        <p:spPr>
          <a:xfrm>
            <a:off x="4700016" y="4334256"/>
            <a:ext cx="82296" cy="82296"/>
          </a:xfrm>
          <a:prstGeom prst="ellipse">
            <a:avLst/>
          </a:prstGeom>
          <a:solidFill>
            <a:srgbClr val="0EA5E9"/>
          </a:solidFill>
          <a:ln w="12700">
            <a:solidFill>
              <a:srgbClr val="0EA5E9"/>
            </a:solidFill>
            <a:prstDash val="solid"/>
          </a:ln>
        </p:spPr>
      </p:sp>
      <p:sp>
        <p:nvSpPr>
          <p:cNvPr id="34" name="Text 32"/>
          <p:cNvSpPr/>
          <p:nvPr/>
        </p:nvSpPr>
        <p:spPr>
          <a:xfrm>
            <a:off x="4800600" y="4498848"/>
            <a:ext cx="4206240" cy="201168"/>
          </a:xfrm>
          <a:prstGeom prst="rect">
            <a:avLst/>
          </a:prstGeom>
          <a:noFill/>
          <a:ln/>
        </p:spPr>
        <p:txBody>
          <a:bodyPr wrap="square" rtlCol="0" anchor="ctr"/>
          <a:lstStyle/>
          <a:p>
            <a:pPr indent="0" marL="0">
              <a:buNone/>
            </a:pPr>
            <a:r>
              <a:rPr lang="en-US" sz="1050" dirty="0">
                <a:solidFill>
                  <a:srgbClr val="E2E8F0"/>
                </a:solidFill>
                <a:latin typeface="Calibri" pitchFamily="34" charset="0"/>
                <a:ea typeface="Calibri" pitchFamily="34" charset="-122"/>
                <a:cs typeface="Calibri" pitchFamily="34" charset="-120"/>
              </a:rPr>
              <a:t>Basinc Kaybi — ani basinc dususu</a:t>
            </a:r>
            <a:endParaRPr lang="en-US" sz="1050" dirty="0"/>
          </a:p>
        </p:txBody>
      </p:sp>
      <p:sp>
        <p:nvSpPr>
          <p:cNvPr id="35" name="Shape 33"/>
          <p:cNvSpPr/>
          <p:nvPr/>
        </p:nvSpPr>
        <p:spPr>
          <a:xfrm>
            <a:off x="4700016" y="4535424"/>
            <a:ext cx="82296" cy="82296"/>
          </a:xfrm>
          <a:prstGeom prst="ellipse">
            <a:avLst/>
          </a:prstGeom>
          <a:solidFill>
            <a:srgbClr val="0EA5E9"/>
          </a:solidFill>
          <a:ln w="12700">
            <a:solidFill>
              <a:srgbClr val="0EA5E9"/>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MIMARI KARAR</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Neden Transformer?</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61872"/>
            <a:ext cx="2743200" cy="35661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261872"/>
            <a:ext cx="2743200" cy="64008"/>
          </a:xfrm>
          <a:prstGeom prst="rect">
            <a:avLst/>
          </a:prstGeom>
          <a:solidFill>
            <a:srgbClr val="94A3B8"/>
          </a:solidFill>
          <a:ln w="12700">
            <a:solidFill>
              <a:srgbClr val="94A3B8"/>
            </a:solidFill>
            <a:prstDash val="solid"/>
          </a:ln>
        </p:spPr>
      </p:sp>
      <p:pic>
        <p:nvPicPr>
          <p:cNvPr id="7" name="Image 0" descr="preencoded.png">    </p:cNvPr>
          <p:cNvPicPr>
            <a:picLocks noChangeAspect="1"/>
          </p:cNvPicPr>
          <p:nvPr/>
        </p:nvPicPr>
        <p:blipFill>
          <a:blip r:embed="rId1"/>
          <a:stretch>
            <a:fillRect/>
          </a:stretch>
        </p:blipFill>
        <p:spPr>
          <a:xfrm>
            <a:off x="475488" y="1389888"/>
            <a:ext cx="347472" cy="347472"/>
          </a:xfrm>
          <a:prstGeom prst="rect">
            <a:avLst/>
          </a:prstGeom>
        </p:spPr>
      </p:pic>
      <p:sp>
        <p:nvSpPr>
          <p:cNvPr id="8" name="Text 5"/>
          <p:cNvSpPr/>
          <p:nvPr/>
        </p:nvSpPr>
        <p:spPr>
          <a:xfrm>
            <a:off x="877824" y="1417320"/>
            <a:ext cx="210312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Klasik ML</a:t>
            </a:r>
            <a:endParaRPr lang="en-US" sz="1500" dirty="0"/>
          </a:p>
        </p:txBody>
      </p:sp>
      <p:sp>
        <p:nvSpPr>
          <p:cNvPr id="9" name="Text 6"/>
          <p:cNvSpPr/>
          <p:nvPr/>
        </p:nvSpPr>
        <p:spPr>
          <a:xfrm>
            <a:off x="493776" y="1883664"/>
            <a:ext cx="2468880" cy="22860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Avantajlar</a:t>
            </a:r>
            <a:endParaRPr lang="en-US" sz="1000" dirty="0"/>
          </a:p>
        </p:txBody>
      </p:sp>
      <p:sp>
        <p:nvSpPr>
          <p:cNvPr id="10" name="Shape 7"/>
          <p:cNvSpPr/>
          <p:nvPr/>
        </p:nvSpPr>
        <p:spPr>
          <a:xfrm>
            <a:off x="493776" y="2157984"/>
            <a:ext cx="91440" cy="91440"/>
          </a:xfrm>
          <a:prstGeom prst="ellipse">
            <a:avLst/>
          </a:prstGeom>
          <a:solidFill>
            <a:srgbClr val="10B981"/>
          </a:solidFill>
          <a:ln w="12700">
            <a:solidFill>
              <a:srgbClr val="10B981"/>
            </a:solidFill>
            <a:prstDash val="solid"/>
          </a:ln>
        </p:spPr>
      </p:sp>
      <p:sp>
        <p:nvSpPr>
          <p:cNvPr id="11" name="Text 8"/>
          <p:cNvSpPr/>
          <p:nvPr/>
        </p:nvSpPr>
        <p:spPr>
          <a:xfrm>
            <a:off x="640080" y="213055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Hizli egitim</a:t>
            </a:r>
            <a:endParaRPr lang="en-US" sz="1100" dirty="0"/>
          </a:p>
        </p:txBody>
      </p:sp>
      <p:sp>
        <p:nvSpPr>
          <p:cNvPr id="12" name="Shape 9"/>
          <p:cNvSpPr/>
          <p:nvPr/>
        </p:nvSpPr>
        <p:spPr>
          <a:xfrm>
            <a:off x="493776" y="2478024"/>
            <a:ext cx="91440" cy="91440"/>
          </a:xfrm>
          <a:prstGeom prst="ellipse">
            <a:avLst/>
          </a:prstGeom>
          <a:solidFill>
            <a:srgbClr val="10B981"/>
          </a:solidFill>
          <a:ln w="12700">
            <a:solidFill>
              <a:srgbClr val="10B981"/>
            </a:solidFill>
            <a:prstDash val="solid"/>
          </a:ln>
        </p:spPr>
      </p:sp>
      <p:sp>
        <p:nvSpPr>
          <p:cNvPr id="13" name="Text 10"/>
          <p:cNvSpPr/>
          <p:nvPr/>
        </p:nvSpPr>
        <p:spPr>
          <a:xfrm>
            <a:off x="640080" y="245059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Yorumlanabilir</a:t>
            </a:r>
            <a:endParaRPr lang="en-US" sz="1100" dirty="0"/>
          </a:p>
        </p:txBody>
      </p:sp>
      <p:sp>
        <p:nvSpPr>
          <p:cNvPr id="14" name="Shape 11"/>
          <p:cNvSpPr/>
          <p:nvPr/>
        </p:nvSpPr>
        <p:spPr>
          <a:xfrm>
            <a:off x="493776" y="2798064"/>
            <a:ext cx="91440" cy="91440"/>
          </a:xfrm>
          <a:prstGeom prst="ellipse">
            <a:avLst/>
          </a:prstGeom>
          <a:solidFill>
            <a:srgbClr val="10B981"/>
          </a:solidFill>
          <a:ln w="12700">
            <a:solidFill>
              <a:srgbClr val="10B981"/>
            </a:solidFill>
            <a:prstDash val="solid"/>
          </a:ln>
        </p:spPr>
      </p:sp>
      <p:sp>
        <p:nvSpPr>
          <p:cNvPr id="15" name="Text 12"/>
          <p:cNvSpPr/>
          <p:nvPr/>
        </p:nvSpPr>
        <p:spPr>
          <a:xfrm>
            <a:off x="640080" y="277063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Az veriyle calisir</a:t>
            </a:r>
            <a:endParaRPr lang="en-US" sz="1100" dirty="0"/>
          </a:p>
        </p:txBody>
      </p:sp>
      <p:sp>
        <p:nvSpPr>
          <p:cNvPr id="16" name="Text 13"/>
          <p:cNvSpPr/>
          <p:nvPr/>
        </p:nvSpPr>
        <p:spPr>
          <a:xfrm>
            <a:off x="493776" y="3255264"/>
            <a:ext cx="2468880" cy="228600"/>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Sinirlamalar</a:t>
            </a:r>
            <a:endParaRPr lang="en-US" sz="1000" dirty="0"/>
          </a:p>
        </p:txBody>
      </p:sp>
      <p:sp>
        <p:nvSpPr>
          <p:cNvPr id="17" name="Shape 14"/>
          <p:cNvSpPr/>
          <p:nvPr/>
        </p:nvSpPr>
        <p:spPr>
          <a:xfrm>
            <a:off x="493776" y="3547872"/>
            <a:ext cx="91440" cy="91440"/>
          </a:xfrm>
          <a:prstGeom prst="ellipse">
            <a:avLst/>
          </a:prstGeom>
          <a:solidFill>
            <a:srgbClr val="F43F5E"/>
          </a:solidFill>
          <a:ln w="12700">
            <a:solidFill>
              <a:srgbClr val="F43F5E"/>
            </a:solidFill>
            <a:prstDash val="solid"/>
          </a:ln>
        </p:spPr>
      </p:sp>
      <p:sp>
        <p:nvSpPr>
          <p:cNvPr id="18" name="Text 15"/>
          <p:cNvSpPr/>
          <p:nvPr/>
        </p:nvSpPr>
        <p:spPr>
          <a:xfrm>
            <a:off x="640080" y="3520440"/>
            <a:ext cx="2331720" cy="256032"/>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Manuel ozellik gerektirir</a:t>
            </a:r>
            <a:endParaRPr lang="en-US" sz="1100" dirty="0"/>
          </a:p>
        </p:txBody>
      </p:sp>
      <p:sp>
        <p:nvSpPr>
          <p:cNvPr id="19" name="Shape 16"/>
          <p:cNvSpPr/>
          <p:nvPr/>
        </p:nvSpPr>
        <p:spPr>
          <a:xfrm>
            <a:off x="493776" y="3822192"/>
            <a:ext cx="91440" cy="91440"/>
          </a:xfrm>
          <a:prstGeom prst="ellipse">
            <a:avLst/>
          </a:prstGeom>
          <a:solidFill>
            <a:srgbClr val="F43F5E"/>
          </a:solidFill>
          <a:ln w="12700">
            <a:solidFill>
              <a:srgbClr val="F43F5E"/>
            </a:solidFill>
            <a:prstDash val="solid"/>
          </a:ln>
        </p:spPr>
      </p:sp>
      <p:sp>
        <p:nvSpPr>
          <p:cNvPr id="20" name="Text 17"/>
          <p:cNvSpPr/>
          <p:nvPr/>
        </p:nvSpPr>
        <p:spPr>
          <a:xfrm>
            <a:off x="640080" y="3794760"/>
            <a:ext cx="2331720" cy="256032"/>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Zamansal sira yok</a:t>
            </a:r>
            <a:endParaRPr lang="en-US" sz="1100" dirty="0"/>
          </a:p>
        </p:txBody>
      </p:sp>
      <p:sp>
        <p:nvSpPr>
          <p:cNvPr id="21" name="Shape 18"/>
          <p:cNvSpPr/>
          <p:nvPr/>
        </p:nvSpPr>
        <p:spPr>
          <a:xfrm>
            <a:off x="493776" y="4462272"/>
            <a:ext cx="2487168" cy="274320"/>
          </a:xfrm>
          <a:prstGeom prst="rect">
            <a:avLst/>
          </a:prstGeom>
          <a:solidFill>
            <a:srgbClr val="F43F5E">
              <a:alpha val="18000"/>
            </a:srgbClr>
          </a:solidFill>
          <a:ln w="10160">
            <a:solidFill>
              <a:srgbClr val="F43F5E"/>
            </a:solidFill>
            <a:prstDash val="solid"/>
          </a:ln>
        </p:spPr>
      </p:sp>
      <p:sp>
        <p:nvSpPr>
          <p:cNvPr id="22" name="Text 19"/>
          <p:cNvSpPr/>
          <p:nvPr/>
        </p:nvSpPr>
        <p:spPr>
          <a:xfrm>
            <a:off x="493776" y="4462272"/>
            <a:ext cx="2487168" cy="274320"/>
          </a:xfrm>
          <a:prstGeom prst="rect">
            <a:avLst/>
          </a:prstGeom>
          <a:noFill/>
          <a:ln/>
        </p:spPr>
        <p:txBody>
          <a:bodyPr wrap="square" rtlCol="0" anchor="ctr"/>
          <a:lstStyle/>
          <a:p>
            <a:pPr algn="ctr" indent="0" marL="0">
              <a:buNone/>
            </a:pPr>
            <a:r>
              <a:rPr lang="en-US" sz="1100" b="1" dirty="0">
                <a:solidFill>
                  <a:srgbClr val="F43F5E"/>
                </a:solidFill>
                <a:latin typeface="Calibri" pitchFamily="34" charset="0"/>
                <a:ea typeface="Calibri" pitchFamily="34" charset="-122"/>
                <a:cs typeface="Calibri" pitchFamily="34" charset="-120"/>
              </a:rPr>
              <a:t>Reddedildi</a:t>
            </a:r>
            <a:endParaRPr lang="en-US" sz="1100" dirty="0"/>
          </a:p>
        </p:txBody>
      </p:sp>
      <p:sp>
        <p:nvSpPr>
          <p:cNvPr id="23" name="Shape 20"/>
          <p:cNvSpPr/>
          <p:nvPr/>
        </p:nvSpPr>
        <p:spPr>
          <a:xfrm>
            <a:off x="3246120" y="1261872"/>
            <a:ext cx="2743200" cy="35661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4" name="Shape 21"/>
          <p:cNvSpPr/>
          <p:nvPr/>
        </p:nvSpPr>
        <p:spPr>
          <a:xfrm>
            <a:off x="3246120" y="1261872"/>
            <a:ext cx="2743200" cy="64008"/>
          </a:xfrm>
          <a:prstGeom prst="rect">
            <a:avLst/>
          </a:prstGeom>
          <a:solidFill>
            <a:srgbClr val="F59E0B"/>
          </a:solidFill>
          <a:ln w="12700">
            <a:solidFill>
              <a:srgbClr val="F59E0B"/>
            </a:solidFill>
            <a:prstDash val="solid"/>
          </a:ln>
        </p:spPr>
      </p:sp>
      <p:pic>
        <p:nvPicPr>
          <p:cNvPr id="25" name="Image 1" descr="preencoded.png">    </p:cNvPr>
          <p:cNvPicPr>
            <a:picLocks noChangeAspect="1"/>
          </p:cNvPicPr>
          <p:nvPr/>
        </p:nvPicPr>
        <p:blipFill>
          <a:blip r:embed="rId2"/>
          <a:stretch>
            <a:fillRect/>
          </a:stretch>
        </p:blipFill>
        <p:spPr>
          <a:xfrm>
            <a:off x="3355848" y="1389888"/>
            <a:ext cx="347472" cy="347472"/>
          </a:xfrm>
          <a:prstGeom prst="rect">
            <a:avLst/>
          </a:prstGeom>
        </p:spPr>
      </p:pic>
      <p:sp>
        <p:nvSpPr>
          <p:cNvPr id="26" name="Text 22"/>
          <p:cNvSpPr/>
          <p:nvPr/>
        </p:nvSpPr>
        <p:spPr>
          <a:xfrm>
            <a:off x="3758184" y="1417320"/>
            <a:ext cx="210312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LSTM</a:t>
            </a:r>
            <a:endParaRPr lang="en-US" sz="1500" dirty="0"/>
          </a:p>
        </p:txBody>
      </p:sp>
      <p:sp>
        <p:nvSpPr>
          <p:cNvPr id="27" name="Text 23"/>
          <p:cNvSpPr/>
          <p:nvPr/>
        </p:nvSpPr>
        <p:spPr>
          <a:xfrm>
            <a:off x="3374136" y="1883664"/>
            <a:ext cx="2468880" cy="22860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Avantajlar</a:t>
            </a:r>
            <a:endParaRPr lang="en-US" sz="1000" dirty="0"/>
          </a:p>
        </p:txBody>
      </p:sp>
      <p:sp>
        <p:nvSpPr>
          <p:cNvPr id="28" name="Shape 24"/>
          <p:cNvSpPr/>
          <p:nvPr/>
        </p:nvSpPr>
        <p:spPr>
          <a:xfrm>
            <a:off x="3374136" y="2157984"/>
            <a:ext cx="91440" cy="91440"/>
          </a:xfrm>
          <a:prstGeom prst="ellipse">
            <a:avLst/>
          </a:prstGeom>
          <a:solidFill>
            <a:srgbClr val="10B981"/>
          </a:solidFill>
          <a:ln w="12700">
            <a:solidFill>
              <a:srgbClr val="10B981"/>
            </a:solidFill>
            <a:prstDash val="solid"/>
          </a:ln>
        </p:spPr>
      </p:sp>
      <p:sp>
        <p:nvSpPr>
          <p:cNvPr id="29" name="Text 25"/>
          <p:cNvSpPr/>
          <p:nvPr/>
        </p:nvSpPr>
        <p:spPr>
          <a:xfrm>
            <a:off x="3520440" y="213055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Zamansal ogrenme</a:t>
            </a:r>
            <a:endParaRPr lang="en-US" sz="1100" dirty="0"/>
          </a:p>
        </p:txBody>
      </p:sp>
      <p:sp>
        <p:nvSpPr>
          <p:cNvPr id="30" name="Shape 26"/>
          <p:cNvSpPr/>
          <p:nvPr/>
        </p:nvSpPr>
        <p:spPr>
          <a:xfrm>
            <a:off x="3374136" y="2478024"/>
            <a:ext cx="91440" cy="91440"/>
          </a:xfrm>
          <a:prstGeom prst="ellipse">
            <a:avLst/>
          </a:prstGeom>
          <a:solidFill>
            <a:srgbClr val="10B981"/>
          </a:solidFill>
          <a:ln w="12700">
            <a:solidFill>
              <a:srgbClr val="10B981"/>
            </a:solidFill>
            <a:prstDash val="solid"/>
          </a:ln>
        </p:spPr>
      </p:sp>
      <p:sp>
        <p:nvSpPr>
          <p:cNvPr id="31" name="Text 27"/>
          <p:cNvSpPr/>
          <p:nvPr/>
        </p:nvSpPr>
        <p:spPr>
          <a:xfrm>
            <a:off x="3520440" y="245059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Orta duzey veri yeterli</a:t>
            </a:r>
            <a:endParaRPr lang="en-US" sz="1100" dirty="0"/>
          </a:p>
        </p:txBody>
      </p:sp>
      <p:sp>
        <p:nvSpPr>
          <p:cNvPr id="32" name="Text 28"/>
          <p:cNvSpPr/>
          <p:nvPr/>
        </p:nvSpPr>
        <p:spPr>
          <a:xfrm>
            <a:off x="3374136" y="2935224"/>
            <a:ext cx="2468880" cy="228600"/>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Sinirlamalar</a:t>
            </a:r>
            <a:endParaRPr lang="en-US" sz="1000" dirty="0"/>
          </a:p>
        </p:txBody>
      </p:sp>
      <p:sp>
        <p:nvSpPr>
          <p:cNvPr id="33" name="Shape 29"/>
          <p:cNvSpPr/>
          <p:nvPr/>
        </p:nvSpPr>
        <p:spPr>
          <a:xfrm>
            <a:off x="3374136" y="3227832"/>
            <a:ext cx="91440" cy="91440"/>
          </a:xfrm>
          <a:prstGeom prst="ellipse">
            <a:avLst/>
          </a:prstGeom>
          <a:solidFill>
            <a:srgbClr val="F43F5E"/>
          </a:solidFill>
          <a:ln w="12700">
            <a:solidFill>
              <a:srgbClr val="F43F5E"/>
            </a:solidFill>
            <a:prstDash val="solid"/>
          </a:ln>
        </p:spPr>
      </p:sp>
      <p:sp>
        <p:nvSpPr>
          <p:cNvPr id="34" name="Text 30"/>
          <p:cNvSpPr/>
          <p:nvPr/>
        </p:nvSpPr>
        <p:spPr>
          <a:xfrm>
            <a:off x="3520440" y="3200400"/>
            <a:ext cx="2331720" cy="256032"/>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Sirasal — yavas</a:t>
            </a:r>
            <a:endParaRPr lang="en-US" sz="1100" dirty="0"/>
          </a:p>
        </p:txBody>
      </p:sp>
      <p:sp>
        <p:nvSpPr>
          <p:cNvPr id="35" name="Shape 31"/>
          <p:cNvSpPr/>
          <p:nvPr/>
        </p:nvSpPr>
        <p:spPr>
          <a:xfrm>
            <a:off x="3374136" y="3502152"/>
            <a:ext cx="91440" cy="91440"/>
          </a:xfrm>
          <a:prstGeom prst="ellipse">
            <a:avLst/>
          </a:prstGeom>
          <a:solidFill>
            <a:srgbClr val="F43F5E"/>
          </a:solidFill>
          <a:ln w="12700">
            <a:solidFill>
              <a:srgbClr val="F43F5E"/>
            </a:solidFill>
            <a:prstDash val="solid"/>
          </a:ln>
        </p:spPr>
      </p:sp>
      <p:sp>
        <p:nvSpPr>
          <p:cNvPr id="36" name="Text 32"/>
          <p:cNvSpPr/>
          <p:nvPr/>
        </p:nvSpPr>
        <p:spPr>
          <a:xfrm>
            <a:off x="3520440" y="3474720"/>
            <a:ext cx="2331720" cy="256032"/>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Uzun pencerelerde gradyan kaybi</a:t>
            </a:r>
            <a:endParaRPr lang="en-US" sz="1100" dirty="0"/>
          </a:p>
        </p:txBody>
      </p:sp>
      <p:sp>
        <p:nvSpPr>
          <p:cNvPr id="37" name="Shape 33"/>
          <p:cNvSpPr/>
          <p:nvPr/>
        </p:nvSpPr>
        <p:spPr>
          <a:xfrm>
            <a:off x="3374136" y="4462272"/>
            <a:ext cx="2487168" cy="274320"/>
          </a:xfrm>
          <a:prstGeom prst="rect">
            <a:avLst/>
          </a:prstGeom>
          <a:solidFill>
            <a:srgbClr val="F59E0B">
              <a:alpha val="18000"/>
            </a:srgbClr>
          </a:solidFill>
          <a:ln w="10160">
            <a:solidFill>
              <a:srgbClr val="F59E0B"/>
            </a:solidFill>
            <a:prstDash val="solid"/>
          </a:ln>
        </p:spPr>
      </p:sp>
      <p:sp>
        <p:nvSpPr>
          <p:cNvPr id="38" name="Text 34"/>
          <p:cNvSpPr/>
          <p:nvPr/>
        </p:nvSpPr>
        <p:spPr>
          <a:xfrm>
            <a:off x="3374136" y="4462272"/>
            <a:ext cx="2487168" cy="274320"/>
          </a:xfrm>
          <a:prstGeom prst="rect">
            <a:avLst/>
          </a:prstGeom>
          <a:noFill/>
          <a:ln/>
        </p:spPr>
        <p:txBody>
          <a:bodyPr wrap="square"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Yalnizca temel</a:t>
            </a:r>
            <a:endParaRPr lang="en-US" sz="1100" dirty="0"/>
          </a:p>
        </p:txBody>
      </p:sp>
      <p:sp>
        <p:nvSpPr>
          <p:cNvPr id="39" name="Shape 35"/>
          <p:cNvSpPr/>
          <p:nvPr/>
        </p:nvSpPr>
        <p:spPr>
          <a:xfrm>
            <a:off x="6126480" y="1261872"/>
            <a:ext cx="2743200" cy="35661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40" name="Shape 36"/>
          <p:cNvSpPr/>
          <p:nvPr/>
        </p:nvSpPr>
        <p:spPr>
          <a:xfrm>
            <a:off x="6126480" y="1261872"/>
            <a:ext cx="2743200" cy="64008"/>
          </a:xfrm>
          <a:prstGeom prst="rect">
            <a:avLst/>
          </a:prstGeom>
          <a:solidFill>
            <a:srgbClr val="0EA5E9"/>
          </a:solidFill>
          <a:ln w="12700">
            <a:solidFill>
              <a:srgbClr val="0EA5E9"/>
            </a:solidFill>
            <a:prstDash val="solid"/>
          </a:ln>
        </p:spPr>
      </p:sp>
      <p:pic>
        <p:nvPicPr>
          <p:cNvPr id="41" name="Image 2" descr="preencoded.png">    </p:cNvPr>
          <p:cNvPicPr>
            <a:picLocks noChangeAspect="1"/>
          </p:cNvPicPr>
          <p:nvPr/>
        </p:nvPicPr>
        <p:blipFill>
          <a:blip r:embed="rId3"/>
          <a:stretch>
            <a:fillRect/>
          </a:stretch>
        </p:blipFill>
        <p:spPr>
          <a:xfrm>
            <a:off x="6236208" y="1389888"/>
            <a:ext cx="347472" cy="347472"/>
          </a:xfrm>
          <a:prstGeom prst="rect">
            <a:avLst/>
          </a:prstGeom>
        </p:spPr>
      </p:pic>
      <p:sp>
        <p:nvSpPr>
          <p:cNvPr id="42" name="Text 37"/>
          <p:cNvSpPr/>
          <p:nvPr/>
        </p:nvSpPr>
        <p:spPr>
          <a:xfrm>
            <a:off x="6638544" y="1417320"/>
            <a:ext cx="210312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PatchTST</a:t>
            </a:r>
            <a:endParaRPr lang="en-US" sz="1500" dirty="0"/>
          </a:p>
        </p:txBody>
      </p:sp>
      <p:sp>
        <p:nvSpPr>
          <p:cNvPr id="43" name="Text 38"/>
          <p:cNvSpPr/>
          <p:nvPr/>
        </p:nvSpPr>
        <p:spPr>
          <a:xfrm>
            <a:off x="6254496" y="1883664"/>
            <a:ext cx="2468880" cy="22860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Avantajlar</a:t>
            </a:r>
            <a:endParaRPr lang="en-US" sz="1000" dirty="0"/>
          </a:p>
        </p:txBody>
      </p:sp>
      <p:sp>
        <p:nvSpPr>
          <p:cNvPr id="44" name="Shape 39"/>
          <p:cNvSpPr/>
          <p:nvPr/>
        </p:nvSpPr>
        <p:spPr>
          <a:xfrm>
            <a:off x="6254496" y="2157984"/>
            <a:ext cx="91440" cy="91440"/>
          </a:xfrm>
          <a:prstGeom prst="ellipse">
            <a:avLst/>
          </a:prstGeom>
          <a:solidFill>
            <a:srgbClr val="10B981"/>
          </a:solidFill>
          <a:ln w="12700">
            <a:solidFill>
              <a:srgbClr val="10B981"/>
            </a:solidFill>
            <a:prstDash val="solid"/>
          </a:ln>
        </p:spPr>
      </p:sp>
      <p:sp>
        <p:nvSpPr>
          <p:cNvPr id="45" name="Text 40"/>
          <p:cNvSpPr/>
          <p:nvPr/>
        </p:nvSpPr>
        <p:spPr>
          <a:xfrm>
            <a:off x="6400800" y="213055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Paralel oz-dikkat</a:t>
            </a:r>
            <a:endParaRPr lang="en-US" sz="1100" dirty="0"/>
          </a:p>
        </p:txBody>
      </p:sp>
      <p:sp>
        <p:nvSpPr>
          <p:cNvPr id="46" name="Shape 41"/>
          <p:cNvSpPr/>
          <p:nvPr/>
        </p:nvSpPr>
        <p:spPr>
          <a:xfrm>
            <a:off x="6254496" y="2478024"/>
            <a:ext cx="91440" cy="91440"/>
          </a:xfrm>
          <a:prstGeom prst="ellipse">
            <a:avLst/>
          </a:prstGeom>
          <a:solidFill>
            <a:srgbClr val="10B981"/>
          </a:solidFill>
          <a:ln w="12700">
            <a:solidFill>
              <a:srgbClr val="10B981"/>
            </a:solidFill>
            <a:prstDash val="solid"/>
          </a:ln>
        </p:spPr>
      </p:sp>
      <p:sp>
        <p:nvSpPr>
          <p:cNvPr id="47" name="Text 42"/>
          <p:cNvSpPr/>
          <p:nvPr/>
        </p:nvSpPr>
        <p:spPr>
          <a:xfrm>
            <a:off x="6400800" y="245059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Uzun menzilli bagimliliklar</a:t>
            </a:r>
            <a:endParaRPr lang="en-US" sz="1100" dirty="0"/>
          </a:p>
        </p:txBody>
      </p:sp>
      <p:sp>
        <p:nvSpPr>
          <p:cNvPr id="48" name="Shape 43"/>
          <p:cNvSpPr/>
          <p:nvPr/>
        </p:nvSpPr>
        <p:spPr>
          <a:xfrm>
            <a:off x="6254496" y="2798064"/>
            <a:ext cx="91440" cy="91440"/>
          </a:xfrm>
          <a:prstGeom prst="ellipse">
            <a:avLst/>
          </a:prstGeom>
          <a:solidFill>
            <a:srgbClr val="10B981"/>
          </a:solidFill>
          <a:ln w="12700">
            <a:solidFill>
              <a:srgbClr val="10B981"/>
            </a:solidFill>
            <a:prstDash val="solid"/>
          </a:ln>
        </p:spPr>
      </p:sp>
      <p:sp>
        <p:nvSpPr>
          <p:cNvPr id="49" name="Text 44"/>
          <p:cNvSpPr/>
          <p:nvPr/>
        </p:nvSpPr>
        <p:spPr>
          <a:xfrm>
            <a:off x="6400800" y="277063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Yama tokenleri = zengin baglam</a:t>
            </a:r>
            <a:endParaRPr lang="en-US" sz="1100" dirty="0"/>
          </a:p>
        </p:txBody>
      </p:sp>
      <p:sp>
        <p:nvSpPr>
          <p:cNvPr id="50" name="Shape 45"/>
          <p:cNvSpPr/>
          <p:nvPr/>
        </p:nvSpPr>
        <p:spPr>
          <a:xfrm>
            <a:off x="6254496" y="3118104"/>
            <a:ext cx="91440" cy="91440"/>
          </a:xfrm>
          <a:prstGeom prst="ellipse">
            <a:avLst/>
          </a:prstGeom>
          <a:solidFill>
            <a:srgbClr val="10B981"/>
          </a:solidFill>
          <a:ln w="12700">
            <a:solidFill>
              <a:srgbClr val="10B981"/>
            </a:solidFill>
            <a:prstDash val="solid"/>
          </a:ln>
        </p:spPr>
      </p:sp>
      <p:sp>
        <p:nvSpPr>
          <p:cNvPr id="51" name="Text 46"/>
          <p:cNvSpPr/>
          <p:nvPr/>
        </p:nvSpPr>
        <p:spPr>
          <a:xfrm>
            <a:off x="6400800" y="309067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Denetlenebilir dikkat agirliklari</a:t>
            </a:r>
            <a:endParaRPr lang="en-US" sz="1100" dirty="0"/>
          </a:p>
        </p:txBody>
      </p:sp>
      <p:sp>
        <p:nvSpPr>
          <p:cNvPr id="52" name="Text 47"/>
          <p:cNvSpPr/>
          <p:nvPr/>
        </p:nvSpPr>
        <p:spPr>
          <a:xfrm>
            <a:off x="6254496" y="3575304"/>
            <a:ext cx="2468880" cy="228600"/>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Sinirlamalar</a:t>
            </a:r>
            <a:endParaRPr lang="en-US" sz="1000" dirty="0"/>
          </a:p>
        </p:txBody>
      </p:sp>
      <p:sp>
        <p:nvSpPr>
          <p:cNvPr id="53" name="Shape 48"/>
          <p:cNvSpPr/>
          <p:nvPr/>
        </p:nvSpPr>
        <p:spPr>
          <a:xfrm>
            <a:off x="6254496" y="3867912"/>
            <a:ext cx="91440" cy="91440"/>
          </a:xfrm>
          <a:prstGeom prst="ellipse">
            <a:avLst/>
          </a:prstGeom>
          <a:solidFill>
            <a:srgbClr val="F43F5E"/>
          </a:solidFill>
          <a:ln w="12700">
            <a:solidFill>
              <a:srgbClr val="F43F5E"/>
            </a:solidFill>
            <a:prstDash val="solid"/>
          </a:ln>
        </p:spPr>
      </p:sp>
      <p:sp>
        <p:nvSpPr>
          <p:cNvPr id="54" name="Text 49"/>
          <p:cNvSpPr/>
          <p:nvPr/>
        </p:nvSpPr>
        <p:spPr>
          <a:xfrm>
            <a:off x="6400800" y="3840480"/>
            <a:ext cx="2331720" cy="256032"/>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Sinif dengelemesi gerektirir</a:t>
            </a:r>
            <a:endParaRPr lang="en-US" sz="1100" dirty="0"/>
          </a:p>
        </p:txBody>
      </p:sp>
      <p:sp>
        <p:nvSpPr>
          <p:cNvPr id="55" name="Shape 50"/>
          <p:cNvSpPr/>
          <p:nvPr/>
        </p:nvSpPr>
        <p:spPr>
          <a:xfrm>
            <a:off x="6254496" y="4462272"/>
            <a:ext cx="2487168" cy="274320"/>
          </a:xfrm>
          <a:prstGeom prst="rect">
            <a:avLst/>
          </a:prstGeom>
          <a:solidFill>
            <a:srgbClr val="10B981">
              <a:alpha val="18000"/>
            </a:srgbClr>
          </a:solidFill>
          <a:ln w="10160">
            <a:solidFill>
              <a:srgbClr val="10B981"/>
            </a:solidFill>
            <a:prstDash val="solid"/>
          </a:ln>
        </p:spPr>
      </p:sp>
      <p:sp>
        <p:nvSpPr>
          <p:cNvPr id="56" name="Text 51"/>
          <p:cNvSpPr/>
          <p:nvPr/>
        </p:nvSpPr>
        <p:spPr>
          <a:xfrm>
            <a:off x="6254496" y="4462272"/>
            <a:ext cx="2487168" cy="274320"/>
          </a:xfrm>
          <a:prstGeom prst="rect">
            <a:avLst/>
          </a:prstGeom>
          <a:noFill/>
          <a:ln/>
        </p:spPr>
        <p:txBody>
          <a:bodyPr wrap="square"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Secildi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MODELIMIZ</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PatchTST Mimarisi</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98448"/>
            <a:ext cx="3931920" cy="493776"/>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298448"/>
            <a:ext cx="54864" cy="493776"/>
          </a:xfrm>
          <a:prstGeom prst="rect">
            <a:avLst/>
          </a:prstGeom>
          <a:solidFill>
            <a:srgbClr val="94A3B8"/>
          </a:solidFill>
          <a:ln w="12700">
            <a:solidFill>
              <a:srgbClr val="94A3B8"/>
            </a:solidFill>
            <a:prstDash val="solid"/>
          </a:ln>
        </p:spPr>
      </p:sp>
      <p:sp>
        <p:nvSpPr>
          <p:cNvPr id="7" name="Text 5"/>
          <p:cNvSpPr/>
          <p:nvPr/>
        </p:nvSpPr>
        <p:spPr>
          <a:xfrm>
            <a:off x="548640" y="1335024"/>
            <a:ext cx="356616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Giris</a:t>
            </a:r>
            <a:endParaRPr lang="en-US" sz="1200" dirty="0"/>
          </a:p>
        </p:txBody>
      </p:sp>
      <p:sp>
        <p:nvSpPr>
          <p:cNvPr id="8" name="Text 6"/>
          <p:cNvSpPr/>
          <p:nvPr/>
        </p:nvSpPr>
        <p:spPr>
          <a:xfrm>
            <a:off x="548640" y="1554480"/>
            <a:ext cx="3566160" cy="20116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60 adim × 4 kanal</a:t>
            </a:r>
            <a:endParaRPr lang="en-US" sz="1050" dirty="0"/>
          </a:p>
        </p:txBody>
      </p:sp>
      <p:sp>
        <p:nvSpPr>
          <p:cNvPr id="9" name="Shape 7"/>
          <p:cNvSpPr/>
          <p:nvPr/>
        </p:nvSpPr>
        <p:spPr>
          <a:xfrm>
            <a:off x="2194560" y="1792224"/>
            <a:ext cx="45720" cy="109728"/>
          </a:xfrm>
          <a:prstGeom prst="rect">
            <a:avLst/>
          </a:prstGeom>
          <a:solidFill>
            <a:srgbClr val="0EA5E9"/>
          </a:solidFill>
          <a:ln w="12700">
            <a:solidFill>
              <a:srgbClr val="0EA5E9"/>
            </a:solidFill>
            <a:prstDash val="solid"/>
          </a:ln>
        </p:spPr>
      </p:sp>
      <p:sp>
        <p:nvSpPr>
          <p:cNvPr id="10" name="Shape 8"/>
          <p:cNvSpPr/>
          <p:nvPr/>
        </p:nvSpPr>
        <p:spPr>
          <a:xfrm>
            <a:off x="365760" y="1901952"/>
            <a:ext cx="3931920" cy="493776"/>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1" name="Shape 9"/>
          <p:cNvSpPr/>
          <p:nvPr/>
        </p:nvSpPr>
        <p:spPr>
          <a:xfrm>
            <a:off x="365760" y="1901952"/>
            <a:ext cx="54864" cy="493776"/>
          </a:xfrm>
          <a:prstGeom prst="rect">
            <a:avLst/>
          </a:prstGeom>
          <a:solidFill>
            <a:srgbClr val="0EA5E9"/>
          </a:solidFill>
          <a:ln w="12700">
            <a:solidFill>
              <a:srgbClr val="0EA5E9"/>
            </a:solidFill>
            <a:prstDash val="solid"/>
          </a:ln>
        </p:spPr>
      </p:sp>
      <p:sp>
        <p:nvSpPr>
          <p:cNvPr id="12" name="Text 10"/>
          <p:cNvSpPr/>
          <p:nvPr/>
        </p:nvSpPr>
        <p:spPr>
          <a:xfrm>
            <a:off x="548640" y="1938528"/>
            <a:ext cx="356616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Yama Gomusu</a:t>
            </a:r>
            <a:endParaRPr lang="en-US" sz="1200" dirty="0"/>
          </a:p>
        </p:txBody>
      </p:sp>
      <p:sp>
        <p:nvSpPr>
          <p:cNvPr id="13" name="Text 11"/>
          <p:cNvSpPr/>
          <p:nvPr/>
        </p:nvSpPr>
        <p:spPr>
          <a:xfrm>
            <a:off x="548640" y="2157984"/>
            <a:ext cx="3566160" cy="20116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12 adim/yama → 5 yama</a:t>
            </a:r>
            <a:endParaRPr lang="en-US" sz="1050" dirty="0"/>
          </a:p>
        </p:txBody>
      </p:sp>
      <p:sp>
        <p:nvSpPr>
          <p:cNvPr id="14" name="Shape 12"/>
          <p:cNvSpPr/>
          <p:nvPr/>
        </p:nvSpPr>
        <p:spPr>
          <a:xfrm>
            <a:off x="2194560" y="2395728"/>
            <a:ext cx="45720" cy="109728"/>
          </a:xfrm>
          <a:prstGeom prst="rect">
            <a:avLst/>
          </a:prstGeom>
          <a:solidFill>
            <a:srgbClr val="0EA5E9"/>
          </a:solidFill>
          <a:ln w="12700">
            <a:solidFill>
              <a:srgbClr val="0EA5E9"/>
            </a:solidFill>
            <a:prstDash val="solid"/>
          </a:ln>
        </p:spPr>
      </p:sp>
      <p:sp>
        <p:nvSpPr>
          <p:cNvPr id="15" name="Shape 13"/>
          <p:cNvSpPr/>
          <p:nvPr/>
        </p:nvSpPr>
        <p:spPr>
          <a:xfrm>
            <a:off x="365760" y="2505456"/>
            <a:ext cx="3931920" cy="493776"/>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6" name="Shape 14"/>
          <p:cNvSpPr/>
          <p:nvPr/>
        </p:nvSpPr>
        <p:spPr>
          <a:xfrm>
            <a:off x="365760" y="2505456"/>
            <a:ext cx="54864" cy="493776"/>
          </a:xfrm>
          <a:prstGeom prst="rect">
            <a:avLst/>
          </a:prstGeom>
          <a:solidFill>
            <a:srgbClr val="0EA5E9"/>
          </a:solidFill>
          <a:ln w="12700">
            <a:solidFill>
              <a:srgbClr val="0EA5E9"/>
            </a:solidFill>
            <a:prstDash val="solid"/>
          </a:ln>
        </p:spPr>
      </p:sp>
      <p:sp>
        <p:nvSpPr>
          <p:cNvPr id="17" name="Text 15"/>
          <p:cNvSpPr/>
          <p:nvPr/>
        </p:nvSpPr>
        <p:spPr>
          <a:xfrm>
            <a:off x="548640" y="2542032"/>
            <a:ext cx="356616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Transformer Kodlayici</a:t>
            </a:r>
            <a:endParaRPr lang="en-US" sz="1200" dirty="0"/>
          </a:p>
        </p:txBody>
      </p:sp>
      <p:sp>
        <p:nvSpPr>
          <p:cNvPr id="18" name="Text 16"/>
          <p:cNvSpPr/>
          <p:nvPr/>
        </p:nvSpPr>
        <p:spPr>
          <a:xfrm>
            <a:off x="548640" y="2761488"/>
            <a:ext cx="3566160" cy="20116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3 katman · 4 bas · d=64</a:t>
            </a:r>
            <a:endParaRPr lang="en-US" sz="1050" dirty="0"/>
          </a:p>
        </p:txBody>
      </p:sp>
      <p:sp>
        <p:nvSpPr>
          <p:cNvPr id="19" name="Shape 17"/>
          <p:cNvSpPr/>
          <p:nvPr/>
        </p:nvSpPr>
        <p:spPr>
          <a:xfrm>
            <a:off x="2194560" y="2999232"/>
            <a:ext cx="45720" cy="109728"/>
          </a:xfrm>
          <a:prstGeom prst="rect">
            <a:avLst/>
          </a:prstGeom>
          <a:solidFill>
            <a:srgbClr val="0EA5E9"/>
          </a:solidFill>
          <a:ln w="12700">
            <a:solidFill>
              <a:srgbClr val="0EA5E9"/>
            </a:solidFill>
            <a:prstDash val="solid"/>
          </a:ln>
        </p:spPr>
      </p:sp>
      <p:sp>
        <p:nvSpPr>
          <p:cNvPr id="20" name="Shape 18"/>
          <p:cNvSpPr/>
          <p:nvPr/>
        </p:nvSpPr>
        <p:spPr>
          <a:xfrm>
            <a:off x="365760" y="3108960"/>
            <a:ext cx="3931920" cy="493776"/>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1" name="Shape 19"/>
          <p:cNvSpPr/>
          <p:nvPr/>
        </p:nvSpPr>
        <p:spPr>
          <a:xfrm>
            <a:off x="365760" y="3108960"/>
            <a:ext cx="54864" cy="493776"/>
          </a:xfrm>
          <a:prstGeom prst="rect">
            <a:avLst/>
          </a:prstGeom>
          <a:solidFill>
            <a:srgbClr val="0284C7"/>
          </a:solidFill>
          <a:ln w="12700">
            <a:solidFill>
              <a:srgbClr val="0284C7"/>
            </a:solidFill>
            <a:prstDash val="solid"/>
          </a:ln>
        </p:spPr>
      </p:sp>
      <p:sp>
        <p:nvSpPr>
          <p:cNvPr id="22" name="Text 20"/>
          <p:cNvSpPr/>
          <p:nvPr/>
        </p:nvSpPr>
        <p:spPr>
          <a:xfrm>
            <a:off x="548640" y="3145536"/>
            <a:ext cx="356616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Ortalama Havuzlama</a:t>
            </a:r>
            <a:endParaRPr lang="en-US" sz="1200" dirty="0"/>
          </a:p>
        </p:txBody>
      </p:sp>
      <p:sp>
        <p:nvSpPr>
          <p:cNvPr id="23" name="Text 21"/>
          <p:cNvSpPr/>
          <p:nvPr/>
        </p:nvSpPr>
        <p:spPr>
          <a:xfrm>
            <a:off x="548640" y="3364992"/>
            <a:ext cx="3566160" cy="20116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Yama temsillerini birlestir</a:t>
            </a:r>
            <a:endParaRPr lang="en-US" sz="1050" dirty="0"/>
          </a:p>
        </p:txBody>
      </p:sp>
      <p:sp>
        <p:nvSpPr>
          <p:cNvPr id="24" name="Shape 22"/>
          <p:cNvSpPr/>
          <p:nvPr/>
        </p:nvSpPr>
        <p:spPr>
          <a:xfrm>
            <a:off x="2194560" y="3602736"/>
            <a:ext cx="45720" cy="109728"/>
          </a:xfrm>
          <a:prstGeom prst="rect">
            <a:avLst/>
          </a:prstGeom>
          <a:solidFill>
            <a:srgbClr val="0EA5E9"/>
          </a:solidFill>
          <a:ln w="12700">
            <a:solidFill>
              <a:srgbClr val="0EA5E9"/>
            </a:solidFill>
            <a:prstDash val="solid"/>
          </a:ln>
        </p:spPr>
      </p:sp>
      <p:sp>
        <p:nvSpPr>
          <p:cNvPr id="25" name="Shape 23"/>
          <p:cNvSpPr/>
          <p:nvPr/>
        </p:nvSpPr>
        <p:spPr>
          <a:xfrm>
            <a:off x="365760" y="3712464"/>
            <a:ext cx="3931920" cy="493776"/>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6" name="Shape 24"/>
          <p:cNvSpPr/>
          <p:nvPr/>
        </p:nvSpPr>
        <p:spPr>
          <a:xfrm>
            <a:off x="365760" y="3712464"/>
            <a:ext cx="54864" cy="493776"/>
          </a:xfrm>
          <a:prstGeom prst="rect">
            <a:avLst/>
          </a:prstGeom>
          <a:solidFill>
            <a:srgbClr val="0284C7"/>
          </a:solidFill>
          <a:ln w="12700">
            <a:solidFill>
              <a:srgbClr val="0284C7"/>
            </a:solidFill>
            <a:prstDash val="solid"/>
          </a:ln>
        </p:spPr>
      </p:sp>
      <p:sp>
        <p:nvSpPr>
          <p:cNvPr id="27" name="Text 25"/>
          <p:cNvSpPr/>
          <p:nvPr/>
        </p:nvSpPr>
        <p:spPr>
          <a:xfrm>
            <a:off x="548640" y="3749040"/>
            <a:ext cx="356616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Kanal Birlestirme</a:t>
            </a:r>
            <a:endParaRPr lang="en-US" sz="1200" dirty="0"/>
          </a:p>
        </p:txBody>
      </p:sp>
      <p:sp>
        <p:nvSpPr>
          <p:cNvPr id="28" name="Text 26"/>
          <p:cNvSpPr/>
          <p:nvPr/>
        </p:nvSpPr>
        <p:spPr>
          <a:xfrm>
            <a:off x="548640" y="3968496"/>
            <a:ext cx="3566160" cy="20116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4 kanalin ciktilarini ekle</a:t>
            </a:r>
            <a:endParaRPr lang="en-US" sz="1050" dirty="0"/>
          </a:p>
        </p:txBody>
      </p:sp>
      <p:sp>
        <p:nvSpPr>
          <p:cNvPr id="29" name="Shape 27"/>
          <p:cNvSpPr/>
          <p:nvPr/>
        </p:nvSpPr>
        <p:spPr>
          <a:xfrm>
            <a:off x="2194560" y="4206240"/>
            <a:ext cx="45720" cy="109728"/>
          </a:xfrm>
          <a:prstGeom prst="rect">
            <a:avLst/>
          </a:prstGeom>
          <a:solidFill>
            <a:srgbClr val="0EA5E9"/>
          </a:solidFill>
          <a:ln w="12700">
            <a:solidFill>
              <a:srgbClr val="0EA5E9"/>
            </a:solidFill>
            <a:prstDash val="solid"/>
          </a:ln>
        </p:spPr>
      </p:sp>
      <p:sp>
        <p:nvSpPr>
          <p:cNvPr id="30" name="Shape 28"/>
          <p:cNvSpPr/>
          <p:nvPr/>
        </p:nvSpPr>
        <p:spPr>
          <a:xfrm>
            <a:off x="365760" y="4315968"/>
            <a:ext cx="3931920" cy="493776"/>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31" name="Shape 29"/>
          <p:cNvSpPr/>
          <p:nvPr/>
        </p:nvSpPr>
        <p:spPr>
          <a:xfrm>
            <a:off x="365760" y="4315968"/>
            <a:ext cx="54864" cy="493776"/>
          </a:xfrm>
          <a:prstGeom prst="rect">
            <a:avLst/>
          </a:prstGeom>
          <a:solidFill>
            <a:srgbClr val="10B981"/>
          </a:solidFill>
          <a:ln w="12700">
            <a:solidFill>
              <a:srgbClr val="10B981"/>
            </a:solidFill>
            <a:prstDash val="solid"/>
          </a:ln>
        </p:spPr>
      </p:sp>
      <p:sp>
        <p:nvSpPr>
          <p:cNvPr id="32" name="Text 30"/>
          <p:cNvSpPr/>
          <p:nvPr/>
        </p:nvSpPr>
        <p:spPr>
          <a:xfrm>
            <a:off x="548640" y="4352544"/>
            <a:ext cx="356616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MLP Katmani</a:t>
            </a:r>
            <a:endParaRPr lang="en-US" sz="1200" dirty="0"/>
          </a:p>
        </p:txBody>
      </p:sp>
      <p:sp>
        <p:nvSpPr>
          <p:cNvPr id="33" name="Text 31"/>
          <p:cNvSpPr/>
          <p:nvPr/>
        </p:nvSpPr>
        <p:spPr>
          <a:xfrm>
            <a:off x="548640" y="4572000"/>
            <a:ext cx="3566160" cy="20116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 Ikili siniflandirma</a:t>
            </a:r>
            <a:endParaRPr lang="en-US" sz="1050" dirty="0"/>
          </a:p>
        </p:txBody>
      </p:sp>
      <p:sp>
        <p:nvSpPr>
          <p:cNvPr id="34" name="Shape 32"/>
          <p:cNvSpPr/>
          <p:nvPr/>
        </p:nvSpPr>
        <p:spPr>
          <a:xfrm>
            <a:off x="4663440" y="1298448"/>
            <a:ext cx="4114800" cy="352044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35" name="Text 33"/>
          <p:cNvSpPr/>
          <p:nvPr/>
        </p:nvSpPr>
        <p:spPr>
          <a:xfrm>
            <a:off x="4800600" y="1417320"/>
            <a:ext cx="3840480" cy="274320"/>
          </a:xfrm>
          <a:prstGeom prst="rect">
            <a:avLst/>
          </a:prstGeom>
          <a:noFill/>
          <a:ln/>
        </p:spPr>
        <p:txBody>
          <a:bodyPr wrap="square" rtlCol="0" anchor="ctr"/>
          <a:lstStyle/>
          <a:p>
            <a:pPr indent="0" marL="0">
              <a:buNone/>
            </a:pPr>
            <a:r>
              <a:rPr lang="en-US" sz="1300" b="1" dirty="0">
                <a:solidFill>
                  <a:srgbClr val="0EA5E9"/>
                </a:solidFill>
                <a:latin typeface="Calibri" pitchFamily="34" charset="0"/>
                <a:ea typeface="Calibri" pitchFamily="34" charset="-122"/>
                <a:cs typeface="Calibri" pitchFamily="34" charset="-120"/>
              </a:rPr>
              <a:t>Hiperparametreler</a:t>
            </a:r>
            <a:endParaRPr lang="en-US" sz="1300" dirty="0"/>
          </a:p>
        </p:txBody>
      </p:sp>
      <p:sp>
        <p:nvSpPr>
          <p:cNvPr id="36" name="Shape 34"/>
          <p:cNvSpPr/>
          <p:nvPr/>
        </p:nvSpPr>
        <p:spPr>
          <a:xfrm>
            <a:off x="4663440" y="1810512"/>
            <a:ext cx="4114800" cy="274320"/>
          </a:xfrm>
          <a:prstGeom prst="rect">
            <a:avLst/>
          </a:prstGeom>
          <a:solidFill>
            <a:srgbClr val="0F2044"/>
          </a:solidFill>
          <a:ln w="12700">
            <a:solidFill>
              <a:srgbClr val="0F2044"/>
            </a:solidFill>
            <a:prstDash val="solid"/>
          </a:ln>
        </p:spPr>
      </p:sp>
      <p:sp>
        <p:nvSpPr>
          <p:cNvPr id="37" name="Text 35"/>
          <p:cNvSpPr/>
          <p:nvPr/>
        </p:nvSpPr>
        <p:spPr>
          <a:xfrm>
            <a:off x="4754880" y="184708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Dizi uzunlugu (T)</a:t>
            </a:r>
            <a:endParaRPr lang="en-US" sz="1050" dirty="0"/>
          </a:p>
        </p:txBody>
      </p:sp>
      <p:sp>
        <p:nvSpPr>
          <p:cNvPr id="38" name="Text 36"/>
          <p:cNvSpPr/>
          <p:nvPr/>
        </p:nvSpPr>
        <p:spPr>
          <a:xfrm>
            <a:off x="7086600" y="184708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60 zaman adimi</a:t>
            </a:r>
            <a:endParaRPr lang="en-US" sz="1050" dirty="0"/>
          </a:p>
        </p:txBody>
      </p:sp>
      <p:sp>
        <p:nvSpPr>
          <p:cNvPr id="39" name="Text 37"/>
          <p:cNvSpPr/>
          <p:nvPr/>
        </p:nvSpPr>
        <p:spPr>
          <a:xfrm>
            <a:off x="4754880" y="212140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Yama uzunlugu (P)</a:t>
            </a:r>
            <a:endParaRPr lang="en-US" sz="1050" dirty="0"/>
          </a:p>
        </p:txBody>
      </p:sp>
      <p:sp>
        <p:nvSpPr>
          <p:cNvPr id="40" name="Text 38"/>
          <p:cNvSpPr/>
          <p:nvPr/>
        </p:nvSpPr>
        <p:spPr>
          <a:xfrm>
            <a:off x="7086600" y="212140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12 → 5 yama/kanal</a:t>
            </a:r>
            <a:endParaRPr lang="en-US" sz="1050" dirty="0"/>
          </a:p>
        </p:txBody>
      </p:sp>
      <p:sp>
        <p:nvSpPr>
          <p:cNvPr id="41" name="Shape 39"/>
          <p:cNvSpPr/>
          <p:nvPr/>
        </p:nvSpPr>
        <p:spPr>
          <a:xfrm>
            <a:off x="4663440" y="2359152"/>
            <a:ext cx="4114800" cy="274320"/>
          </a:xfrm>
          <a:prstGeom prst="rect">
            <a:avLst/>
          </a:prstGeom>
          <a:solidFill>
            <a:srgbClr val="0F2044"/>
          </a:solidFill>
          <a:ln w="12700">
            <a:solidFill>
              <a:srgbClr val="0F2044"/>
            </a:solidFill>
            <a:prstDash val="solid"/>
          </a:ln>
        </p:spPr>
      </p:sp>
      <p:sp>
        <p:nvSpPr>
          <p:cNvPr id="42" name="Text 40"/>
          <p:cNvSpPr/>
          <p:nvPr/>
        </p:nvSpPr>
        <p:spPr>
          <a:xfrm>
            <a:off x="4754880" y="239572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d_model</a:t>
            </a:r>
            <a:endParaRPr lang="en-US" sz="1050" dirty="0"/>
          </a:p>
        </p:txBody>
      </p:sp>
      <p:sp>
        <p:nvSpPr>
          <p:cNvPr id="43" name="Text 41"/>
          <p:cNvSpPr/>
          <p:nvPr/>
        </p:nvSpPr>
        <p:spPr>
          <a:xfrm>
            <a:off x="7086600" y="239572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64</a:t>
            </a:r>
            <a:endParaRPr lang="en-US" sz="1050" dirty="0"/>
          </a:p>
        </p:txBody>
      </p:sp>
      <p:sp>
        <p:nvSpPr>
          <p:cNvPr id="44" name="Text 42"/>
          <p:cNvSpPr/>
          <p:nvPr/>
        </p:nvSpPr>
        <p:spPr>
          <a:xfrm>
            <a:off x="4754880" y="267004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Dikkat basi</a:t>
            </a:r>
            <a:endParaRPr lang="en-US" sz="1050" dirty="0"/>
          </a:p>
        </p:txBody>
      </p:sp>
      <p:sp>
        <p:nvSpPr>
          <p:cNvPr id="45" name="Text 43"/>
          <p:cNvSpPr/>
          <p:nvPr/>
        </p:nvSpPr>
        <p:spPr>
          <a:xfrm>
            <a:off x="7086600" y="267004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4</a:t>
            </a:r>
            <a:endParaRPr lang="en-US" sz="1050" dirty="0"/>
          </a:p>
        </p:txBody>
      </p:sp>
      <p:sp>
        <p:nvSpPr>
          <p:cNvPr id="46" name="Shape 44"/>
          <p:cNvSpPr/>
          <p:nvPr/>
        </p:nvSpPr>
        <p:spPr>
          <a:xfrm>
            <a:off x="4663440" y="2907792"/>
            <a:ext cx="4114800" cy="274320"/>
          </a:xfrm>
          <a:prstGeom prst="rect">
            <a:avLst/>
          </a:prstGeom>
          <a:solidFill>
            <a:srgbClr val="0F2044"/>
          </a:solidFill>
          <a:ln w="12700">
            <a:solidFill>
              <a:srgbClr val="0F2044"/>
            </a:solidFill>
            <a:prstDash val="solid"/>
          </a:ln>
        </p:spPr>
      </p:sp>
      <p:sp>
        <p:nvSpPr>
          <p:cNvPr id="47" name="Text 45"/>
          <p:cNvSpPr/>
          <p:nvPr/>
        </p:nvSpPr>
        <p:spPr>
          <a:xfrm>
            <a:off x="4754880" y="294436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Kodlayici katmani</a:t>
            </a:r>
            <a:endParaRPr lang="en-US" sz="1050" dirty="0"/>
          </a:p>
        </p:txBody>
      </p:sp>
      <p:sp>
        <p:nvSpPr>
          <p:cNvPr id="48" name="Text 46"/>
          <p:cNvSpPr/>
          <p:nvPr/>
        </p:nvSpPr>
        <p:spPr>
          <a:xfrm>
            <a:off x="7086600" y="294436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3</a:t>
            </a:r>
            <a:endParaRPr lang="en-US" sz="1050" dirty="0"/>
          </a:p>
        </p:txBody>
      </p:sp>
      <p:sp>
        <p:nvSpPr>
          <p:cNvPr id="49" name="Text 47"/>
          <p:cNvSpPr/>
          <p:nvPr/>
        </p:nvSpPr>
        <p:spPr>
          <a:xfrm>
            <a:off x="4754880" y="321868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Ileri besleme</a:t>
            </a:r>
            <a:endParaRPr lang="en-US" sz="1050" dirty="0"/>
          </a:p>
        </p:txBody>
      </p:sp>
      <p:sp>
        <p:nvSpPr>
          <p:cNvPr id="50" name="Text 48"/>
          <p:cNvSpPr/>
          <p:nvPr/>
        </p:nvSpPr>
        <p:spPr>
          <a:xfrm>
            <a:off x="7086600" y="321868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128</a:t>
            </a:r>
            <a:endParaRPr lang="en-US" sz="1050" dirty="0"/>
          </a:p>
        </p:txBody>
      </p:sp>
      <p:sp>
        <p:nvSpPr>
          <p:cNvPr id="51" name="Shape 49"/>
          <p:cNvSpPr/>
          <p:nvPr/>
        </p:nvSpPr>
        <p:spPr>
          <a:xfrm>
            <a:off x="4663440" y="3456432"/>
            <a:ext cx="4114800" cy="274320"/>
          </a:xfrm>
          <a:prstGeom prst="rect">
            <a:avLst/>
          </a:prstGeom>
          <a:solidFill>
            <a:srgbClr val="0F2044"/>
          </a:solidFill>
          <a:ln w="12700">
            <a:solidFill>
              <a:srgbClr val="0F2044"/>
            </a:solidFill>
            <a:prstDash val="solid"/>
          </a:ln>
        </p:spPr>
      </p:sp>
      <p:sp>
        <p:nvSpPr>
          <p:cNvPr id="52" name="Text 50"/>
          <p:cNvSpPr/>
          <p:nvPr/>
        </p:nvSpPr>
        <p:spPr>
          <a:xfrm>
            <a:off x="4754880" y="349300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Dropout</a:t>
            </a:r>
            <a:endParaRPr lang="en-US" sz="1050" dirty="0"/>
          </a:p>
        </p:txBody>
      </p:sp>
      <p:sp>
        <p:nvSpPr>
          <p:cNvPr id="53" name="Text 51"/>
          <p:cNvSpPr/>
          <p:nvPr/>
        </p:nvSpPr>
        <p:spPr>
          <a:xfrm>
            <a:off x="7086600" y="349300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0.1</a:t>
            </a:r>
            <a:endParaRPr lang="en-US" sz="1050" dirty="0"/>
          </a:p>
        </p:txBody>
      </p:sp>
      <p:sp>
        <p:nvSpPr>
          <p:cNvPr id="54" name="Text 52"/>
          <p:cNvSpPr/>
          <p:nvPr/>
        </p:nvSpPr>
        <p:spPr>
          <a:xfrm>
            <a:off x="4754880" y="376732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Toplam parametre</a:t>
            </a:r>
            <a:endParaRPr lang="en-US" sz="1050" dirty="0"/>
          </a:p>
        </p:txBody>
      </p:sp>
      <p:sp>
        <p:nvSpPr>
          <p:cNvPr id="55" name="Text 53"/>
          <p:cNvSpPr/>
          <p:nvPr/>
        </p:nvSpPr>
        <p:spPr>
          <a:xfrm>
            <a:off x="7086600" y="376732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118.146</a:t>
            </a:r>
            <a:endParaRPr lang="en-US" sz="1050" dirty="0"/>
          </a:p>
        </p:txBody>
      </p:sp>
      <p:sp>
        <p:nvSpPr>
          <p:cNvPr id="56" name="Shape 54"/>
          <p:cNvSpPr/>
          <p:nvPr/>
        </p:nvSpPr>
        <p:spPr>
          <a:xfrm>
            <a:off x="4663440" y="4005072"/>
            <a:ext cx="4114800" cy="274320"/>
          </a:xfrm>
          <a:prstGeom prst="rect">
            <a:avLst/>
          </a:prstGeom>
          <a:solidFill>
            <a:srgbClr val="0F2044"/>
          </a:solidFill>
          <a:ln w="12700">
            <a:solidFill>
              <a:srgbClr val="0F2044"/>
            </a:solidFill>
            <a:prstDash val="solid"/>
          </a:ln>
        </p:spPr>
      </p:sp>
      <p:sp>
        <p:nvSpPr>
          <p:cNvPr id="57" name="Text 55"/>
          <p:cNvSpPr/>
          <p:nvPr/>
        </p:nvSpPr>
        <p:spPr>
          <a:xfrm>
            <a:off x="4754880" y="404164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Optimizasyon</a:t>
            </a:r>
            <a:endParaRPr lang="en-US" sz="1050" dirty="0"/>
          </a:p>
        </p:txBody>
      </p:sp>
      <p:sp>
        <p:nvSpPr>
          <p:cNvPr id="58" name="Text 56"/>
          <p:cNvSpPr/>
          <p:nvPr/>
        </p:nvSpPr>
        <p:spPr>
          <a:xfrm>
            <a:off x="7086600" y="404164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AdamW (lr = 3e-4)</a:t>
            </a:r>
            <a:endParaRPr lang="en-US" sz="1050" dirty="0"/>
          </a:p>
        </p:txBody>
      </p:sp>
      <p:sp>
        <p:nvSpPr>
          <p:cNvPr id="59" name="Text 57"/>
          <p:cNvSpPr/>
          <p:nvPr/>
        </p:nvSpPr>
        <p:spPr>
          <a:xfrm>
            <a:off x="4754880" y="431596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LR programi</a:t>
            </a:r>
            <a:endParaRPr lang="en-US" sz="1050" dirty="0"/>
          </a:p>
        </p:txBody>
      </p:sp>
      <p:sp>
        <p:nvSpPr>
          <p:cNvPr id="60" name="Text 58"/>
          <p:cNvSpPr/>
          <p:nvPr/>
        </p:nvSpPr>
        <p:spPr>
          <a:xfrm>
            <a:off x="7086600" y="431596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Kosinusu tavlama</a:t>
            </a:r>
            <a:endParaRPr lang="en-US" sz="1050" dirty="0"/>
          </a:p>
        </p:txBody>
      </p:sp>
      <p:sp>
        <p:nvSpPr>
          <p:cNvPr id="61" name="Shape 59"/>
          <p:cNvSpPr/>
          <p:nvPr/>
        </p:nvSpPr>
        <p:spPr>
          <a:xfrm>
            <a:off x="4663440" y="4553712"/>
            <a:ext cx="4114800" cy="274320"/>
          </a:xfrm>
          <a:prstGeom prst="rect">
            <a:avLst/>
          </a:prstGeom>
          <a:solidFill>
            <a:srgbClr val="0F2044"/>
          </a:solidFill>
          <a:ln w="12700">
            <a:solidFill>
              <a:srgbClr val="0F2044"/>
            </a:solidFill>
            <a:prstDash val="solid"/>
          </a:ln>
        </p:spPr>
      </p:sp>
      <p:sp>
        <p:nvSpPr>
          <p:cNvPr id="62" name="Text 60"/>
          <p:cNvSpPr/>
          <p:nvPr/>
        </p:nvSpPr>
        <p:spPr>
          <a:xfrm>
            <a:off x="4754880" y="459028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Erken durdurma</a:t>
            </a:r>
            <a:endParaRPr lang="en-US" sz="1050" dirty="0"/>
          </a:p>
        </p:txBody>
      </p:sp>
      <p:sp>
        <p:nvSpPr>
          <p:cNvPr id="63" name="Text 61"/>
          <p:cNvSpPr/>
          <p:nvPr/>
        </p:nvSpPr>
        <p:spPr>
          <a:xfrm>
            <a:off x="7086600" y="459028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Dogrulama F1, sabir=7</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VERI SETI</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Sentetik Sensor Veri Seti</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457200" y="1371600"/>
            <a:ext cx="1874520" cy="548640"/>
          </a:xfrm>
          <a:prstGeom prst="rect">
            <a:avLst/>
          </a:prstGeom>
          <a:noFill/>
          <a:ln/>
        </p:spPr>
        <p:txBody>
          <a:bodyPr wrap="square" rtlCol="0" anchor="ctr"/>
          <a:lstStyle/>
          <a:p>
            <a:pPr algn="ctr" indent="0" marL="0">
              <a:buNone/>
            </a:pPr>
            <a:r>
              <a:rPr lang="en-US" sz="3600" b="1" dirty="0">
                <a:solidFill>
                  <a:srgbClr val="0EA5E9"/>
                </a:solidFill>
                <a:latin typeface="Calibri" pitchFamily="34" charset="0"/>
                <a:ea typeface="Calibri" pitchFamily="34" charset="-122"/>
                <a:cs typeface="Calibri" pitchFamily="34" charset="-120"/>
              </a:rPr>
              <a:t>50.000</a:t>
            </a:r>
            <a:endParaRPr lang="en-US" sz="3600" dirty="0"/>
          </a:p>
        </p:txBody>
      </p:sp>
      <p:sp>
        <p:nvSpPr>
          <p:cNvPr id="7" name="Text 5"/>
          <p:cNvSpPr/>
          <p:nvPr/>
        </p:nvSpPr>
        <p:spPr>
          <a:xfrm>
            <a:off x="457200"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zaman adimi, 1 Hz</a:t>
            </a:r>
            <a:endParaRPr lang="en-US" sz="1100" dirty="0"/>
          </a:p>
        </p:txBody>
      </p:sp>
      <p:sp>
        <p:nvSpPr>
          <p:cNvPr id="8" name="Shape 6"/>
          <p:cNvSpPr/>
          <p:nvPr/>
        </p:nvSpPr>
        <p:spPr>
          <a:xfrm>
            <a:off x="2578608"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9" name="Text 7"/>
          <p:cNvSpPr/>
          <p:nvPr/>
        </p:nvSpPr>
        <p:spPr>
          <a:xfrm>
            <a:off x="2670048" y="1371600"/>
            <a:ext cx="1874520" cy="548640"/>
          </a:xfrm>
          <a:prstGeom prst="rect">
            <a:avLst/>
          </a:prstGeom>
          <a:noFill/>
          <a:ln/>
        </p:spPr>
        <p:txBody>
          <a:bodyPr wrap="square" rtlCol="0" anchor="ctr"/>
          <a:lstStyle/>
          <a:p>
            <a:pPr algn="ctr" indent="0" marL="0">
              <a:buNone/>
            </a:pPr>
            <a:r>
              <a:rPr lang="en-US" sz="3600" b="1" dirty="0">
                <a:solidFill>
                  <a:srgbClr val="10B981"/>
                </a:solidFill>
                <a:latin typeface="Calibri" pitchFamily="34" charset="0"/>
                <a:ea typeface="Calibri" pitchFamily="34" charset="-122"/>
                <a:cs typeface="Calibri" pitchFamily="34" charset="-120"/>
              </a:rPr>
              <a:t>49.940</a:t>
            </a:r>
            <a:endParaRPr lang="en-US" sz="3600" dirty="0"/>
          </a:p>
        </p:txBody>
      </p:sp>
      <p:sp>
        <p:nvSpPr>
          <p:cNvPr id="10" name="Text 8"/>
          <p:cNvSpPr/>
          <p:nvPr/>
        </p:nvSpPr>
        <p:spPr>
          <a:xfrm>
            <a:off x="2670048"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dizi penceresi</a:t>
            </a:r>
            <a:endParaRPr lang="en-US" sz="1100" dirty="0"/>
          </a:p>
        </p:txBody>
      </p:sp>
      <p:sp>
        <p:nvSpPr>
          <p:cNvPr id="11" name="Shape 9"/>
          <p:cNvSpPr/>
          <p:nvPr/>
        </p:nvSpPr>
        <p:spPr>
          <a:xfrm>
            <a:off x="4791456"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2" name="Text 10"/>
          <p:cNvSpPr/>
          <p:nvPr/>
        </p:nvSpPr>
        <p:spPr>
          <a:xfrm>
            <a:off x="4882896" y="1371600"/>
            <a:ext cx="1874520" cy="548640"/>
          </a:xfrm>
          <a:prstGeom prst="rect">
            <a:avLst/>
          </a:prstGeom>
          <a:noFill/>
          <a:ln/>
        </p:spPr>
        <p:txBody>
          <a:bodyPr wrap="square" rtlCol="0" anchor="ctr"/>
          <a:lstStyle/>
          <a:p>
            <a:pPr algn="ctr" indent="0" marL="0">
              <a:buNone/>
            </a:pPr>
            <a:r>
              <a:rPr lang="en-US" sz="3600" b="1" dirty="0">
                <a:solidFill>
                  <a:srgbClr val="F59E0B"/>
                </a:solidFill>
                <a:latin typeface="Calibri" pitchFamily="34" charset="0"/>
                <a:ea typeface="Calibri" pitchFamily="34" charset="-122"/>
                <a:cs typeface="Calibri" pitchFamily="34" charset="-120"/>
              </a:rPr>
              <a:t>60</a:t>
            </a:r>
            <a:endParaRPr lang="en-US" sz="3600" dirty="0"/>
          </a:p>
        </p:txBody>
      </p:sp>
      <p:sp>
        <p:nvSpPr>
          <p:cNvPr id="13" name="Text 11"/>
          <p:cNvSpPr/>
          <p:nvPr/>
        </p:nvSpPr>
        <p:spPr>
          <a:xfrm>
            <a:off x="4882896"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pencere basi adim</a:t>
            </a:r>
            <a:endParaRPr lang="en-US" sz="1100" dirty="0"/>
          </a:p>
        </p:txBody>
      </p:sp>
      <p:sp>
        <p:nvSpPr>
          <p:cNvPr id="14" name="Shape 12"/>
          <p:cNvSpPr/>
          <p:nvPr/>
        </p:nvSpPr>
        <p:spPr>
          <a:xfrm>
            <a:off x="7004304"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5" name="Text 13"/>
          <p:cNvSpPr/>
          <p:nvPr/>
        </p:nvSpPr>
        <p:spPr>
          <a:xfrm>
            <a:off x="7095744" y="1371600"/>
            <a:ext cx="1874520" cy="548640"/>
          </a:xfrm>
          <a:prstGeom prst="rect">
            <a:avLst/>
          </a:prstGeom>
          <a:noFill/>
          <a:ln/>
        </p:spPr>
        <p:txBody>
          <a:bodyPr wrap="square" rtlCol="0" anchor="ctr"/>
          <a:lstStyle/>
          <a:p>
            <a:pPr algn="ctr" indent="0" marL="0">
              <a:buNone/>
            </a:pPr>
            <a:r>
              <a:rPr lang="en-US" sz="3600" b="1" dirty="0">
                <a:solidFill>
                  <a:srgbClr val="F43F5E"/>
                </a:solidFill>
                <a:latin typeface="Calibri" pitchFamily="34" charset="0"/>
                <a:ea typeface="Calibri" pitchFamily="34" charset="-122"/>
                <a:cs typeface="Calibri" pitchFamily="34" charset="-120"/>
              </a:rPr>
              <a:t>~%2</a:t>
            </a:r>
            <a:endParaRPr lang="en-US" sz="3600" dirty="0"/>
          </a:p>
        </p:txBody>
      </p:sp>
      <p:sp>
        <p:nvSpPr>
          <p:cNvPr id="16" name="Text 14"/>
          <p:cNvSpPr/>
          <p:nvPr/>
        </p:nvSpPr>
        <p:spPr>
          <a:xfrm>
            <a:off x="7095744"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ariza oncesi pencere</a:t>
            </a:r>
            <a:endParaRPr lang="en-US" sz="1100" dirty="0"/>
          </a:p>
        </p:txBody>
      </p:sp>
      <p:sp>
        <p:nvSpPr>
          <p:cNvPr id="17" name="Shape 15"/>
          <p:cNvSpPr/>
          <p:nvPr/>
        </p:nvSpPr>
        <p:spPr>
          <a:xfrm>
            <a:off x="365760" y="2487168"/>
            <a:ext cx="2743200" cy="2286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365760" y="2487168"/>
            <a:ext cx="2743200" cy="54864"/>
          </a:xfrm>
          <a:prstGeom prst="rect">
            <a:avLst/>
          </a:prstGeom>
          <a:solidFill>
            <a:srgbClr val="F43F5E"/>
          </a:solidFill>
          <a:ln w="12700">
            <a:solidFill>
              <a:srgbClr val="F43F5E"/>
            </a:solidFill>
            <a:prstDash val="solid"/>
          </a:ln>
        </p:spPr>
      </p:sp>
      <p:sp>
        <p:nvSpPr>
          <p:cNvPr id="19" name="Text 17"/>
          <p:cNvSpPr/>
          <p:nvPr/>
        </p:nvSpPr>
        <p:spPr>
          <a:xfrm>
            <a:off x="502920" y="2587752"/>
            <a:ext cx="246888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Asiri Isinma</a:t>
            </a:r>
            <a:endParaRPr lang="en-US" sz="1300" dirty="0"/>
          </a:p>
        </p:txBody>
      </p:sp>
      <p:sp>
        <p:nvSpPr>
          <p:cNvPr id="20" name="Text 18"/>
          <p:cNvSpPr/>
          <p:nvPr/>
        </p:nvSpPr>
        <p:spPr>
          <a:xfrm>
            <a:off x="502920" y="2907792"/>
            <a:ext cx="2468880" cy="173736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Sicaklik ~200 adimda +25°C artar, sonra ani yukselir. Titresim de hafifce artar. En kolay tespit — guclu monoton sinyal.</a:t>
            </a:r>
            <a:endParaRPr lang="en-US" sz="1100" dirty="0"/>
          </a:p>
        </p:txBody>
      </p:sp>
      <p:sp>
        <p:nvSpPr>
          <p:cNvPr id="21" name="Shape 19"/>
          <p:cNvSpPr/>
          <p:nvPr/>
        </p:nvSpPr>
        <p:spPr>
          <a:xfrm>
            <a:off x="3291840" y="2487168"/>
            <a:ext cx="2743200" cy="2286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2" name="Shape 20"/>
          <p:cNvSpPr/>
          <p:nvPr/>
        </p:nvSpPr>
        <p:spPr>
          <a:xfrm>
            <a:off x="3291840" y="2487168"/>
            <a:ext cx="2743200" cy="54864"/>
          </a:xfrm>
          <a:prstGeom prst="rect">
            <a:avLst/>
          </a:prstGeom>
          <a:solidFill>
            <a:srgbClr val="F59E0B"/>
          </a:solidFill>
          <a:ln w="12700">
            <a:solidFill>
              <a:srgbClr val="F59E0B"/>
            </a:solidFill>
            <a:prstDash val="solid"/>
          </a:ln>
        </p:spPr>
      </p:sp>
      <p:sp>
        <p:nvSpPr>
          <p:cNvPr id="23" name="Text 21"/>
          <p:cNvSpPr/>
          <p:nvPr/>
        </p:nvSpPr>
        <p:spPr>
          <a:xfrm>
            <a:off x="3429000" y="2587752"/>
            <a:ext cx="246888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Yatak Asinmasi</a:t>
            </a:r>
            <a:endParaRPr lang="en-US" sz="1300" dirty="0"/>
          </a:p>
        </p:txBody>
      </p:sp>
      <p:sp>
        <p:nvSpPr>
          <p:cNvPr id="24" name="Text 22"/>
          <p:cNvSpPr/>
          <p:nvPr/>
        </p:nvSpPr>
        <p:spPr>
          <a:xfrm>
            <a:off x="3429000" y="2907792"/>
            <a:ext cx="2468880" cy="173736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Titresim yavas yukselir (+3.5 mm/s), RPM ~80 devir dusar, ~300 adimda. En zor tespit — kademeli, cok kanalli.</a:t>
            </a:r>
            <a:endParaRPr lang="en-US" sz="1100" dirty="0"/>
          </a:p>
        </p:txBody>
      </p:sp>
      <p:sp>
        <p:nvSpPr>
          <p:cNvPr id="25" name="Shape 23"/>
          <p:cNvSpPr/>
          <p:nvPr/>
        </p:nvSpPr>
        <p:spPr>
          <a:xfrm>
            <a:off x="6217920" y="2487168"/>
            <a:ext cx="2743200" cy="2286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6" name="Shape 24"/>
          <p:cNvSpPr/>
          <p:nvPr/>
        </p:nvSpPr>
        <p:spPr>
          <a:xfrm>
            <a:off x="6217920" y="2487168"/>
            <a:ext cx="2743200" cy="54864"/>
          </a:xfrm>
          <a:prstGeom prst="rect">
            <a:avLst/>
          </a:prstGeom>
          <a:solidFill>
            <a:srgbClr val="0EA5E9"/>
          </a:solidFill>
          <a:ln w="12700">
            <a:solidFill>
              <a:srgbClr val="0EA5E9"/>
            </a:solidFill>
            <a:prstDash val="solid"/>
          </a:ln>
        </p:spPr>
      </p:sp>
      <p:sp>
        <p:nvSpPr>
          <p:cNvPr id="27" name="Text 25"/>
          <p:cNvSpPr/>
          <p:nvPr/>
        </p:nvSpPr>
        <p:spPr>
          <a:xfrm>
            <a:off x="6355080" y="2587752"/>
            <a:ext cx="246888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Basinc Kaybi</a:t>
            </a:r>
            <a:endParaRPr lang="en-US" sz="1300" dirty="0"/>
          </a:p>
        </p:txBody>
      </p:sp>
      <p:sp>
        <p:nvSpPr>
          <p:cNvPr id="28" name="Text 26"/>
          <p:cNvSpPr/>
          <p:nvPr/>
        </p:nvSpPr>
        <p:spPr>
          <a:xfrm>
            <a:off x="6355080" y="2907792"/>
            <a:ext cx="2468880" cy="173736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Basinc ~120 adimda -3.5 bar dusar. RPM karsarsizlasir. Kisa ariza oncesi pencere.</a:t>
            </a:r>
            <a:endParaRPr lang="en-US" sz="1100" dirty="0"/>
          </a:p>
        </p:txBody>
      </p:sp>
      <p:sp>
        <p:nvSpPr>
          <p:cNvPr id="29" name="Shape 27"/>
          <p:cNvSpPr/>
          <p:nvPr/>
        </p:nvSpPr>
        <p:spPr>
          <a:xfrm>
            <a:off x="365760" y="4846320"/>
            <a:ext cx="8412480" cy="18288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30" name="Text 28"/>
          <p:cNvSpPr/>
          <p:nvPr/>
        </p:nvSpPr>
        <p:spPr>
          <a:xfrm>
            <a:off x="502920" y="4855464"/>
            <a:ext cx="8229600" cy="173736"/>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Bolum: %70 egitim · %15 dogrulama · %15 test  —  Kronolojik bolum, veri sizintisi yok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SONUCLAR</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Deneysel Sonuclar</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457200" y="1371600"/>
            <a:ext cx="1874520" cy="548640"/>
          </a:xfrm>
          <a:prstGeom prst="rect">
            <a:avLst/>
          </a:prstGeom>
          <a:noFill/>
          <a:ln/>
        </p:spPr>
        <p:txBody>
          <a:bodyPr wrap="square" rtlCol="0" anchor="ctr"/>
          <a:lstStyle/>
          <a:p>
            <a:pPr algn="ctr" indent="0" marL="0">
              <a:buNone/>
            </a:pPr>
            <a:r>
              <a:rPr lang="en-US" sz="3600" b="1" dirty="0">
                <a:solidFill>
                  <a:srgbClr val="10B981"/>
                </a:solidFill>
                <a:latin typeface="Calibri" pitchFamily="34" charset="0"/>
                <a:ea typeface="Calibri" pitchFamily="34" charset="-122"/>
                <a:cs typeface="Calibri" pitchFamily="34" charset="-120"/>
              </a:rPr>
              <a:t>0.997</a:t>
            </a:r>
            <a:endParaRPr lang="en-US" sz="3600" dirty="0"/>
          </a:p>
        </p:txBody>
      </p:sp>
      <p:sp>
        <p:nvSpPr>
          <p:cNvPr id="7" name="Text 5"/>
          <p:cNvSpPr/>
          <p:nvPr/>
        </p:nvSpPr>
        <p:spPr>
          <a:xfrm>
            <a:off x="457200"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ROC-AUC</a:t>
            </a:r>
            <a:endParaRPr lang="en-US" sz="1100" dirty="0"/>
          </a:p>
        </p:txBody>
      </p:sp>
      <p:sp>
        <p:nvSpPr>
          <p:cNvPr id="8" name="Shape 6"/>
          <p:cNvSpPr/>
          <p:nvPr/>
        </p:nvSpPr>
        <p:spPr>
          <a:xfrm>
            <a:off x="2578608"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9" name="Text 7"/>
          <p:cNvSpPr/>
          <p:nvPr/>
        </p:nvSpPr>
        <p:spPr>
          <a:xfrm>
            <a:off x="2670048" y="1371600"/>
            <a:ext cx="1874520" cy="548640"/>
          </a:xfrm>
          <a:prstGeom prst="rect">
            <a:avLst/>
          </a:prstGeom>
          <a:noFill/>
          <a:ln/>
        </p:spPr>
        <p:txBody>
          <a:bodyPr wrap="square" rtlCol="0" anchor="ctr"/>
          <a:lstStyle/>
          <a:p>
            <a:pPr algn="ctr" indent="0" marL="0">
              <a:buNone/>
            </a:pPr>
            <a:r>
              <a:rPr lang="en-US" sz="3600" b="1" dirty="0">
                <a:solidFill>
                  <a:srgbClr val="0EA5E9"/>
                </a:solidFill>
                <a:latin typeface="Calibri" pitchFamily="34" charset="0"/>
                <a:ea typeface="Calibri" pitchFamily="34" charset="-122"/>
                <a:cs typeface="Calibri" pitchFamily="34" charset="-120"/>
              </a:rPr>
              <a:t>%97</a:t>
            </a:r>
            <a:endParaRPr lang="en-US" sz="3600" dirty="0"/>
          </a:p>
        </p:txBody>
      </p:sp>
      <p:sp>
        <p:nvSpPr>
          <p:cNvPr id="10" name="Text 8"/>
          <p:cNvSpPr/>
          <p:nvPr/>
        </p:nvSpPr>
        <p:spPr>
          <a:xfrm>
            <a:off x="2670048"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Duyarlilik (Ariza)</a:t>
            </a:r>
            <a:endParaRPr lang="en-US" sz="1100" dirty="0"/>
          </a:p>
        </p:txBody>
      </p:sp>
      <p:sp>
        <p:nvSpPr>
          <p:cNvPr id="11" name="Shape 9"/>
          <p:cNvSpPr/>
          <p:nvPr/>
        </p:nvSpPr>
        <p:spPr>
          <a:xfrm>
            <a:off x="4791456"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2" name="Text 10"/>
          <p:cNvSpPr/>
          <p:nvPr/>
        </p:nvSpPr>
        <p:spPr>
          <a:xfrm>
            <a:off x="4882896" y="1371600"/>
            <a:ext cx="1874520" cy="548640"/>
          </a:xfrm>
          <a:prstGeom prst="rect">
            <a:avLst/>
          </a:prstGeom>
          <a:noFill/>
          <a:ln/>
        </p:spPr>
        <p:txBody>
          <a:bodyPr wrap="square" rtlCol="0" anchor="ctr"/>
          <a:lstStyle/>
          <a:p>
            <a:pPr algn="ctr" indent="0" marL="0">
              <a:buNone/>
            </a:pPr>
            <a:r>
              <a:rPr lang="en-US" sz="3600" b="1" dirty="0">
                <a:solidFill>
                  <a:srgbClr val="F59E0B"/>
                </a:solidFill>
                <a:latin typeface="Calibri" pitchFamily="34" charset="0"/>
                <a:ea typeface="Calibri" pitchFamily="34" charset="-122"/>
                <a:cs typeface="Calibri" pitchFamily="34" charset="-120"/>
              </a:rPr>
              <a:t>118K</a:t>
            </a:r>
            <a:endParaRPr lang="en-US" sz="3600" dirty="0"/>
          </a:p>
        </p:txBody>
      </p:sp>
      <p:sp>
        <p:nvSpPr>
          <p:cNvPr id="13" name="Text 11"/>
          <p:cNvSpPr/>
          <p:nvPr/>
        </p:nvSpPr>
        <p:spPr>
          <a:xfrm>
            <a:off x="4882896"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Parametre</a:t>
            </a:r>
            <a:endParaRPr lang="en-US" sz="1100" dirty="0"/>
          </a:p>
        </p:txBody>
      </p:sp>
      <p:sp>
        <p:nvSpPr>
          <p:cNvPr id="14" name="Shape 12"/>
          <p:cNvSpPr/>
          <p:nvPr/>
        </p:nvSpPr>
        <p:spPr>
          <a:xfrm>
            <a:off x="7004304"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5" name="Text 13"/>
          <p:cNvSpPr/>
          <p:nvPr/>
        </p:nvSpPr>
        <p:spPr>
          <a:xfrm>
            <a:off x="7095744" y="1371600"/>
            <a:ext cx="1874520" cy="548640"/>
          </a:xfrm>
          <a:prstGeom prst="rect">
            <a:avLst/>
          </a:prstGeom>
          <a:noFill/>
          <a:ln/>
        </p:spPr>
        <p:txBody>
          <a:bodyPr wrap="square" rtlCol="0" anchor="ctr"/>
          <a:lstStyle/>
          <a:p>
            <a:pPr algn="ctr" indent="0" marL="0">
              <a:buNone/>
            </a:pPr>
            <a:r>
              <a:rPr lang="en-US" sz="3600" b="1" dirty="0">
                <a:solidFill>
                  <a:srgbClr val="F43F5E"/>
                </a:solidFill>
                <a:latin typeface="Calibri" pitchFamily="34" charset="0"/>
                <a:ea typeface="Calibri" pitchFamily="34" charset="-122"/>
                <a:cs typeface="Calibri" pitchFamily="34" charset="-120"/>
              </a:rPr>
              <a:t>5</a:t>
            </a:r>
            <a:endParaRPr lang="en-US" sz="3600" dirty="0"/>
          </a:p>
        </p:txBody>
      </p:sp>
      <p:sp>
        <p:nvSpPr>
          <p:cNvPr id="16" name="Text 14"/>
          <p:cNvSpPr/>
          <p:nvPr/>
        </p:nvSpPr>
        <p:spPr>
          <a:xfrm>
            <a:off x="7095744"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Yakinsama epoch sayisi</a:t>
            </a:r>
            <a:endParaRPr lang="en-US" sz="1100" dirty="0"/>
          </a:p>
        </p:txBody>
      </p:sp>
      <p:sp>
        <p:nvSpPr>
          <p:cNvPr id="17" name="Shape 15"/>
          <p:cNvSpPr/>
          <p:nvPr/>
        </p:nvSpPr>
        <p:spPr>
          <a:xfrm>
            <a:off x="365760" y="2487168"/>
            <a:ext cx="8412480" cy="237744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2487168"/>
          <a:ext cx="8412480" cy="914400"/>
        </p:xfrm>
        <a:graphic>
          <a:graphicData uri="http://schemas.openxmlformats.org/drawingml/2006/table">
            <a:tbl>
              <a:tblPr/>
              <a:tblGrid>
                <a:gridCol w="2377440"/>
                <a:gridCol w="1920240"/>
                <a:gridCol w="1920240"/>
                <a:gridCol w="201168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Metrik</a:t>
                      </a:r>
                      <a:endParaRPr lang="en-US" sz="11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284C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PatchTST (bizim)</a:t>
                      </a:r>
                      <a:endParaRPr lang="en-US" sz="11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284C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LSTM Baseline</a:t>
                      </a:r>
                      <a:endParaRPr lang="en-US" sz="11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284C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Kazanan</a:t>
                      </a:r>
                      <a:endParaRPr lang="en-US" sz="11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284C7"/>
                    </a:solidFill>
                  </a:tcPr>
                </a:tc>
              </a:tr>
              <a:tr h="34747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Dogruluk</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98.05%</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~95–96%</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b="1" dirty="0">
                          <a:solidFill>
                            <a:srgbClr val="10B981"/>
                          </a:solidFill>
                          <a:latin typeface="Calibri" pitchFamily="34" charset="0"/>
                          <a:ea typeface="Calibri" pitchFamily="34" charset="-122"/>
                          <a:cs typeface="Calibri" pitchFamily="34" charset="-120"/>
                        </a:rPr>
                        <a:t>Transformer</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r>
              <a:tr h="34747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F1 Skoru (ariza)</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0.67–0.85+</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0.55–0.72</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c>
                  <a:txBody>
                    <a:bodyPr/>
                    <a:lstStyle/>
                    <a:p>
                      <a:pPr indent="0" marL="0">
                        <a:buNone/>
                      </a:pPr>
                      <a:r>
                        <a:rPr lang="en-US" sz="1050" b="1" dirty="0">
                          <a:solidFill>
                            <a:srgbClr val="10B981"/>
                          </a:solidFill>
                          <a:latin typeface="Calibri" pitchFamily="34" charset="0"/>
                          <a:ea typeface="Calibri" pitchFamily="34" charset="-122"/>
                          <a:cs typeface="Calibri" pitchFamily="34" charset="-120"/>
                        </a:rPr>
                        <a:t>Transformer</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r>
              <a:tr h="34747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ROC-AUC</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0.997</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~0.97</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b="1" dirty="0">
                          <a:solidFill>
                            <a:srgbClr val="10B981"/>
                          </a:solidFill>
                          <a:latin typeface="Calibri" pitchFamily="34" charset="0"/>
                          <a:ea typeface="Calibri" pitchFamily="34" charset="-122"/>
                          <a:cs typeface="Calibri" pitchFamily="34" charset="-120"/>
                        </a:rPr>
                        <a:t>Transformer</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r>
              <a:tr h="34747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Gercek Pozitif</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145 / 150</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~130 / 150</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c>
                  <a:txBody>
                    <a:bodyPr/>
                    <a:lstStyle/>
                    <a:p>
                      <a:pPr indent="0" marL="0">
                        <a:buNone/>
                      </a:pPr>
                      <a:r>
                        <a:rPr lang="en-US" sz="1050" b="1" dirty="0">
                          <a:solidFill>
                            <a:srgbClr val="10B981"/>
                          </a:solidFill>
                          <a:latin typeface="Calibri" pitchFamily="34" charset="0"/>
                          <a:ea typeface="Calibri" pitchFamily="34" charset="-122"/>
                          <a:cs typeface="Calibri" pitchFamily="34" charset="-120"/>
                        </a:rPr>
                        <a:t>Transformer</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r>
              <a:tr h="34747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Parametre Sayisi</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118.146</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143.554</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b="1" dirty="0">
                          <a:solidFill>
                            <a:srgbClr val="10B981"/>
                          </a:solidFill>
                          <a:latin typeface="Calibri" pitchFamily="34" charset="0"/>
                          <a:ea typeface="Calibri" pitchFamily="34" charset="-122"/>
                          <a:cs typeface="Calibri" pitchFamily="34" charset="-120"/>
                        </a:rPr>
                        <a:t>Transformer (daha kucuk!)</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TEMEL GOZLEM</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Transformer Burada Neden Daha Iyi?</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98448"/>
            <a:ext cx="4023360" cy="301752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298448"/>
            <a:ext cx="4023360" cy="64008"/>
          </a:xfrm>
          <a:prstGeom prst="rect">
            <a:avLst/>
          </a:prstGeom>
          <a:solidFill>
            <a:srgbClr val="F59E0B"/>
          </a:solidFill>
          <a:ln w="12700">
            <a:solidFill>
              <a:srgbClr val="F59E0B"/>
            </a:solidFill>
            <a:prstDash val="solid"/>
          </a:ln>
        </p:spPr>
      </p:sp>
      <p:sp>
        <p:nvSpPr>
          <p:cNvPr id="7" name="Text 5"/>
          <p:cNvSpPr/>
          <p:nvPr/>
        </p:nvSpPr>
        <p:spPr>
          <a:xfrm>
            <a:off x="548640" y="1426464"/>
            <a:ext cx="3474720" cy="292608"/>
          </a:xfrm>
          <a:prstGeom prst="rect">
            <a:avLst/>
          </a:prstGeom>
          <a:noFill/>
          <a:ln/>
        </p:spPr>
        <p:txBody>
          <a:bodyPr wrap="square"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LSTM</a:t>
            </a:r>
            <a:endParaRPr lang="en-US" sz="1500" dirty="0"/>
          </a:p>
        </p:txBody>
      </p:sp>
      <p:sp>
        <p:nvSpPr>
          <p:cNvPr id="8" name="Text 6"/>
          <p:cNvSpPr/>
          <p:nvPr/>
        </p:nvSpPr>
        <p:spPr>
          <a:xfrm>
            <a:off x="548640" y="1764792"/>
            <a:ext cx="3474720" cy="2286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Sirasal isleme</a:t>
            </a:r>
            <a:endParaRPr lang="en-US" sz="1100" dirty="0"/>
          </a:p>
        </p:txBody>
      </p:sp>
      <p:sp>
        <p:nvSpPr>
          <p:cNvPr id="9" name="Shape 7"/>
          <p:cNvSpPr/>
          <p:nvPr/>
        </p:nvSpPr>
        <p:spPr>
          <a:xfrm>
            <a:off x="502920" y="2103120"/>
            <a:ext cx="365760" cy="292608"/>
          </a:xfrm>
          <a:prstGeom prst="rect">
            <a:avLst/>
          </a:prstGeom>
          <a:solidFill>
            <a:srgbClr val="162D5A"/>
          </a:solidFill>
          <a:ln w="6350">
            <a:solidFill>
              <a:srgbClr val="1E3A5F"/>
            </a:solidFill>
            <a:prstDash val="solid"/>
          </a:ln>
        </p:spPr>
      </p:sp>
      <p:sp>
        <p:nvSpPr>
          <p:cNvPr id="10" name="Shape 8"/>
          <p:cNvSpPr/>
          <p:nvPr/>
        </p:nvSpPr>
        <p:spPr>
          <a:xfrm>
            <a:off x="868680" y="2212848"/>
            <a:ext cx="91440" cy="73152"/>
          </a:xfrm>
          <a:prstGeom prst="rect">
            <a:avLst/>
          </a:prstGeom>
          <a:solidFill>
            <a:srgbClr val="F59E0B"/>
          </a:solidFill>
          <a:ln w="12700">
            <a:solidFill>
              <a:srgbClr val="F59E0B"/>
            </a:solidFill>
            <a:prstDash val="solid"/>
          </a:ln>
        </p:spPr>
      </p:sp>
      <p:sp>
        <p:nvSpPr>
          <p:cNvPr id="11" name="Shape 9"/>
          <p:cNvSpPr/>
          <p:nvPr/>
        </p:nvSpPr>
        <p:spPr>
          <a:xfrm>
            <a:off x="960120" y="2103120"/>
            <a:ext cx="365760" cy="292608"/>
          </a:xfrm>
          <a:prstGeom prst="rect">
            <a:avLst/>
          </a:prstGeom>
          <a:solidFill>
            <a:srgbClr val="162D5A"/>
          </a:solidFill>
          <a:ln w="6350">
            <a:solidFill>
              <a:srgbClr val="1E3A5F"/>
            </a:solidFill>
            <a:prstDash val="solid"/>
          </a:ln>
        </p:spPr>
      </p:sp>
      <p:sp>
        <p:nvSpPr>
          <p:cNvPr id="12" name="Shape 10"/>
          <p:cNvSpPr/>
          <p:nvPr/>
        </p:nvSpPr>
        <p:spPr>
          <a:xfrm>
            <a:off x="1325880" y="2212848"/>
            <a:ext cx="91440" cy="73152"/>
          </a:xfrm>
          <a:prstGeom prst="rect">
            <a:avLst/>
          </a:prstGeom>
          <a:solidFill>
            <a:srgbClr val="F59E0B"/>
          </a:solidFill>
          <a:ln w="12700">
            <a:solidFill>
              <a:srgbClr val="F59E0B"/>
            </a:solidFill>
            <a:prstDash val="solid"/>
          </a:ln>
        </p:spPr>
      </p:sp>
      <p:sp>
        <p:nvSpPr>
          <p:cNvPr id="13" name="Shape 11"/>
          <p:cNvSpPr/>
          <p:nvPr/>
        </p:nvSpPr>
        <p:spPr>
          <a:xfrm>
            <a:off x="1417320" y="2103120"/>
            <a:ext cx="365760" cy="292608"/>
          </a:xfrm>
          <a:prstGeom prst="rect">
            <a:avLst/>
          </a:prstGeom>
          <a:solidFill>
            <a:srgbClr val="162D5A"/>
          </a:solidFill>
          <a:ln w="6350">
            <a:solidFill>
              <a:srgbClr val="1E3A5F"/>
            </a:solidFill>
            <a:prstDash val="solid"/>
          </a:ln>
        </p:spPr>
      </p:sp>
      <p:sp>
        <p:nvSpPr>
          <p:cNvPr id="14" name="Shape 12"/>
          <p:cNvSpPr/>
          <p:nvPr/>
        </p:nvSpPr>
        <p:spPr>
          <a:xfrm>
            <a:off x="1783080" y="2212848"/>
            <a:ext cx="91440" cy="73152"/>
          </a:xfrm>
          <a:prstGeom prst="rect">
            <a:avLst/>
          </a:prstGeom>
          <a:solidFill>
            <a:srgbClr val="F59E0B"/>
          </a:solidFill>
          <a:ln w="12700">
            <a:solidFill>
              <a:srgbClr val="F59E0B"/>
            </a:solidFill>
            <a:prstDash val="solid"/>
          </a:ln>
        </p:spPr>
      </p:sp>
      <p:sp>
        <p:nvSpPr>
          <p:cNvPr id="15" name="Shape 13"/>
          <p:cNvSpPr/>
          <p:nvPr/>
        </p:nvSpPr>
        <p:spPr>
          <a:xfrm>
            <a:off x="1874520" y="2103120"/>
            <a:ext cx="365760" cy="292608"/>
          </a:xfrm>
          <a:prstGeom prst="rect">
            <a:avLst/>
          </a:prstGeom>
          <a:solidFill>
            <a:srgbClr val="162D5A"/>
          </a:solidFill>
          <a:ln w="6350">
            <a:solidFill>
              <a:srgbClr val="1E3A5F"/>
            </a:solidFill>
            <a:prstDash val="solid"/>
          </a:ln>
        </p:spPr>
      </p:sp>
      <p:sp>
        <p:nvSpPr>
          <p:cNvPr id="16" name="Shape 14"/>
          <p:cNvSpPr/>
          <p:nvPr/>
        </p:nvSpPr>
        <p:spPr>
          <a:xfrm>
            <a:off x="2240280" y="2212848"/>
            <a:ext cx="91440" cy="73152"/>
          </a:xfrm>
          <a:prstGeom prst="rect">
            <a:avLst/>
          </a:prstGeom>
          <a:solidFill>
            <a:srgbClr val="F59E0B"/>
          </a:solidFill>
          <a:ln w="12700">
            <a:solidFill>
              <a:srgbClr val="F59E0B"/>
            </a:solidFill>
            <a:prstDash val="solid"/>
          </a:ln>
        </p:spPr>
      </p:sp>
      <p:sp>
        <p:nvSpPr>
          <p:cNvPr id="17" name="Shape 15"/>
          <p:cNvSpPr/>
          <p:nvPr/>
        </p:nvSpPr>
        <p:spPr>
          <a:xfrm>
            <a:off x="2331720" y="2103120"/>
            <a:ext cx="365760" cy="292608"/>
          </a:xfrm>
          <a:prstGeom prst="rect">
            <a:avLst/>
          </a:prstGeom>
          <a:solidFill>
            <a:srgbClr val="162D5A"/>
          </a:solidFill>
          <a:ln w="6350">
            <a:solidFill>
              <a:srgbClr val="1E3A5F"/>
            </a:solidFill>
            <a:prstDash val="solid"/>
          </a:ln>
        </p:spPr>
      </p:sp>
      <p:sp>
        <p:nvSpPr>
          <p:cNvPr id="18" name="Shape 16"/>
          <p:cNvSpPr/>
          <p:nvPr/>
        </p:nvSpPr>
        <p:spPr>
          <a:xfrm>
            <a:off x="2697480" y="2212848"/>
            <a:ext cx="91440" cy="73152"/>
          </a:xfrm>
          <a:prstGeom prst="rect">
            <a:avLst/>
          </a:prstGeom>
          <a:solidFill>
            <a:srgbClr val="F59E0B"/>
          </a:solidFill>
          <a:ln w="12700">
            <a:solidFill>
              <a:srgbClr val="F59E0B"/>
            </a:solidFill>
            <a:prstDash val="solid"/>
          </a:ln>
        </p:spPr>
      </p:sp>
      <p:sp>
        <p:nvSpPr>
          <p:cNvPr id="19" name="Shape 17"/>
          <p:cNvSpPr/>
          <p:nvPr/>
        </p:nvSpPr>
        <p:spPr>
          <a:xfrm>
            <a:off x="2788920" y="2103120"/>
            <a:ext cx="365760" cy="292608"/>
          </a:xfrm>
          <a:prstGeom prst="rect">
            <a:avLst/>
          </a:prstGeom>
          <a:solidFill>
            <a:srgbClr val="162D5A"/>
          </a:solidFill>
          <a:ln w="6350">
            <a:solidFill>
              <a:srgbClr val="1E3A5F"/>
            </a:solidFill>
            <a:prstDash val="solid"/>
          </a:ln>
        </p:spPr>
      </p:sp>
      <p:sp>
        <p:nvSpPr>
          <p:cNvPr id="20" name="Shape 18"/>
          <p:cNvSpPr/>
          <p:nvPr/>
        </p:nvSpPr>
        <p:spPr>
          <a:xfrm>
            <a:off x="3154680" y="2212848"/>
            <a:ext cx="91440" cy="73152"/>
          </a:xfrm>
          <a:prstGeom prst="rect">
            <a:avLst/>
          </a:prstGeom>
          <a:solidFill>
            <a:srgbClr val="F59E0B"/>
          </a:solidFill>
          <a:ln w="12700">
            <a:solidFill>
              <a:srgbClr val="F59E0B"/>
            </a:solidFill>
            <a:prstDash val="solid"/>
          </a:ln>
        </p:spPr>
      </p:sp>
      <p:sp>
        <p:nvSpPr>
          <p:cNvPr id="21" name="Shape 19"/>
          <p:cNvSpPr/>
          <p:nvPr/>
        </p:nvSpPr>
        <p:spPr>
          <a:xfrm>
            <a:off x="3246120" y="2103120"/>
            <a:ext cx="365760" cy="292608"/>
          </a:xfrm>
          <a:prstGeom prst="rect">
            <a:avLst/>
          </a:prstGeom>
          <a:solidFill>
            <a:srgbClr val="162D5A"/>
          </a:solidFill>
          <a:ln w="6350">
            <a:solidFill>
              <a:srgbClr val="1E3A5F"/>
            </a:solidFill>
            <a:prstDash val="solid"/>
          </a:ln>
        </p:spPr>
      </p:sp>
      <p:sp>
        <p:nvSpPr>
          <p:cNvPr id="22" name="Shape 20"/>
          <p:cNvSpPr/>
          <p:nvPr/>
        </p:nvSpPr>
        <p:spPr>
          <a:xfrm>
            <a:off x="3611880" y="2212848"/>
            <a:ext cx="91440" cy="73152"/>
          </a:xfrm>
          <a:prstGeom prst="rect">
            <a:avLst/>
          </a:prstGeom>
          <a:solidFill>
            <a:srgbClr val="F59E0B"/>
          </a:solidFill>
          <a:ln w="12700">
            <a:solidFill>
              <a:srgbClr val="F59E0B"/>
            </a:solidFill>
            <a:prstDash val="solid"/>
          </a:ln>
        </p:spPr>
      </p:sp>
      <p:sp>
        <p:nvSpPr>
          <p:cNvPr id="23" name="Shape 21"/>
          <p:cNvSpPr/>
          <p:nvPr/>
        </p:nvSpPr>
        <p:spPr>
          <a:xfrm>
            <a:off x="3703320" y="2103120"/>
            <a:ext cx="365760" cy="292608"/>
          </a:xfrm>
          <a:prstGeom prst="rect">
            <a:avLst/>
          </a:prstGeom>
          <a:solidFill>
            <a:srgbClr val="F43F5E"/>
          </a:solidFill>
          <a:ln w="6350">
            <a:solidFill>
              <a:srgbClr val="1E3A5F"/>
            </a:solidFill>
            <a:prstDash val="solid"/>
          </a:ln>
        </p:spPr>
      </p:sp>
      <p:sp>
        <p:nvSpPr>
          <p:cNvPr id="24" name="Text 22"/>
          <p:cNvSpPr/>
          <p:nvPr/>
        </p:nvSpPr>
        <p:spPr>
          <a:xfrm>
            <a:off x="502920" y="2468880"/>
            <a:ext cx="374904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t1→t2→t3→...→t60  (sinyal zayiflar)</a:t>
            </a:r>
            <a:endParaRPr lang="en-US" sz="1000" dirty="0"/>
          </a:p>
        </p:txBody>
      </p:sp>
      <p:sp>
        <p:nvSpPr>
          <p:cNvPr id="25" name="Text 23"/>
          <p:cNvSpPr/>
          <p:nvPr/>
        </p:nvSpPr>
        <p:spPr>
          <a:xfrm>
            <a:off x="548640" y="2816352"/>
            <a:ext cx="3657600" cy="1371600"/>
          </a:xfrm>
          <a:prstGeom prst="rect">
            <a:avLst/>
          </a:prstGeom>
          <a:noFill/>
          <a:ln/>
        </p:spPr>
        <p:txBody>
          <a:bodyPr wrap="square" rtlCol="0" anchor="t"/>
          <a:lstStyle/>
          <a:p>
            <a:pPr indent="0" marL="0">
              <a:buNone/>
            </a:pPr>
            <a:r>
              <a:rPr lang="en-US" sz="1150" dirty="0">
                <a:solidFill>
                  <a:srgbClr val="E2E8F0"/>
                </a:solidFill>
                <a:latin typeface="Calibri" pitchFamily="34" charset="0"/>
                <a:ea typeface="Calibri" pitchFamily="34" charset="-122"/>
                <a:cs typeface="Calibri" pitchFamily="34" charset="-120"/>
              </a:rPr>
              <a:t>Yatak asinmasi sinyali 1. adimda baslar, RPM dususu 55. adimda olur. LSTM 55. adima geldiginde, erken sinyal 54 gizli durum guncellemesinden gecmistir ve bozulur.</a:t>
            </a:r>
            <a:endParaRPr lang="en-US" sz="1150" dirty="0"/>
          </a:p>
        </p:txBody>
      </p:sp>
      <p:sp>
        <p:nvSpPr>
          <p:cNvPr id="26" name="Shape 24"/>
          <p:cNvSpPr/>
          <p:nvPr/>
        </p:nvSpPr>
        <p:spPr>
          <a:xfrm>
            <a:off x="4663440" y="1298448"/>
            <a:ext cx="4114800" cy="301752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7" name="Shape 25"/>
          <p:cNvSpPr/>
          <p:nvPr/>
        </p:nvSpPr>
        <p:spPr>
          <a:xfrm>
            <a:off x="4663440" y="1298448"/>
            <a:ext cx="4114800" cy="64008"/>
          </a:xfrm>
          <a:prstGeom prst="rect">
            <a:avLst/>
          </a:prstGeom>
          <a:solidFill>
            <a:srgbClr val="0EA5E9"/>
          </a:solidFill>
          <a:ln w="12700">
            <a:solidFill>
              <a:srgbClr val="0EA5E9"/>
            </a:solidFill>
            <a:prstDash val="solid"/>
          </a:ln>
        </p:spPr>
      </p:sp>
      <p:sp>
        <p:nvSpPr>
          <p:cNvPr id="28" name="Text 26"/>
          <p:cNvSpPr/>
          <p:nvPr/>
        </p:nvSpPr>
        <p:spPr>
          <a:xfrm>
            <a:off x="4828032" y="1426464"/>
            <a:ext cx="3657600" cy="292608"/>
          </a:xfrm>
          <a:prstGeom prst="rect">
            <a:avLst/>
          </a:prstGeom>
          <a:noFill/>
          <a:ln/>
        </p:spPr>
        <p:txBody>
          <a:bodyPr wrap="square" rtlCol="0" anchor="ctr"/>
          <a:lstStyle/>
          <a:p>
            <a:pPr indent="0" marL="0">
              <a:buNone/>
            </a:pPr>
            <a:r>
              <a:rPr lang="en-US" sz="1500" b="1" dirty="0">
                <a:solidFill>
                  <a:srgbClr val="0EA5E9"/>
                </a:solidFill>
                <a:latin typeface="Calibri" pitchFamily="34" charset="0"/>
                <a:ea typeface="Calibri" pitchFamily="34" charset="-122"/>
                <a:cs typeface="Calibri" pitchFamily="34" charset="-120"/>
              </a:rPr>
              <a:t>PatchTST</a:t>
            </a:r>
            <a:endParaRPr lang="en-US" sz="1500" dirty="0"/>
          </a:p>
        </p:txBody>
      </p:sp>
      <p:sp>
        <p:nvSpPr>
          <p:cNvPr id="29" name="Text 27"/>
          <p:cNvSpPr/>
          <p:nvPr/>
        </p:nvSpPr>
        <p:spPr>
          <a:xfrm>
            <a:off x="4828032" y="1764792"/>
            <a:ext cx="3657600" cy="2286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Yamalar uzerinde paralel oz-dikkat</a:t>
            </a:r>
            <a:endParaRPr lang="en-US" sz="1100" dirty="0"/>
          </a:p>
        </p:txBody>
      </p:sp>
      <p:sp>
        <p:nvSpPr>
          <p:cNvPr id="30" name="Shape 28"/>
          <p:cNvSpPr/>
          <p:nvPr/>
        </p:nvSpPr>
        <p:spPr>
          <a:xfrm>
            <a:off x="4828032" y="2103120"/>
            <a:ext cx="594360" cy="292608"/>
          </a:xfrm>
          <a:prstGeom prst="rect">
            <a:avLst/>
          </a:prstGeom>
          <a:solidFill>
            <a:srgbClr val="0EA5E9"/>
          </a:solidFill>
          <a:ln w="12700">
            <a:solidFill>
              <a:srgbClr val="0EA5E9"/>
            </a:solidFill>
            <a:prstDash val="solid"/>
          </a:ln>
        </p:spPr>
      </p:sp>
      <p:sp>
        <p:nvSpPr>
          <p:cNvPr id="31" name="Text 29"/>
          <p:cNvSpPr/>
          <p:nvPr/>
        </p:nvSpPr>
        <p:spPr>
          <a:xfrm>
            <a:off x="4828032" y="2121408"/>
            <a:ext cx="59436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P1</a:t>
            </a:r>
            <a:endParaRPr lang="en-US" sz="1000" dirty="0"/>
          </a:p>
        </p:txBody>
      </p:sp>
      <p:sp>
        <p:nvSpPr>
          <p:cNvPr id="32" name="Shape 30"/>
          <p:cNvSpPr/>
          <p:nvPr/>
        </p:nvSpPr>
        <p:spPr>
          <a:xfrm>
            <a:off x="5559552" y="2103120"/>
            <a:ext cx="594360" cy="292608"/>
          </a:xfrm>
          <a:prstGeom prst="rect">
            <a:avLst/>
          </a:prstGeom>
          <a:solidFill>
            <a:srgbClr val="162D5A"/>
          </a:solidFill>
          <a:ln w="6350">
            <a:solidFill>
              <a:srgbClr val="1E3A5F"/>
            </a:solidFill>
            <a:prstDash val="solid"/>
          </a:ln>
        </p:spPr>
      </p:sp>
      <p:sp>
        <p:nvSpPr>
          <p:cNvPr id="33" name="Text 31"/>
          <p:cNvSpPr/>
          <p:nvPr/>
        </p:nvSpPr>
        <p:spPr>
          <a:xfrm>
            <a:off x="5559552" y="2121408"/>
            <a:ext cx="594360" cy="256032"/>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P2</a:t>
            </a:r>
            <a:endParaRPr lang="en-US" sz="1000" dirty="0"/>
          </a:p>
        </p:txBody>
      </p:sp>
      <p:sp>
        <p:nvSpPr>
          <p:cNvPr id="34" name="Shape 32"/>
          <p:cNvSpPr/>
          <p:nvPr/>
        </p:nvSpPr>
        <p:spPr>
          <a:xfrm>
            <a:off x="6291072" y="2103120"/>
            <a:ext cx="594360" cy="292608"/>
          </a:xfrm>
          <a:prstGeom prst="rect">
            <a:avLst/>
          </a:prstGeom>
          <a:solidFill>
            <a:srgbClr val="162D5A"/>
          </a:solidFill>
          <a:ln w="6350">
            <a:solidFill>
              <a:srgbClr val="1E3A5F"/>
            </a:solidFill>
            <a:prstDash val="solid"/>
          </a:ln>
        </p:spPr>
      </p:sp>
      <p:sp>
        <p:nvSpPr>
          <p:cNvPr id="35" name="Text 33"/>
          <p:cNvSpPr/>
          <p:nvPr/>
        </p:nvSpPr>
        <p:spPr>
          <a:xfrm>
            <a:off x="6291072" y="2121408"/>
            <a:ext cx="594360" cy="256032"/>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P3</a:t>
            </a:r>
            <a:endParaRPr lang="en-US" sz="1000" dirty="0"/>
          </a:p>
        </p:txBody>
      </p:sp>
      <p:sp>
        <p:nvSpPr>
          <p:cNvPr id="36" name="Shape 34"/>
          <p:cNvSpPr/>
          <p:nvPr/>
        </p:nvSpPr>
        <p:spPr>
          <a:xfrm>
            <a:off x="7022592" y="2103120"/>
            <a:ext cx="594360" cy="292608"/>
          </a:xfrm>
          <a:prstGeom prst="rect">
            <a:avLst/>
          </a:prstGeom>
          <a:solidFill>
            <a:srgbClr val="162D5A"/>
          </a:solidFill>
          <a:ln w="6350">
            <a:solidFill>
              <a:srgbClr val="1E3A5F"/>
            </a:solidFill>
            <a:prstDash val="solid"/>
          </a:ln>
        </p:spPr>
      </p:sp>
      <p:sp>
        <p:nvSpPr>
          <p:cNvPr id="37" name="Text 35"/>
          <p:cNvSpPr/>
          <p:nvPr/>
        </p:nvSpPr>
        <p:spPr>
          <a:xfrm>
            <a:off x="7022592" y="2121408"/>
            <a:ext cx="594360" cy="256032"/>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P4</a:t>
            </a:r>
            <a:endParaRPr lang="en-US" sz="1000" dirty="0"/>
          </a:p>
        </p:txBody>
      </p:sp>
      <p:sp>
        <p:nvSpPr>
          <p:cNvPr id="38" name="Shape 36"/>
          <p:cNvSpPr/>
          <p:nvPr/>
        </p:nvSpPr>
        <p:spPr>
          <a:xfrm>
            <a:off x="7754112" y="2103120"/>
            <a:ext cx="594360" cy="292608"/>
          </a:xfrm>
          <a:prstGeom prst="rect">
            <a:avLst/>
          </a:prstGeom>
          <a:solidFill>
            <a:srgbClr val="0EA5E9"/>
          </a:solidFill>
          <a:ln w="12700">
            <a:solidFill>
              <a:srgbClr val="0EA5E9"/>
            </a:solidFill>
            <a:prstDash val="solid"/>
          </a:ln>
        </p:spPr>
      </p:sp>
      <p:sp>
        <p:nvSpPr>
          <p:cNvPr id="39" name="Text 37"/>
          <p:cNvSpPr/>
          <p:nvPr/>
        </p:nvSpPr>
        <p:spPr>
          <a:xfrm>
            <a:off x="7754112" y="2121408"/>
            <a:ext cx="59436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P5</a:t>
            </a:r>
            <a:endParaRPr lang="en-US" sz="1000" dirty="0"/>
          </a:p>
        </p:txBody>
      </p:sp>
      <p:sp>
        <p:nvSpPr>
          <p:cNvPr id="40" name="Shape 38"/>
          <p:cNvSpPr/>
          <p:nvPr/>
        </p:nvSpPr>
        <p:spPr>
          <a:xfrm>
            <a:off x="5120640" y="2395728"/>
            <a:ext cx="2926080" cy="0"/>
          </a:xfrm>
          <a:prstGeom prst="line">
            <a:avLst/>
          </a:prstGeom>
          <a:noFill/>
          <a:ln w="19050">
            <a:solidFill>
              <a:srgbClr val="0EA5E9"/>
            </a:solidFill>
            <a:prstDash val="dash"/>
          </a:ln>
        </p:spPr>
      </p:sp>
      <p:sp>
        <p:nvSpPr>
          <p:cNvPr id="41" name="Text 39"/>
          <p:cNvSpPr/>
          <p:nvPr/>
        </p:nvSpPr>
        <p:spPr>
          <a:xfrm>
            <a:off x="4828032" y="2487168"/>
            <a:ext cx="3749040" cy="228600"/>
          </a:xfrm>
          <a:prstGeom prst="rect">
            <a:avLst/>
          </a:prstGeom>
          <a:noFill/>
          <a:ln/>
        </p:spPr>
        <p:txBody>
          <a:bodyPr wrap="square" rtlCol="0" anchor="ctr"/>
          <a:lstStyle/>
          <a:p>
            <a:pPr indent="0" marL="0">
              <a:buNone/>
            </a:pPr>
            <a:r>
              <a:rPr lang="en-US" sz="1000" dirty="0">
                <a:solidFill>
                  <a:srgbClr val="0EA5E9"/>
                </a:solidFill>
                <a:latin typeface="Calibri" pitchFamily="34" charset="0"/>
                <a:ea typeface="Calibri" pitchFamily="34" charset="-122"/>
                <a:cs typeface="Calibri" pitchFamily="34" charset="-120"/>
              </a:rPr>
              <a:t>Direkt dikkat: P1 ↔ P5 tek adimda</a:t>
            </a:r>
            <a:endParaRPr lang="en-US" sz="1000" dirty="0"/>
          </a:p>
        </p:txBody>
      </p:sp>
      <p:sp>
        <p:nvSpPr>
          <p:cNvPr id="42" name="Text 40"/>
          <p:cNvSpPr/>
          <p:nvPr/>
        </p:nvSpPr>
        <p:spPr>
          <a:xfrm>
            <a:off x="4828032" y="2816352"/>
            <a:ext cx="3749040" cy="1371600"/>
          </a:xfrm>
          <a:prstGeom prst="rect">
            <a:avLst/>
          </a:prstGeom>
          <a:noFill/>
          <a:ln/>
        </p:spPr>
        <p:txBody>
          <a:bodyPr wrap="square" rtlCol="0" anchor="t"/>
          <a:lstStyle/>
          <a:p>
            <a:pPr indent="0" marL="0">
              <a:buNone/>
            </a:pPr>
            <a:r>
              <a:rPr lang="en-US" sz="1150" dirty="0">
                <a:solidFill>
                  <a:srgbClr val="E2E8F0"/>
                </a:solidFill>
                <a:latin typeface="Calibri" pitchFamily="34" charset="0"/>
                <a:ea typeface="Calibri" pitchFamily="34" charset="-122"/>
                <a:cs typeface="Calibri" pitchFamily="34" charset="-120"/>
              </a:rPr>
              <a:t>5 yamanin tamami birbirine ayni anda dikkat eder. Erken titresim anomalisi (P1) RPM dususune (P5) dogrudan baglanir — adimlar arasinda sinyal bozunmasi yoktur.</a:t>
            </a:r>
            <a:endParaRPr lang="en-US" sz="1150" dirty="0"/>
          </a:p>
        </p:txBody>
      </p:sp>
      <p:sp>
        <p:nvSpPr>
          <p:cNvPr id="43" name="Shape 41"/>
          <p:cNvSpPr/>
          <p:nvPr/>
        </p:nvSpPr>
        <p:spPr>
          <a:xfrm>
            <a:off x="365760" y="4434840"/>
            <a:ext cx="8412480" cy="54864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44" name="Shape 42"/>
          <p:cNvSpPr/>
          <p:nvPr/>
        </p:nvSpPr>
        <p:spPr>
          <a:xfrm>
            <a:off x="365760" y="4434840"/>
            <a:ext cx="54864" cy="548640"/>
          </a:xfrm>
          <a:prstGeom prst="rect">
            <a:avLst/>
          </a:prstGeom>
          <a:solidFill>
            <a:srgbClr val="0EA5E9"/>
          </a:solidFill>
          <a:ln w="12700">
            <a:solidFill>
              <a:srgbClr val="0EA5E9"/>
            </a:solidFill>
            <a:prstDash val="solid"/>
          </a:ln>
        </p:spPr>
      </p:sp>
      <p:sp>
        <p:nvSpPr>
          <p:cNvPr id="45" name="Text 43"/>
          <p:cNvSpPr/>
          <p:nvPr/>
        </p:nvSpPr>
        <p:spPr>
          <a:xfrm>
            <a:off x="548640" y="4526280"/>
            <a:ext cx="8046720" cy="365760"/>
          </a:xfrm>
          <a:prstGeom prst="rect">
            <a:avLst/>
          </a:prstGeom>
          <a:noFill/>
          <a:ln/>
        </p:spPr>
        <p:txBody>
          <a:bodyPr wrap="square" rtlCol="0" anchor="ctr"/>
          <a:lstStyle/>
          <a:p>
            <a:pPr indent="0" marL="0">
              <a:buNone/>
            </a:pPr>
            <a:r>
              <a:rPr lang="en-US" sz="1300" b="1" dirty="0">
                <a:solidFill>
                  <a:srgbClr val="0EA5E9"/>
                </a:solidFill>
                <a:latin typeface="Calibri" pitchFamily="34" charset="0"/>
                <a:ea typeface="Calibri" pitchFamily="34" charset="-122"/>
                <a:cs typeface="Calibri" pitchFamily="34" charset="-120"/>
              </a:rPr>
              <a:t>Ana cikari: Transformer tum diziyi bir anda gorur. LSTM onu adim adim biriktirir.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EGITIM</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Egitim Stratejisi ve Zorluklar</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98448"/>
            <a:ext cx="4069080" cy="16002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298448"/>
            <a:ext cx="4069080" cy="54864"/>
          </a:xfrm>
          <a:prstGeom prst="rect">
            <a:avLst/>
          </a:prstGeom>
          <a:solidFill>
            <a:srgbClr val="F43F5E"/>
          </a:solidFill>
          <a:ln w="12700">
            <a:solidFill>
              <a:srgbClr val="F43F5E"/>
            </a:solidFill>
            <a:prstDash val="solid"/>
          </a:ln>
        </p:spPr>
      </p:sp>
      <p:pic>
        <p:nvPicPr>
          <p:cNvPr id="7" name="Image 0" descr="preencoded.png">    </p:cNvPr>
          <p:cNvPicPr>
            <a:picLocks noChangeAspect="1"/>
          </p:cNvPicPr>
          <p:nvPr/>
        </p:nvPicPr>
        <p:blipFill>
          <a:blip r:embed="rId1"/>
          <a:stretch>
            <a:fillRect/>
          </a:stretch>
        </p:blipFill>
        <p:spPr>
          <a:xfrm>
            <a:off x="502920" y="1444752"/>
            <a:ext cx="320040" cy="320040"/>
          </a:xfrm>
          <a:prstGeom prst="rect">
            <a:avLst/>
          </a:prstGeom>
        </p:spPr>
      </p:pic>
      <p:sp>
        <p:nvSpPr>
          <p:cNvPr id="8" name="Text 5"/>
          <p:cNvSpPr/>
          <p:nvPr/>
        </p:nvSpPr>
        <p:spPr>
          <a:xfrm>
            <a:off x="896112" y="1444752"/>
            <a:ext cx="3401568"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Sinif Dengesizligi</a:t>
            </a:r>
            <a:endParaRPr lang="en-US" sz="1300" dirty="0"/>
          </a:p>
        </p:txBody>
      </p:sp>
      <p:sp>
        <p:nvSpPr>
          <p:cNvPr id="9" name="Text 6"/>
          <p:cNvSpPr/>
          <p:nvPr/>
        </p:nvSpPr>
        <p:spPr>
          <a:xfrm>
            <a:off x="502920" y="1865376"/>
            <a:ext cx="3794760" cy="91440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Pencerelerin yalnizca ~%2'si ariza oncesi. Cozum: WeightedRandomSampler + pozitif sinif agirlikli CrossEntropyLoss.</a:t>
            </a:r>
            <a:endParaRPr lang="en-US" sz="1100" dirty="0"/>
          </a:p>
        </p:txBody>
      </p:sp>
      <p:sp>
        <p:nvSpPr>
          <p:cNvPr id="10" name="Shape 7"/>
          <p:cNvSpPr/>
          <p:nvPr/>
        </p:nvSpPr>
        <p:spPr>
          <a:xfrm>
            <a:off x="4617720" y="1298448"/>
            <a:ext cx="4069080" cy="16002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1" name="Shape 8"/>
          <p:cNvSpPr/>
          <p:nvPr/>
        </p:nvSpPr>
        <p:spPr>
          <a:xfrm>
            <a:off x="4617720" y="1298448"/>
            <a:ext cx="4069080" cy="54864"/>
          </a:xfrm>
          <a:prstGeom prst="rect">
            <a:avLst/>
          </a:prstGeom>
          <a:solidFill>
            <a:srgbClr val="F59E0B"/>
          </a:solidFill>
          <a:ln w="12700">
            <a:solidFill>
              <a:srgbClr val="F59E0B"/>
            </a:solidFill>
            <a:prstDash val="solid"/>
          </a:ln>
        </p:spPr>
      </p:sp>
      <p:pic>
        <p:nvPicPr>
          <p:cNvPr id="12" name="Image 1" descr="preencoded.png">    </p:cNvPr>
          <p:cNvPicPr>
            <a:picLocks noChangeAspect="1"/>
          </p:cNvPicPr>
          <p:nvPr/>
        </p:nvPicPr>
        <p:blipFill>
          <a:blip r:embed="rId2"/>
          <a:stretch>
            <a:fillRect/>
          </a:stretch>
        </p:blipFill>
        <p:spPr>
          <a:xfrm>
            <a:off x="4754880" y="1444752"/>
            <a:ext cx="320040" cy="320040"/>
          </a:xfrm>
          <a:prstGeom prst="rect">
            <a:avLst/>
          </a:prstGeom>
        </p:spPr>
      </p:pic>
      <p:sp>
        <p:nvSpPr>
          <p:cNvPr id="13" name="Text 9"/>
          <p:cNvSpPr/>
          <p:nvPr/>
        </p:nvSpPr>
        <p:spPr>
          <a:xfrm>
            <a:off x="5148072" y="1444752"/>
            <a:ext cx="3401568"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Yanlis Metrik</a:t>
            </a:r>
            <a:endParaRPr lang="en-US" sz="1300" dirty="0"/>
          </a:p>
        </p:txBody>
      </p:sp>
      <p:sp>
        <p:nvSpPr>
          <p:cNvPr id="14" name="Text 10"/>
          <p:cNvSpPr/>
          <p:nvPr/>
        </p:nvSpPr>
        <p:spPr>
          <a:xfrm>
            <a:off x="4754880" y="1865376"/>
            <a:ext cx="3794760" cy="91440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Dogruluk yanilticidir ('normal' diyerek %97 alinir). Erken durdurmada F1 skoru izliyoruz — azinlik sinif performansini yansitir.</a:t>
            </a:r>
            <a:endParaRPr lang="en-US" sz="1100" dirty="0"/>
          </a:p>
        </p:txBody>
      </p:sp>
      <p:sp>
        <p:nvSpPr>
          <p:cNvPr id="15" name="Shape 11"/>
          <p:cNvSpPr/>
          <p:nvPr/>
        </p:nvSpPr>
        <p:spPr>
          <a:xfrm>
            <a:off x="365760" y="3063240"/>
            <a:ext cx="4069080" cy="16002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6" name="Shape 12"/>
          <p:cNvSpPr/>
          <p:nvPr/>
        </p:nvSpPr>
        <p:spPr>
          <a:xfrm>
            <a:off x="365760" y="3063240"/>
            <a:ext cx="4069080" cy="54864"/>
          </a:xfrm>
          <a:prstGeom prst="rect">
            <a:avLst/>
          </a:prstGeom>
          <a:solidFill>
            <a:srgbClr val="0EA5E9"/>
          </a:solidFill>
          <a:ln w="12700">
            <a:solidFill>
              <a:srgbClr val="0EA5E9"/>
            </a:solidFill>
            <a:prstDash val="solid"/>
          </a:ln>
        </p:spPr>
      </p:sp>
      <p:pic>
        <p:nvPicPr>
          <p:cNvPr id="17" name="Image 2" descr="preencoded.png">    </p:cNvPr>
          <p:cNvPicPr>
            <a:picLocks noChangeAspect="1"/>
          </p:cNvPicPr>
          <p:nvPr/>
        </p:nvPicPr>
        <p:blipFill>
          <a:blip r:embed="rId3"/>
          <a:stretch>
            <a:fillRect/>
          </a:stretch>
        </p:blipFill>
        <p:spPr>
          <a:xfrm>
            <a:off x="502920" y="3209544"/>
            <a:ext cx="320040" cy="320040"/>
          </a:xfrm>
          <a:prstGeom prst="rect">
            <a:avLst/>
          </a:prstGeom>
        </p:spPr>
      </p:pic>
      <p:sp>
        <p:nvSpPr>
          <p:cNvPr id="18" name="Text 13"/>
          <p:cNvSpPr/>
          <p:nvPr/>
        </p:nvSpPr>
        <p:spPr>
          <a:xfrm>
            <a:off x="896112" y="3209544"/>
            <a:ext cx="3401568"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Veri Sizintisi</a:t>
            </a:r>
            <a:endParaRPr lang="en-US" sz="1300" dirty="0"/>
          </a:p>
        </p:txBody>
      </p:sp>
      <p:sp>
        <p:nvSpPr>
          <p:cNvPr id="19" name="Text 14"/>
          <p:cNvSpPr/>
          <p:nvPr/>
        </p:nvSpPr>
        <p:spPr>
          <a:xfrm>
            <a:off x="502920" y="3630168"/>
            <a:ext cx="3794760" cy="91440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Z-skoru istatistikleri yalnizca egitim setinden hesaplanir. Dogrulama ve test setleri egitim istatistikleriyle normalize edilir.</a:t>
            </a:r>
            <a:endParaRPr lang="en-US" sz="1100" dirty="0"/>
          </a:p>
        </p:txBody>
      </p:sp>
      <p:sp>
        <p:nvSpPr>
          <p:cNvPr id="20" name="Shape 15"/>
          <p:cNvSpPr/>
          <p:nvPr/>
        </p:nvSpPr>
        <p:spPr>
          <a:xfrm>
            <a:off x="4617720" y="3063240"/>
            <a:ext cx="4069080" cy="16002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1" name="Shape 16"/>
          <p:cNvSpPr/>
          <p:nvPr/>
        </p:nvSpPr>
        <p:spPr>
          <a:xfrm>
            <a:off x="4617720" y="3063240"/>
            <a:ext cx="4069080" cy="54864"/>
          </a:xfrm>
          <a:prstGeom prst="rect">
            <a:avLst/>
          </a:prstGeom>
          <a:solidFill>
            <a:srgbClr val="10B981"/>
          </a:solidFill>
          <a:ln w="12700">
            <a:solidFill>
              <a:srgbClr val="10B981"/>
            </a:solidFill>
            <a:prstDash val="solid"/>
          </a:ln>
        </p:spPr>
      </p:sp>
      <p:pic>
        <p:nvPicPr>
          <p:cNvPr id="22" name="Image 3" descr="preencoded.png">    </p:cNvPr>
          <p:cNvPicPr>
            <a:picLocks noChangeAspect="1"/>
          </p:cNvPicPr>
          <p:nvPr/>
        </p:nvPicPr>
        <p:blipFill>
          <a:blip r:embed="rId4"/>
          <a:stretch>
            <a:fillRect/>
          </a:stretch>
        </p:blipFill>
        <p:spPr>
          <a:xfrm>
            <a:off x="4754880" y="3209544"/>
            <a:ext cx="320040" cy="320040"/>
          </a:xfrm>
          <a:prstGeom prst="rect">
            <a:avLst/>
          </a:prstGeom>
        </p:spPr>
      </p:pic>
      <p:sp>
        <p:nvSpPr>
          <p:cNvPr id="23" name="Text 17"/>
          <p:cNvSpPr/>
          <p:nvPr/>
        </p:nvSpPr>
        <p:spPr>
          <a:xfrm>
            <a:off x="5148072" y="3209544"/>
            <a:ext cx="3401568"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Asiri Uyum Riski</a:t>
            </a:r>
            <a:endParaRPr lang="en-US" sz="1300" dirty="0"/>
          </a:p>
        </p:txBody>
      </p:sp>
      <p:sp>
        <p:nvSpPr>
          <p:cNvPr id="24" name="Text 18"/>
          <p:cNvSpPr/>
          <p:nvPr/>
        </p:nvSpPr>
        <p:spPr>
          <a:xfrm>
            <a:off x="4754880" y="3630168"/>
            <a:ext cx="3794760" cy="91440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Dropout 0.1, agirlik bozunumu 1e-4, kosinusu LR tavlama, maks. norm 1.0 gradyan kirpma.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TARTISMA</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Sinirlamalar ve Gelecek Calisma</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98448"/>
            <a:ext cx="8412480" cy="8229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298448"/>
            <a:ext cx="54864" cy="822960"/>
          </a:xfrm>
          <a:prstGeom prst="rect">
            <a:avLst/>
          </a:prstGeom>
          <a:solidFill>
            <a:srgbClr val="0EA5E9"/>
          </a:solidFill>
          <a:ln w="12700">
            <a:solidFill>
              <a:srgbClr val="0EA5E9"/>
            </a:solidFill>
            <a:prstDash val="solid"/>
          </a:ln>
        </p:spPr>
      </p:sp>
      <p:pic>
        <p:nvPicPr>
          <p:cNvPr id="7" name="Image 0" descr="preencoded.png">    </p:cNvPr>
          <p:cNvPicPr>
            <a:picLocks noChangeAspect="1"/>
          </p:cNvPicPr>
          <p:nvPr/>
        </p:nvPicPr>
        <p:blipFill>
          <a:blip r:embed="rId1"/>
          <a:stretch>
            <a:fillRect/>
          </a:stretch>
        </p:blipFill>
        <p:spPr>
          <a:xfrm>
            <a:off x="512064" y="1527048"/>
            <a:ext cx="292608" cy="292608"/>
          </a:xfrm>
          <a:prstGeom prst="rect">
            <a:avLst/>
          </a:prstGeom>
        </p:spPr>
      </p:pic>
      <p:sp>
        <p:nvSpPr>
          <p:cNvPr id="8" name="Text 5"/>
          <p:cNvSpPr/>
          <p:nvPr/>
        </p:nvSpPr>
        <p:spPr>
          <a:xfrm>
            <a:off x="896112" y="1389888"/>
            <a:ext cx="2286000" cy="274320"/>
          </a:xfrm>
          <a:prstGeom prst="rect">
            <a:avLst/>
          </a:prstGeom>
          <a:noFill/>
          <a:ln/>
        </p:spPr>
        <p:txBody>
          <a:bodyPr wrap="square"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Kanal Bagimsizligi</a:t>
            </a:r>
            <a:endParaRPr lang="en-US" sz="1200" dirty="0"/>
          </a:p>
        </p:txBody>
      </p:sp>
      <p:sp>
        <p:nvSpPr>
          <p:cNvPr id="9" name="Text 6"/>
          <p:cNvSpPr/>
          <p:nvPr/>
        </p:nvSpPr>
        <p:spPr>
          <a:xfrm>
            <a:off x="896112" y="1719072"/>
            <a:ext cx="1188720" cy="219456"/>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Mevcut sinir: </a:t>
            </a:r>
            <a:endParaRPr lang="en-US" sz="1000" dirty="0"/>
          </a:p>
        </p:txBody>
      </p:sp>
      <p:sp>
        <p:nvSpPr>
          <p:cNvPr id="10" name="Text 7"/>
          <p:cNvSpPr/>
          <p:nvPr/>
        </p:nvSpPr>
        <p:spPr>
          <a:xfrm>
            <a:off x="2084832" y="1719072"/>
            <a:ext cx="3017520" cy="32918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Her sensor bagimsiz islenir — kanallar arasi korelasyonlar (RPM ↔ titresim) dogrudan yakalanmaz.</a:t>
            </a:r>
            <a:endParaRPr lang="en-US" sz="1000" dirty="0"/>
          </a:p>
        </p:txBody>
      </p:sp>
      <p:sp>
        <p:nvSpPr>
          <p:cNvPr id="11" name="Text 8"/>
          <p:cNvSpPr/>
          <p:nvPr/>
        </p:nvSpPr>
        <p:spPr>
          <a:xfrm>
            <a:off x="5212080" y="1719072"/>
            <a:ext cx="731520" cy="219456"/>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Gelecek: </a:t>
            </a:r>
            <a:endParaRPr lang="en-US" sz="1000" dirty="0"/>
          </a:p>
        </p:txBody>
      </p:sp>
      <p:sp>
        <p:nvSpPr>
          <p:cNvPr id="12" name="Text 9"/>
          <p:cNvSpPr/>
          <p:nvPr/>
        </p:nvSpPr>
        <p:spPr>
          <a:xfrm>
            <a:off x="5925312" y="1719072"/>
            <a:ext cx="2743200" cy="329184"/>
          </a:xfrm>
          <a:prstGeom prst="rect">
            <a:avLst/>
          </a:prstGeom>
          <a:noFill/>
          <a:ln/>
        </p:spPr>
        <p:txBody>
          <a:bodyPr wrap="square" rtlCol="0" anchor="ctr"/>
          <a:lstStyle/>
          <a:p>
            <a:pPr indent="0" marL="0">
              <a:buNone/>
            </a:pPr>
            <a:r>
              <a:rPr lang="en-US" sz="1000" dirty="0">
                <a:solidFill>
                  <a:srgbClr val="E2E8F0"/>
                </a:solidFill>
                <a:latin typeface="Calibri" pitchFamily="34" charset="0"/>
                <a:ea typeface="Calibri" pitchFamily="34" charset="-122"/>
                <a:cs typeface="Calibri" pitchFamily="34" charset="-120"/>
              </a:rPr>
              <a:t>iTransformer: zaman adimları yerine kanallar uzerinde ters cevrilen dikkat.</a:t>
            </a:r>
            <a:endParaRPr lang="en-US" sz="1000" dirty="0"/>
          </a:p>
        </p:txBody>
      </p:sp>
      <p:sp>
        <p:nvSpPr>
          <p:cNvPr id="13" name="Shape 10"/>
          <p:cNvSpPr/>
          <p:nvPr/>
        </p:nvSpPr>
        <p:spPr>
          <a:xfrm>
            <a:off x="365760" y="2231136"/>
            <a:ext cx="8412480" cy="8229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4" name="Shape 11"/>
          <p:cNvSpPr/>
          <p:nvPr/>
        </p:nvSpPr>
        <p:spPr>
          <a:xfrm>
            <a:off x="365760" y="2231136"/>
            <a:ext cx="54864" cy="822960"/>
          </a:xfrm>
          <a:prstGeom prst="rect">
            <a:avLst/>
          </a:prstGeom>
          <a:solidFill>
            <a:srgbClr val="F59E0B"/>
          </a:solidFill>
          <a:ln w="12700">
            <a:solidFill>
              <a:srgbClr val="F59E0B"/>
            </a:solidFill>
            <a:prstDash val="solid"/>
          </a:ln>
        </p:spPr>
      </p:sp>
      <p:pic>
        <p:nvPicPr>
          <p:cNvPr id="15" name="Image 1" descr="preencoded.png">    </p:cNvPr>
          <p:cNvPicPr>
            <a:picLocks noChangeAspect="1"/>
          </p:cNvPicPr>
          <p:nvPr/>
        </p:nvPicPr>
        <p:blipFill>
          <a:blip r:embed="rId2"/>
          <a:stretch>
            <a:fillRect/>
          </a:stretch>
        </p:blipFill>
        <p:spPr>
          <a:xfrm>
            <a:off x="512064" y="2459736"/>
            <a:ext cx="292608" cy="292608"/>
          </a:xfrm>
          <a:prstGeom prst="rect">
            <a:avLst/>
          </a:prstGeom>
        </p:spPr>
      </p:pic>
      <p:sp>
        <p:nvSpPr>
          <p:cNvPr id="16" name="Text 12"/>
          <p:cNvSpPr/>
          <p:nvPr/>
        </p:nvSpPr>
        <p:spPr>
          <a:xfrm>
            <a:off x="896112" y="2322576"/>
            <a:ext cx="2286000" cy="274320"/>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Sabit Pencere Boyutu</a:t>
            </a:r>
            <a:endParaRPr lang="en-US" sz="1200" dirty="0"/>
          </a:p>
        </p:txBody>
      </p:sp>
      <p:sp>
        <p:nvSpPr>
          <p:cNvPr id="17" name="Text 13"/>
          <p:cNvSpPr/>
          <p:nvPr/>
        </p:nvSpPr>
        <p:spPr>
          <a:xfrm>
            <a:off x="896112" y="2651760"/>
            <a:ext cx="1188720" cy="219456"/>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Mevcut sinir: </a:t>
            </a:r>
            <a:endParaRPr lang="en-US" sz="1000" dirty="0"/>
          </a:p>
        </p:txBody>
      </p:sp>
      <p:sp>
        <p:nvSpPr>
          <p:cNvPr id="18" name="Text 14"/>
          <p:cNvSpPr/>
          <p:nvPr/>
        </p:nvSpPr>
        <p:spPr>
          <a:xfrm>
            <a:off x="2084832" y="2651760"/>
            <a:ext cx="3017520" cy="32918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Yatak asinmasi 300 adimda gerceklesir; 60 adimlik penceremiz yalnizca sonunu yakalar.</a:t>
            </a:r>
            <a:endParaRPr lang="en-US" sz="1000" dirty="0"/>
          </a:p>
        </p:txBody>
      </p:sp>
      <p:sp>
        <p:nvSpPr>
          <p:cNvPr id="19" name="Text 15"/>
          <p:cNvSpPr/>
          <p:nvPr/>
        </p:nvSpPr>
        <p:spPr>
          <a:xfrm>
            <a:off x="5212080" y="2651760"/>
            <a:ext cx="731520" cy="219456"/>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Gelecek: </a:t>
            </a:r>
            <a:endParaRPr lang="en-US" sz="1000" dirty="0"/>
          </a:p>
        </p:txBody>
      </p:sp>
      <p:sp>
        <p:nvSpPr>
          <p:cNvPr id="20" name="Text 16"/>
          <p:cNvSpPr/>
          <p:nvPr/>
        </p:nvSpPr>
        <p:spPr>
          <a:xfrm>
            <a:off x="5925312" y="2651760"/>
            <a:ext cx="2743200" cy="329184"/>
          </a:xfrm>
          <a:prstGeom prst="rect">
            <a:avLst/>
          </a:prstGeom>
          <a:noFill/>
          <a:ln/>
        </p:spPr>
        <p:txBody>
          <a:bodyPr wrap="square" rtlCol="0" anchor="ctr"/>
          <a:lstStyle/>
          <a:p>
            <a:pPr indent="0" marL="0">
              <a:buNone/>
            </a:pPr>
            <a:r>
              <a:rPr lang="en-US" sz="1000" dirty="0">
                <a:solidFill>
                  <a:srgbClr val="E2E8F0"/>
                </a:solidFill>
                <a:latin typeface="Calibri" pitchFamily="34" charset="0"/>
                <a:ea typeface="Calibri" pitchFamily="34" charset="-122"/>
                <a:cs typeface="Calibri" pitchFamily="34" charset="-120"/>
              </a:rPr>
              <a:t>Cok olcekli mimari veya daha uzun baglam (120-300 adimlik pencereler).</a:t>
            </a:r>
            <a:endParaRPr lang="en-US" sz="1000" dirty="0"/>
          </a:p>
        </p:txBody>
      </p:sp>
      <p:sp>
        <p:nvSpPr>
          <p:cNvPr id="21" name="Shape 17"/>
          <p:cNvSpPr/>
          <p:nvPr/>
        </p:nvSpPr>
        <p:spPr>
          <a:xfrm>
            <a:off x="365760" y="3163824"/>
            <a:ext cx="8412480" cy="8229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2" name="Shape 18"/>
          <p:cNvSpPr/>
          <p:nvPr/>
        </p:nvSpPr>
        <p:spPr>
          <a:xfrm>
            <a:off x="365760" y="3163824"/>
            <a:ext cx="54864" cy="822960"/>
          </a:xfrm>
          <a:prstGeom prst="rect">
            <a:avLst/>
          </a:prstGeom>
          <a:solidFill>
            <a:srgbClr val="10B981"/>
          </a:solidFill>
          <a:ln w="12700">
            <a:solidFill>
              <a:srgbClr val="10B981"/>
            </a:solidFill>
            <a:prstDash val="solid"/>
          </a:ln>
        </p:spPr>
      </p:sp>
      <p:pic>
        <p:nvPicPr>
          <p:cNvPr id="23" name="Image 2" descr="preencoded.png">    </p:cNvPr>
          <p:cNvPicPr>
            <a:picLocks noChangeAspect="1"/>
          </p:cNvPicPr>
          <p:nvPr/>
        </p:nvPicPr>
        <p:blipFill>
          <a:blip r:embed="rId3"/>
          <a:stretch>
            <a:fillRect/>
          </a:stretch>
        </p:blipFill>
        <p:spPr>
          <a:xfrm>
            <a:off x="512064" y="3392424"/>
            <a:ext cx="292608" cy="292608"/>
          </a:xfrm>
          <a:prstGeom prst="rect">
            <a:avLst/>
          </a:prstGeom>
        </p:spPr>
      </p:pic>
      <p:sp>
        <p:nvSpPr>
          <p:cNvPr id="24" name="Text 19"/>
          <p:cNvSpPr/>
          <p:nvPr/>
        </p:nvSpPr>
        <p:spPr>
          <a:xfrm>
            <a:off x="896112" y="3255264"/>
            <a:ext cx="2286000" cy="274320"/>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On Egitim Potansiyeli</a:t>
            </a:r>
            <a:endParaRPr lang="en-US" sz="1200" dirty="0"/>
          </a:p>
        </p:txBody>
      </p:sp>
      <p:sp>
        <p:nvSpPr>
          <p:cNvPr id="25" name="Text 20"/>
          <p:cNvSpPr/>
          <p:nvPr/>
        </p:nvSpPr>
        <p:spPr>
          <a:xfrm>
            <a:off x="896112" y="3584448"/>
            <a:ext cx="1188720" cy="219456"/>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Mevcut sinir: </a:t>
            </a:r>
            <a:endParaRPr lang="en-US" sz="1000" dirty="0"/>
          </a:p>
        </p:txBody>
      </p:sp>
      <p:sp>
        <p:nvSpPr>
          <p:cNvPr id="26" name="Text 21"/>
          <p:cNvSpPr/>
          <p:nvPr/>
        </p:nvSpPr>
        <p:spPr>
          <a:xfrm>
            <a:off x="2084832" y="3584448"/>
            <a:ext cx="3017520" cy="32918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Model yalnizca etiketli verilerle egitildi (~tum pencerelerin %2'si).</a:t>
            </a:r>
            <a:endParaRPr lang="en-US" sz="1000" dirty="0"/>
          </a:p>
        </p:txBody>
      </p:sp>
      <p:sp>
        <p:nvSpPr>
          <p:cNvPr id="27" name="Text 22"/>
          <p:cNvSpPr/>
          <p:nvPr/>
        </p:nvSpPr>
        <p:spPr>
          <a:xfrm>
            <a:off x="5212080" y="3584448"/>
            <a:ext cx="731520" cy="219456"/>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Gelecek: </a:t>
            </a:r>
            <a:endParaRPr lang="en-US" sz="1000" dirty="0"/>
          </a:p>
        </p:txBody>
      </p:sp>
      <p:sp>
        <p:nvSpPr>
          <p:cNvPr id="28" name="Text 23"/>
          <p:cNvSpPr/>
          <p:nvPr/>
        </p:nvSpPr>
        <p:spPr>
          <a:xfrm>
            <a:off x="5925312" y="3584448"/>
            <a:ext cx="2743200" cy="329184"/>
          </a:xfrm>
          <a:prstGeom prst="rect">
            <a:avLst/>
          </a:prstGeom>
          <a:noFill/>
          <a:ln/>
        </p:spPr>
        <p:txBody>
          <a:bodyPr wrap="square" rtlCol="0" anchor="ctr"/>
          <a:lstStyle/>
          <a:p>
            <a:pPr indent="0" marL="0">
              <a:buNone/>
            </a:pPr>
            <a:r>
              <a:rPr lang="en-US" sz="1000" dirty="0">
                <a:solidFill>
                  <a:srgbClr val="E2E8F0"/>
                </a:solidFill>
                <a:latin typeface="Calibri" pitchFamily="34" charset="0"/>
                <a:ea typeface="Calibri" pitchFamily="34" charset="-122"/>
                <a:cs typeface="Calibri" pitchFamily="34" charset="-120"/>
              </a:rPr>
              <a:t>Etiketsiz sensor akislariyla oz-denetimli on egitim, ardindan ince ayar.</a:t>
            </a:r>
            <a:endParaRPr lang="en-US" sz="1000" dirty="0"/>
          </a:p>
        </p:txBody>
      </p:sp>
      <p:sp>
        <p:nvSpPr>
          <p:cNvPr id="29" name="Shape 24"/>
          <p:cNvSpPr/>
          <p:nvPr/>
        </p:nvSpPr>
        <p:spPr>
          <a:xfrm>
            <a:off x="365760" y="4096512"/>
            <a:ext cx="8412480" cy="8229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30" name="Shape 25"/>
          <p:cNvSpPr/>
          <p:nvPr/>
        </p:nvSpPr>
        <p:spPr>
          <a:xfrm>
            <a:off x="365760" y="4096512"/>
            <a:ext cx="54864" cy="822960"/>
          </a:xfrm>
          <a:prstGeom prst="rect">
            <a:avLst/>
          </a:prstGeom>
          <a:solidFill>
            <a:srgbClr val="F43F5E"/>
          </a:solidFill>
          <a:ln w="12700">
            <a:solidFill>
              <a:srgbClr val="F43F5E"/>
            </a:solidFill>
            <a:prstDash val="solid"/>
          </a:ln>
        </p:spPr>
      </p:sp>
      <p:pic>
        <p:nvPicPr>
          <p:cNvPr id="31" name="Image 3" descr="preencoded.png">    </p:cNvPr>
          <p:cNvPicPr>
            <a:picLocks noChangeAspect="1"/>
          </p:cNvPicPr>
          <p:nvPr/>
        </p:nvPicPr>
        <p:blipFill>
          <a:blip r:embed="rId4"/>
          <a:stretch>
            <a:fillRect/>
          </a:stretch>
        </p:blipFill>
        <p:spPr>
          <a:xfrm>
            <a:off x="512064" y="4325112"/>
            <a:ext cx="292608" cy="292608"/>
          </a:xfrm>
          <a:prstGeom prst="rect">
            <a:avLst/>
          </a:prstGeom>
        </p:spPr>
      </p:pic>
      <p:sp>
        <p:nvSpPr>
          <p:cNvPr id="32" name="Text 26"/>
          <p:cNvSpPr/>
          <p:nvPr/>
        </p:nvSpPr>
        <p:spPr>
          <a:xfrm>
            <a:off x="896112" y="4187952"/>
            <a:ext cx="2286000" cy="274320"/>
          </a:xfrm>
          <a:prstGeom prst="rect">
            <a:avLst/>
          </a:prstGeom>
          <a:noFill/>
          <a:ln/>
        </p:spPr>
        <p:txBody>
          <a:bodyPr wrap="square" rtlCol="0" anchor="ctr"/>
          <a:lstStyle/>
          <a:p>
            <a:pPr indent="0" marL="0">
              <a:buNone/>
            </a:pPr>
            <a:r>
              <a:rPr lang="en-US" sz="1200" b="1" dirty="0">
                <a:solidFill>
                  <a:srgbClr val="F43F5E"/>
                </a:solidFill>
                <a:latin typeface="Calibri" pitchFamily="34" charset="0"/>
                <a:ea typeface="Calibri" pitchFamily="34" charset="-122"/>
                <a:cs typeface="Calibri" pitchFamily="34" charset="-120"/>
              </a:rPr>
              <a:t>Dikkat Gorsellestirilmesi</a:t>
            </a:r>
            <a:endParaRPr lang="en-US" sz="1200" dirty="0"/>
          </a:p>
        </p:txBody>
      </p:sp>
      <p:sp>
        <p:nvSpPr>
          <p:cNvPr id="33" name="Text 27"/>
          <p:cNvSpPr/>
          <p:nvPr/>
        </p:nvSpPr>
        <p:spPr>
          <a:xfrm>
            <a:off x="896112" y="4517136"/>
            <a:ext cx="1188720" cy="219456"/>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Mevcut sinir: </a:t>
            </a:r>
            <a:endParaRPr lang="en-US" sz="1000" dirty="0"/>
          </a:p>
        </p:txBody>
      </p:sp>
      <p:sp>
        <p:nvSpPr>
          <p:cNvPr id="34" name="Text 28"/>
          <p:cNvSpPr/>
          <p:nvPr/>
        </p:nvSpPr>
        <p:spPr>
          <a:xfrm>
            <a:off x="2084832" y="4517136"/>
            <a:ext cx="3017520" cy="32918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Dikkat agirliklari her ariza modu icin sistematik olarak gorsellestirilmedi.</a:t>
            </a:r>
            <a:endParaRPr lang="en-US" sz="1000" dirty="0"/>
          </a:p>
        </p:txBody>
      </p:sp>
      <p:sp>
        <p:nvSpPr>
          <p:cNvPr id="35" name="Text 29"/>
          <p:cNvSpPr/>
          <p:nvPr/>
        </p:nvSpPr>
        <p:spPr>
          <a:xfrm>
            <a:off x="5212080" y="4517136"/>
            <a:ext cx="731520" cy="219456"/>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Gelecek: </a:t>
            </a:r>
            <a:endParaRPr lang="en-US" sz="1000" dirty="0"/>
          </a:p>
        </p:txBody>
      </p:sp>
      <p:sp>
        <p:nvSpPr>
          <p:cNvPr id="36" name="Text 30"/>
          <p:cNvSpPr/>
          <p:nvPr/>
        </p:nvSpPr>
        <p:spPr>
          <a:xfrm>
            <a:off x="5925312" y="4517136"/>
            <a:ext cx="2743200" cy="329184"/>
          </a:xfrm>
          <a:prstGeom prst="rect">
            <a:avLst/>
          </a:prstGeom>
          <a:noFill/>
          <a:ln/>
        </p:spPr>
        <p:txBody>
          <a:bodyPr wrap="square" rtlCol="0" anchor="ctr"/>
          <a:lstStyle/>
          <a:p>
            <a:pPr indent="0" marL="0">
              <a:buNone/>
            </a:pPr>
            <a:r>
              <a:rPr lang="en-US" sz="1000" dirty="0">
                <a:solidFill>
                  <a:srgbClr val="E2E8F0"/>
                </a:solidFill>
                <a:latin typeface="Calibri" pitchFamily="34" charset="0"/>
                <a:ea typeface="Calibri" pitchFamily="34" charset="-122"/>
                <a:cs typeface="Calibri" pitchFamily="34" charset="-120"/>
              </a:rPr>
              <a:t>Her ariza turunun oncesinde yama dikkati isı haritasi — mekanistik yorumlanabilirlik.</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04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w="12700">
            <a:solidFill>
              <a:srgbClr val="0EA5E9"/>
            </a:solidFill>
            <a:prstDash val="solid"/>
          </a:ln>
        </p:spPr>
      </p:sp>
      <p:sp>
        <p:nvSpPr>
          <p:cNvPr id="3" name="Text 1"/>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SONUC</a:t>
            </a:r>
            <a:endParaRPr lang="en-US" sz="800" dirty="0"/>
          </a:p>
        </p:txBody>
      </p:sp>
      <p:sp>
        <p:nvSpPr>
          <p:cNvPr id="4" name="Text 2"/>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Ozet</a:t>
            </a:r>
            <a:endParaRPr lang="en-US" sz="3000" dirty="0"/>
          </a:p>
        </p:txBody>
      </p:sp>
      <p:sp>
        <p:nvSpPr>
          <p:cNvPr id="5" name="Shape 3"/>
          <p:cNvSpPr/>
          <p:nvPr/>
        </p:nvSpPr>
        <p:spPr>
          <a:xfrm>
            <a:off x="365760" y="1115568"/>
            <a:ext cx="8412480" cy="36576"/>
          </a:xfrm>
          <a:prstGeom prst="rect">
            <a:avLst/>
          </a:prstGeom>
          <a:solidFill>
            <a:srgbClr val="0EA5E9"/>
          </a:solidFill>
          <a:ln w="12700">
            <a:solidFill>
              <a:srgbClr val="0EA5E9"/>
            </a:solidFill>
            <a:prstDash val="solid"/>
          </a:ln>
        </p:spPr>
      </p:sp>
      <p:sp>
        <p:nvSpPr>
          <p:cNvPr id="6" name="Shape 4"/>
          <p:cNvSpPr/>
          <p:nvPr/>
        </p:nvSpPr>
        <p:spPr>
          <a:xfrm>
            <a:off x="365760" y="1298448"/>
            <a:ext cx="8412480" cy="1060704"/>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7" name="Shape 5"/>
          <p:cNvSpPr/>
          <p:nvPr/>
        </p:nvSpPr>
        <p:spPr>
          <a:xfrm>
            <a:off x="365760" y="1298448"/>
            <a:ext cx="8412480" cy="64008"/>
          </a:xfrm>
          <a:prstGeom prst="rect">
            <a:avLst/>
          </a:prstGeom>
          <a:solidFill>
            <a:srgbClr val="10B981"/>
          </a:solidFill>
          <a:ln w="12700">
            <a:solidFill>
              <a:srgbClr val="10B981"/>
            </a:solidFill>
            <a:prstDash val="solid"/>
          </a:ln>
        </p:spPr>
      </p:sp>
      <p:pic>
        <p:nvPicPr>
          <p:cNvPr id="8" name="Image 0" descr="preencoded.png">    </p:cNvPr>
          <p:cNvPicPr>
            <a:picLocks noChangeAspect="1"/>
          </p:cNvPicPr>
          <p:nvPr/>
        </p:nvPicPr>
        <p:blipFill>
          <a:blip r:embed="rId1"/>
          <a:stretch>
            <a:fillRect/>
          </a:stretch>
        </p:blipFill>
        <p:spPr>
          <a:xfrm>
            <a:off x="502920" y="1572768"/>
            <a:ext cx="384048" cy="384048"/>
          </a:xfrm>
          <a:prstGeom prst="rect">
            <a:avLst/>
          </a:prstGeom>
        </p:spPr>
      </p:pic>
      <p:sp>
        <p:nvSpPr>
          <p:cNvPr id="9" name="Text 6"/>
          <p:cNvSpPr/>
          <p:nvPr/>
        </p:nvSpPr>
        <p:spPr>
          <a:xfrm>
            <a:off x="1005840" y="1417320"/>
            <a:ext cx="7223760" cy="274320"/>
          </a:xfrm>
          <a:prstGeom prst="rect">
            <a:avLst/>
          </a:prstGeom>
          <a:noFill/>
          <a:ln/>
        </p:spPr>
        <p:txBody>
          <a:bodyPr wrap="square"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Mimari Secim</a:t>
            </a:r>
            <a:endParaRPr lang="en-US" sz="1300" dirty="0"/>
          </a:p>
        </p:txBody>
      </p:sp>
      <p:sp>
        <p:nvSpPr>
          <p:cNvPr id="10" name="Text 7"/>
          <p:cNvSpPr/>
          <p:nvPr/>
        </p:nvSpPr>
        <p:spPr>
          <a:xfrm>
            <a:off x="1005840" y="1755648"/>
            <a:ext cx="7589520" cy="502920"/>
          </a:xfrm>
          <a:prstGeom prst="rect">
            <a:avLst/>
          </a:prstGeom>
          <a:noFill/>
          <a:ln/>
        </p:spPr>
        <p:txBody>
          <a:bodyPr wrap="square" rtlCol="0" anchor="t"/>
          <a:lstStyle/>
          <a:p>
            <a:pPr indent="0" marL="0">
              <a:buNone/>
            </a:pPr>
            <a:r>
              <a:rPr lang="en-US" sz="1150" dirty="0">
                <a:solidFill>
                  <a:srgbClr val="E2E8F0"/>
                </a:solidFill>
                <a:latin typeface="Calibri" pitchFamily="34" charset="0"/>
                <a:ea typeface="Calibri" pitchFamily="34" charset="-122"/>
                <a:cs typeface="Calibri" pitchFamily="34" charset="-120"/>
              </a:rPr>
              <a:t>Klasik ML (zamansal modelleme yok) ve LSTM'ye (gradyan bozunmasi) karsin PatchTST secildi. Yama tokenizasyonu + oz-dikkat, cok adimli ariza imzalarini dogrudan yakalar.</a:t>
            </a:r>
            <a:endParaRPr lang="en-US" sz="1150" dirty="0"/>
          </a:p>
        </p:txBody>
      </p:sp>
      <p:sp>
        <p:nvSpPr>
          <p:cNvPr id="11" name="Shape 8"/>
          <p:cNvSpPr/>
          <p:nvPr/>
        </p:nvSpPr>
        <p:spPr>
          <a:xfrm>
            <a:off x="365760" y="2468880"/>
            <a:ext cx="8412480" cy="1060704"/>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2" name="Shape 9"/>
          <p:cNvSpPr/>
          <p:nvPr/>
        </p:nvSpPr>
        <p:spPr>
          <a:xfrm>
            <a:off x="365760" y="2468880"/>
            <a:ext cx="8412480" cy="64008"/>
          </a:xfrm>
          <a:prstGeom prst="rect">
            <a:avLst/>
          </a:prstGeom>
          <a:solidFill>
            <a:srgbClr val="0EA5E9"/>
          </a:solidFill>
          <a:ln w="12700">
            <a:solidFill>
              <a:srgbClr val="0EA5E9"/>
            </a:solidFill>
            <a:prstDash val="solid"/>
          </a:ln>
        </p:spPr>
      </p:sp>
      <p:pic>
        <p:nvPicPr>
          <p:cNvPr id="13" name="Image 1" descr="preencoded.png">    </p:cNvPr>
          <p:cNvPicPr>
            <a:picLocks noChangeAspect="1"/>
          </p:cNvPicPr>
          <p:nvPr/>
        </p:nvPicPr>
        <p:blipFill>
          <a:blip r:embed="rId2"/>
          <a:stretch>
            <a:fillRect/>
          </a:stretch>
        </p:blipFill>
        <p:spPr>
          <a:xfrm>
            <a:off x="502920" y="2743200"/>
            <a:ext cx="384048" cy="384048"/>
          </a:xfrm>
          <a:prstGeom prst="rect">
            <a:avLst/>
          </a:prstGeom>
        </p:spPr>
      </p:pic>
      <p:sp>
        <p:nvSpPr>
          <p:cNvPr id="14" name="Text 10"/>
          <p:cNvSpPr/>
          <p:nvPr/>
        </p:nvSpPr>
        <p:spPr>
          <a:xfrm>
            <a:off x="1005840" y="2587752"/>
            <a:ext cx="7223760" cy="274320"/>
          </a:xfrm>
          <a:prstGeom prst="rect">
            <a:avLst/>
          </a:prstGeom>
          <a:noFill/>
          <a:ln/>
        </p:spPr>
        <p:txBody>
          <a:bodyPr wrap="square" rtlCol="0" anchor="ctr"/>
          <a:lstStyle/>
          <a:p>
            <a:pPr indent="0" marL="0">
              <a:buNone/>
            </a:pPr>
            <a:r>
              <a:rPr lang="en-US" sz="1300" b="1" dirty="0">
                <a:solidFill>
                  <a:srgbClr val="0EA5E9"/>
                </a:solidFill>
                <a:latin typeface="Calibri" pitchFamily="34" charset="0"/>
                <a:ea typeface="Calibri" pitchFamily="34" charset="-122"/>
                <a:cs typeface="Calibri" pitchFamily="34" charset="-120"/>
              </a:rPr>
              <a:t>Guclu Sonuclar</a:t>
            </a:r>
            <a:endParaRPr lang="en-US" sz="1300" dirty="0"/>
          </a:p>
        </p:txBody>
      </p:sp>
      <p:sp>
        <p:nvSpPr>
          <p:cNvPr id="15" name="Text 11"/>
          <p:cNvSpPr/>
          <p:nvPr/>
        </p:nvSpPr>
        <p:spPr>
          <a:xfrm>
            <a:off x="1005840" y="2926080"/>
            <a:ext cx="7589520" cy="502920"/>
          </a:xfrm>
          <a:prstGeom prst="rect">
            <a:avLst/>
          </a:prstGeom>
          <a:noFill/>
          <a:ln/>
        </p:spPr>
        <p:txBody>
          <a:bodyPr wrap="square" rtlCol="0" anchor="t"/>
          <a:lstStyle/>
          <a:p>
            <a:pPr indent="0" marL="0">
              <a:buNone/>
            </a:pPr>
            <a:r>
              <a:rPr lang="en-US" sz="1150" dirty="0">
                <a:solidFill>
                  <a:srgbClr val="E2E8F0"/>
                </a:solidFill>
                <a:latin typeface="Calibri" pitchFamily="34" charset="0"/>
                <a:ea typeface="Calibri" pitchFamily="34" charset="-122"/>
                <a:cs typeface="Calibri" pitchFamily="34" charset="-120"/>
              </a:rPr>
              <a:t>ROC-AUC 0.997 · 150 arizadan 145 tespit · %97 duyarlilik · 118B parametre (LSTM'den %17 daha az).</a:t>
            </a:r>
            <a:endParaRPr lang="en-US" sz="1150" dirty="0"/>
          </a:p>
        </p:txBody>
      </p:sp>
      <p:sp>
        <p:nvSpPr>
          <p:cNvPr id="16" name="Shape 12"/>
          <p:cNvSpPr/>
          <p:nvPr/>
        </p:nvSpPr>
        <p:spPr>
          <a:xfrm>
            <a:off x="365760" y="3639312"/>
            <a:ext cx="8412480" cy="1060704"/>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7" name="Shape 13"/>
          <p:cNvSpPr/>
          <p:nvPr/>
        </p:nvSpPr>
        <p:spPr>
          <a:xfrm>
            <a:off x="365760" y="3639312"/>
            <a:ext cx="8412480" cy="64008"/>
          </a:xfrm>
          <a:prstGeom prst="rect">
            <a:avLst/>
          </a:prstGeom>
          <a:solidFill>
            <a:srgbClr val="F59E0B"/>
          </a:solidFill>
          <a:ln w="12700">
            <a:solidFill>
              <a:srgbClr val="F59E0B"/>
            </a:solidFill>
            <a:prstDash val="solid"/>
          </a:ln>
        </p:spPr>
      </p:sp>
      <p:pic>
        <p:nvPicPr>
          <p:cNvPr id="18" name="Image 2" descr="preencoded.png">    </p:cNvPr>
          <p:cNvPicPr>
            <a:picLocks noChangeAspect="1"/>
          </p:cNvPicPr>
          <p:nvPr/>
        </p:nvPicPr>
        <p:blipFill>
          <a:blip r:embed="rId3"/>
          <a:stretch>
            <a:fillRect/>
          </a:stretch>
        </p:blipFill>
        <p:spPr>
          <a:xfrm>
            <a:off x="502920" y="3913632"/>
            <a:ext cx="384048" cy="384048"/>
          </a:xfrm>
          <a:prstGeom prst="rect">
            <a:avLst/>
          </a:prstGeom>
        </p:spPr>
      </p:pic>
      <p:sp>
        <p:nvSpPr>
          <p:cNvPr id="19" name="Text 14"/>
          <p:cNvSpPr/>
          <p:nvPr/>
        </p:nvSpPr>
        <p:spPr>
          <a:xfrm>
            <a:off x="1005840" y="3758184"/>
            <a:ext cx="7223760" cy="274320"/>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Ana Gozlem</a:t>
            </a:r>
            <a:endParaRPr lang="en-US" sz="1300" dirty="0"/>
          </a:p>
        </p:txBody>
      </p:sp>
      <p:sp>
        <p:nvSpPr>
          <p:cNvPr id="20" name="Text 15"/>
          <p:cNvSpPr/>
          <p:nvPr/>
        </p:nvSpPr>
        <p:spPr>
          <a:xfrm>
            <a:off x="1005840" y="4096512"/>
            <a:ext cx="7589520" cy="502920"/>
          </a:xfrm>
          <a:prstGeom prst="rect">
            <a:avLst/>
          </a:prstGeom>
          <a:noFill/>
          <a:ln/>
        </p:spPr>
        <p:txBody>
          <a:bodyPr wrap="square" rtlCol="0" anchor="t"/>
          <a:lstStyle/>
          <a:p>
            <a:pPr indent="0" marL="0">
              <a:buNone/>
            </a:pPr>
            <a:r>
              <a:rPr lang="en-US" sz="1150" dirty="0">
                <a:solidFill>
                  <a:srgbClr val="E2E8F0"/>
                </a:solidFill>
                <a:latin typeface="Calibri" pitchFamily="34" charset="0"/>
                <a:ea typeface="Calibri" pitchFamily="34" charset="-122"/>
                <a:cs typeface="Calibri" pitchFamily="34" charset="-120"/>
              </a:rPr>
              <a:t>Transformer tum diziyi bir anda gorur. LSTM onu adim adim biriktirir. Uzun menzilli ariza oncüleri icin paralel dikkat daha iyi enduksif yapiya sahiptir.</a:t>
            </a:r>
            <a:endParaRPr lang="en-US" sz="1150" dirty="0"/>
          </a:p>
        </p:txBody>
      </p:sp>
      <p:sp>
        <p:nvSpPr>
          <p:cNvPr id="21" name="Shape 16"/>
          <p:cNvSpPr/>
          <p:nvPr/>
        </p:nvSpPr>
        <p:spPr>
          <a:xfrm>
            <a:off x="365760" y="4709160"/>
            <a:ext cx="8412480" cy="384048"/>
          </a:xfrm>
          <a:prstGeom prst="rect">
            <a:avLst/>
          </a:prstGeom>
          <a:solidFill>
            <a:srgbClr val="0EA5E9">
              <a:alpha val="12000"/>
            </a:srgbClr>
          </a:solidFill>
          <a:ln w="10160">
            <a:solidFill>
              <a:srgbClr val="0EA5E9"/>
            </a:solidFill>
            <a:prstDash val="solid"/>
          </a:ln>
        </p:spPr>
      </p:sp>
      <p:sp>
        <p:nvSpPr>
          <p:cNvPr id="22" name="Shape 17"/>
          <p:cNvSpPr/>
          <p:nvPr/>
        </p:nvSpPr>
        <p:spPr>
          <a:xfrm>
            <a:off x="365760" y="4709160"/>
            <a:ext cx="54864" cy="384048"/>
          </a:xfrm>
          <a:prstGeom prst="rect">
            <a:avLst/>
          </a:prstGeom>
          <a:solidFill>
            <a:srgbClr val="0EA5E9"/>
          </a:solidFill>
          <a:ln w="12700">
            <a:solidFill>
              <a:srgbClr val="0EA5E9"/>
            </a:solidFill>
            <a:prstDash val="solid"/>
          </a:ln>
        </p:spPr>
      </p:sp>
      <p:sp>
        <p:nvSpPr>
          <p:cNvPr id="23" name="Text 18"/>
          <p:cNvSpPr/>
          <p:nvPr/>
        </p:nvSpPr>
        <p:spPr>
          <a:xfrm>
            <a:off x="530352" y="4736592"/>
            <a:ext cx="8138160" cy="329184"/>
          </a:xfrm>
          <a:prstGeom prst="rect">
            <a:avLst/>
          </a:prstGeom>
          <a:noFill/>
          <a:ln/>
        </p:spPr>
        <p:txBody>
          <a:bodyPr wrap="square" rtlCol="0" anchor="ctr"/>
          <a:lstStyle/>
          <a:p>
            <a:pPr indent="0" marL="0">
              <a:buNone/>
            </a:pPr>
            <a:r>
              <a:rPr lang="en-US" sz="1050" i="1" dirty="0">
                <a:solidFill>
                  <a:srgbClr val="0EA5E9"/>
                </a:solidFill>
                <a:latin typeface="Calibri" pitchFamily="34" charset="0"/>
                <a:ea typeface="Calibri" pitchFamily="34" charset="-122"/>
                <a:cs typeface="Calibri" pitchFamily="34" charset="-120"/>
              </a:rPr>
              <a:t>"PatchTST'i sectik cunku ariza imzalari zaman icerisinde gelisir — oz-dikkat erken anomalileri sonraki belirtilere dogrudan baglarken, LSTM 60+ sirasal guncelleme boyunca sinyali kaybeder."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 ile Prediktif Bakim</dc:title>
  <dc:subject>PptxGenJS Presentation</dc:subject>
  <dc:creator>PptxGenJS</dc:creator>
  <cp:lastModifiedBy>PptxGenJS</cp:lastModifiedBy>
  <cp:revision>1</cp:revision>
  <dcterms:created xsi:type="dcterms:W3CDTF">2026-05-09T12:27:05Z</dcterms:created>
  <dcterms:modified xsi:type="dcterms:W3CDTF">2026-05-09T12:27:05Z</dcterms:modified>
</cp:coreProperties>
</file>