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our method selection reasoning, architecture design, and experimental results for a predictive maintenance system built with a PatchTST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frame this as binary classification. Each input window is 60 seconds of 4 sensor channels. The label is 1 if a failure happens in the next 30 seconds. Only about 2% of windows are pre-failure — a realistic but challenging class imbalance.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three architecture families. Classical ML lacks temporal modelling and needs manual feature engineering. LSTMs process sequences step-by-step, causing gradient decay over long windows. PatchTST uses parallel self-attention on patches, capturing long-range dependencies directly — exactly what our multi-step failure signatures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innovation is patch tokenisation. Instead of one token per timestep, we group 12 consecutive timesteps into one patch. This gives each token local temporal context, reduces sequence length by 12x, and makes attention much more efficient. Each of the 4 sensor channels is processed independently, then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synthetic but designed to be realistic. 50,000 timesteps at 1 Hz gives us nearly 50,000 sequence windows. Bearing wear is the hardest failure to detect because it's gradual and spans multiple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result: ROC-AUC of 0.997 after just 5 epochs. We detect 145 out of 150 failure events. Remarkably, our Transformer uses 17% fewer parameters than the LSTM while achieving higher performance — patch attention is more data-efficient than recurrent state propagation.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core mechanism. Bearing wear is the most diagnostically interesting failure because the signal spans the entire 60-step window. LSTMs have to carry that signal through 60 sequential updates. The Transformer patches the sequence into 5 tokens and all 5 attend to each other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practical challenge is class imbalance. With only 2% failure windows, a naive model just predicts 'normal' and gets 98% accuracy. That's why we use weighted sampling and monitor F1, not accuracy. Chronological splitting prevents the model from seeing future data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strengthens a presentation. The main ones: we don't model cross-channel correlations, our window is too short for bearing wear's full evolution, and we haven't yet visualised the attention weights to understand what the model is actually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summarise. Read the quote at the bottom — it's a ready-to-use spoken sentence for the presentation. Thank the audience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w="12700">
            <a:solidFill>
              <a:srgbClr val="0EA5E9"/>
            </a:solidFill>
            <a:prstDash val="solid"/>
          </a:ln>
        </p:spPr>
      </p:sp>
      <p:sp>
        <p:nvSpPr>
          <p:cNvPr id="3" name="Shape 1"/>
          <p:cNvSpPr/>
          <p:nvPr/>
        </p:nvSpPr>
        <p:spPr>
          <a:xfrm>
            <a:off x="0" y="73152"/>
            <a:ext cx="9144000" cy="5070348"/>
          </a:xfrm>
          <a:prstGeom prst="rect">
            <a:avLst/>
          </a:prstGeom>
          <a:solidFill>
            <a:srgbClr val="0A1628"/>
          </a:solidFill>
          <a:ln w="12700">
            <a:solidFill>
              <a:srgbClr val="0A1628"/>
            </a:solidFill>
            <a:prstDash val="solid"/>
          </a:ln>
        </p:spPr>
      </p:sp>
      <p:sp>
        <p:nvSpPr>
          <p:cNvPr id="4" name="Shape 2"/>
          <p:cNvSpPr/>
          <p:nvPr/>
        </p:nvSpPr>
        <p:spPr>
          <a:xfrm>
            <a:off x="6583680" y="548640"/>
            <a:ext cx="2926080" cy="2926080"/>
          </a:xfrm>
          <a:prstGeom prst="ellipse">
            <a:avLst/>
          </a:prstGeom>
          <a:solidFill>
            <a:srgbClr val="0EA5E9">
              <a:alpha val="12000"/>
            </a:srgbClr>
          </a:solidFill>
          <a:ln w="6350">
            <a:solidFill>
              <a:srgbClr val="0EA5E9">
                <a:alpha val="40000"/>
              </a:srgbClr>
            </a:solidFill>
            <a:prstDash val="solid"/>
          </a:ln>
        </p:spPr>
      </p:sp>
      <p:sp>
        <p:nvSpPr>
          <p:cNvPr id="5" name="Shape 3"/>
          <p:cNvSpPr/>
          <p:nvPr/>
        </p:nvSpPr>
        <p:spPr>
          <a:xfrm>
            <a:off x="7132320" y="1005840"/>
            <a:ext cx="1920240" cy="1920240"/>
          </a:xfrm>
          <a:prstGeom prst="ellipse">
            <a:avLst/>
          </a:prstGeom>
          <a:solidFill>
            <a:srgbClr val="0EA5E9">
              <a:alpha val="20000"/>
            </a:srgbClr>
          </a:solidFill>
          <a:ln w="12700">
            <a:solidFill>
              <a:srgbClr val="0EA5E9"/>
            </a:solidFill>
            <a:prstDash val="solid"/>
          </a:ln>
        </p:spPr>
      </p:sp>
      <p:pic>
        <p:nvPicPr>
          <p:cNvPr id="6" name="Image 0" descr="preencoded.png">    </p:cNvPr>
          <p:cNvPicPr>
            <a:picLocks noChangeAspect="1"/>
          </p:cNvPicPr>
          <p:nvPr/>
        </p:nvPicPr>
        <p:blipFill>
          <a:blip r:embed="rId1"/>
          <a:stretch>
            <a:fillRect/>
          </a:stretch>
        </p:blipFill>
        <p:spPr>
          <a:xfrm>
            <a:off x="7406640" y="1280160"/>
            <a:ext cx="1280160" cy="1280160"/>
          </a:xfrm>
          <a:prstGeom prst="rect">
            <a:avLst/>
          </a:prstGeom>
        </p:spPr>
      </p:pic>
      <p:sp>
        <p:nvSpPr>
          <p:cNvPr id="7" name="Text 4"/>
          <p:cNvSpPr/>
          <p:nvPr/>
        </p:nvSpPr>
        <p:spPr>
          <a:xfrm>
            <a:off x="457200" y="822960"/>
            <a:ext cx="5943600" cy="256032"/>
          </a:xfrm>
          <a:prstGeom prst="rect">
            <a:avLst/>
          </a:prstGeom>
          <a:noFill/>
          <a:ln/>
        </p:spPr>
        <p:txBody>
          <a:bodyPr wrap="square" rtlCol="0" anchor="ctr"/>
          <a:lstStyle/>
          <a:p>
            <a:pPr indent="0" marL="0">
              <a:buNone/>
            </a:pPr>
            <a:r>
              <a:rPr lang="en-US" sz="900" b="1" spc="400" kern="0" dirty="0">
                <a:solidFill>
                  <a:srgbClr val="0EA5E9"/>
                </a:solidFill>
                <a:latin typeface="Calibri" pitchFamily="34" charset="0"/>
                <a:ea typeface="Calibri" pitchFamily="34" charset="-122"/>
                <a:cs typeface="Calibri" pitchFamily="34" charset="-120"/>
              </a:rPr>
              <a:t>DEEP LEARNING PROJECT</a:t>
            </a:r>
            <a:endParaRPr lang="en-US" sz="900" dirty="0"/>
          </a:p>
        </p:txBody>
      </p:sp>
      <p:sp>
        <p:nvSpPr>
          <p:cNvPr id="8" name="Text 5"/>
          <p:cNvSpPr/>
          <p:nvPr/>
        </p:nvSpPr>
        <p:spPr>
          <a:xfrm>
            <a:off x="457200" y="1143000"/>
            <a:ext cx="6400800" cy="9144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Predictive Maintenance</a:t>
            </a:r>
            <a:endParaRPr lang="en-US" sz="4400" dirty="0"/>
          </a:p>
        </p:txBody>
      </p:sp>
      <p:sp>
        <p:nvSpPr>
          <p:cNvPr id="9" name="Text 6"/>
          <p:cNvSpPr/>
          <p:nvPr/>
        </p:nvSpPr>
        <p:spPr>
          <a:xfrm>
            <a:off x="457200" y="2176272"/>
            <a:ext cx="6583680" cy="822960"/>
          </a:xfrm>
          <a:prstGeom prst="rect">
            <a:avLst/>
          </a:prstGeom>
          <a:noFill/>
          <a:ln/>
        </p:spPr>
        <p:txBody>
          <a:bodyPr wrap="square" rtlCol="0" anchor="ctr"/>
          <a:lstStyle/>
          <a:p>
            <a:pPr indent="0" marL="0">
              <a:lnSpc>
                <a:spcPct val="130000"/>
              </a:lnSpc>
              <a:buNone/>
            </a:pPr>
            <a:r>
              <a:rPr lang="en-US" sz="1800" dirty="0">
                <a:solidFill>
                  <a:srgbClr val="E2E8F0"/>
                </a:solidFill>
                <a:latin typeface="Calibri" pitchFamily="34" charset="0"/>
                <a:ea typeface="Calibri" pitchFamily="34" charset="-122"/>
                <a:cs typeface="Calibri" pitchFamily="34" charset="-120"/>
              </a:rPr>
              <a:t>Using Transformer-Based Deep Learning</a:t>
            </a:r>
            <a:endParaRPr lang="en-US" sz="1800" dirty="0"/>
          </a:p>
          <a:p>
            <a:pPr indent="0" marL="0">
              <a:lnSpc>
                <a:spcPct val="130000"/>
              </a:lnSpc>
              <a:buNone/>
            </a:pPr>
            <a:r>
              <a:rPr lang="en-US" sz="1800" dirty="0">
                <a:solidFill>
                  <a:srgbClr val="E2E8F0"/>
                </a:solidFill>
                <a:latin typeface="Calibri" pitchFamily="34" charset="0"/>
                <a:ea typeface="Calibri" pitchFamily="34" charset="-122"/>
                <a:cs typeface="Calibri" pitchFamily="34" charset="-120"/>
              </a:rPr>
              <a:t>for Industrial Failure Prediction</a:t>
            </a:r>
            <a:endParaRPr lang="en-US" sz="1800" dirty="0"/>
          </a:p>
        </p:txBody>
      </p:sp>
      <p:sp>
        <p:nvSpPr>
          <p:cNvPr id="10" name="Shape 7"/>
          <p:cNvSpPr/>
          <p:nvPr/>
        </p:nvSpPr>
        <p:spPr>
          <a:xfrm>
            <a:off x="457200" y="3090672"/>
            <a:ext cx="1645920" cy="45720"/>
          </a:xfrm>
          <a:prstGeom prst="rect">
            <a:avLst/>
          </a:prstGeom>
          <a:solidFill>
            <a:srgbClr val="0EA5E9"/>
          </a:solidFill>
          <a:ln w="12700">
            <a:solidFill>
              <a:srgbClr val="0EA5E9"/>
            </a:solidFill>
            <a:prstDash val="solid"/>
          </a:ln>
        </p:spPr>
      </p:sp>
      <p:sp>
        <p:nvSpPr>
          <p:cNvPr id="11" name="Text 8"/>
          <p:cNvSpPr/>
          <p:nvPr/>
        </p:nvSpPr>
        <p:spPr>
          <a:xfrm>
            <a:off x="457200" y="3246120"/>
            <a:ext cx="82296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PatchTST Transformer  ·  Multivariate Sensor Data  ·  Binary Failure Classification</a:t>
            </a:r>
            <a:endParaRPr lang="en-US" sz="1100" dirty="0"/>
          </a:p>
        </p:txBody>
      </p:sp>
      <p:sp>
        <p:nvSpPr>
          <p:cNvPr id="12" name="Shape 9"/>
          <p:cNvSpPr/>
          <p:nvPr/>
        </p:nvSpPr>
        <p:spPr>
          <a:xfrm>
            <a:off x="0" y="4846320"/>
            <a:ext cx="9144000" cy="297180"/>
          </a:xfrm>
          <a:prstGeom prst="rect">
            <a:avLst/>
          </a:prstGeom>
          <a:solidFill>
            <a:srgbClr val="162D5A"/>
          </a:solidFill>
          <a:ln w="12700">
            <a:solidFill>
              <a:srgbClr val="162D5A"/>
            </a:solidFill>
            <a:prstDash val="solid"/>
          </a:ln>
        </p:spPr>
      </p:sp>
      <p:sp>
        <p:nvSpPr>
          <p:cNvPr id="13" name="Text 10"/>
          <p:cNvSpPr/>
          <p:nvPr/>
        </p:nvSpPr>
        <p:spPr>
          <a:xfrm>
            <a:off x="457200" y="4873752"/>
            <a:ext cx="8229600" cy="24688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Method Selection &amp; Results Report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PROBLEM STATEMENT</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Are We Trying to Predict?</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61872"/>
            <a:ext cx="4023360" cy="347472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548640" y="1389888"/>
            <a:ext cx="3657600" cy="292608"/>
          </a:xfrm>
          <a:prstGeom prst="rect">
            <a:avLst/>
          </a:prstGeom>
          <a:noFill/>
          <a:ln/>
        </p:spPr>
        <p:txBody>
          <a:bodyPr wrap="square" rtlCol="0" anchor="ctr"/>
          <a:lstStyle/>
          <a:p>
            <a:pPr indent="0" marL="0">
              <a:buNone/>
            </a:pPr>
            <a:r>
              <a:rPr lang="en-US" sz="1400" b="1" dirty="0">
                <a:solidFill>
                  <a:srgbClr val="0EA5E9"/>
                </a:solidFill>
                <a:latin typeface="Calibri" pitchFamily="34" charset="0"/>
                <a:ea typeface="Calibri" pitchFamily="34" charset="-122"/>
                <a:cs typeface="Calibri" pitchFamily="34" charset="-120"/>
              </a:rPr>
              <a:t>The Task</a:t>
            </a:r>
            <a:endParaRPr lang="en-US" sz="1400" dirty="0"/>
          </a:p>
        </p:txBody>
      </p:sp>
      <p:sp>
        <p:nvSpPr>
          <p:cNvPr id="7" name="Text 5"/>
          <p:cNvSpPr/>
          <p:nvPr/>
        </p:nvSpPr>
        <p:spPr>
          <a:xfrm>
            <a:off x="548640" y="1737360"/>
            <a:ext cx="3657600" cy="2834640"/>
          </a:xfrm>
          <a:prstGeom prst="rect">
            <a:avLst/>
          </a:prstGeom>
          <a:noFill/>
          <a:ln/>
        </p:spPr>
        <p:txBody>
          <a:bodyPr wrap="square" rtlCol="0" anchor="t"/>
          <a:lstStyle/>
          <a:p>
            <a:pPr indent="0" marL="0">
              <a:buNone/>
            </a:pPr>
            <a:r>
              <a:rPr lang="en-US" sz="1250" b="1" dirty="0">
                <a:solidFill>
                  <a:srgbClr val="E2E8F0"/>
                </a:solidFill>
                <a:latin typeface="Calibri" pitchFamily="34" charset="0"/>
                <a:ea typeface="Calibri" pitchFamily="34" charset="-122"/>
                <a:cs typeface="Calibri" pitchFamily="34" charset="-120"/>
              </a:rPr>
              <a:t>Binary sequence classification</a:t>
            </a:r>
            <a:endParaRPr lang="en-US" sz="1250" dirty="0"/>
          </a:p>
          <a:p>
            <a:pPr indent="0" marL="0">
              <a:buNone/>
            </a:pPr>
            <a:endParaRPr lang="en-US" sz="1250" dirty="0"/>
          </a:p>
          <a:p>
            <a:pPr indent="0" marL="0">
              <a:buNone/>
            </a:pPr>
            <a:r>
              <a:rPr lang="en-US" sz="1250" b="1" dirty="0">
                <a:solidFill>
                  <a:srgbClr val="E2E8F0"/>
                </a:solidFill>
                <a:latin typeface="Calibri" pitchFamily="34" charset="0"/>
                <a:ea typeface="Calibri" pitchFamily="34" charset="-122"/>
                <a:cs typeface="Calibri" pitchFamily="34" charset="-120"/>
              </a:rPr>
              <a:t>Input: </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60 timesteps × 4 sensor channels
</a:t>
            </a:r>
            <a:pPr indent="0" marL="0">
              <a:buNone/>
            </a:pPr>
            <a:endParaRPr lang="en-US" sz="1250" dirty="0"/>
          </a:p>
          <a:p>
            <a:pPr indent="0" marL="0">
              <a:buNone/>
            </a:pPr>
            <a:r>
              <a:rPr lang="en-US" sz="1250" b="1" dirty="0">
                <a:solidFill>
                  <a:srgbClr val="E2E8F0"/>
                </a:solidFill>
                <a:latin typeface="Calibri" pitchFamily="34" charset="0"/>
                <a:ea typeface="Calibri" pitchFamily="34" charset="-122"/>
                <a:cs typeface="Calibri" pitchFamily="34" charset="-120"/>
              </a:rPr>
              <a:t>Label: </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1 if failure within next 30 steps, else 0
</a:t>
            </a:r>
            <a:pPr indent="0" marL="0">
              <a:buNone/>
            </a:pPr>
            <a:endParaRPr lang="en-US" sz="1250" dirty="0"/>
          </a:p>
          <a:p>
            <a:pPr indent="0" marL="0">
              <a:buNone/>
            </a:pPr>
            <a:r>
              <a:rPr lang="en-US" sz="1250" b="1" dirty="0">
                <a:solidFill>
                  <a:srgbClr val="E2E8F0"/>
                </a:solidFill>
                <a:latin typeface="Calibri" pitchFamily="34" charset="0"/>
                <a:ea typeface="Calibri" pitchFamily="34" charset="-122"/>
                <a:cs typeface="Calibri" pitchFamily="34" charset="-120"/>
              </a:rPr>
              <a:t>Sampling rate: </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1 Hz (1 sample/second)
</a:t>
            </a:r>
            <a:pPr indent="0" marL="0">
              <a:buNone/>
            </a:pPr>
            <a:endParaRPr lang="en-US" sz="1250" dirty="0"/>
          </a:p>
          <a:p>
            <a:pPr indent="0" marL="0">
              <a:buNone/>
            </a:pPr>
            <a:r>
              <a:rPr lang="en-US" sz="1250" b="1" dirty="0">
                <a:solidFill>
                  <a:srgbClr val="E2E8F0"/>
                </a:solidFill>
                <a:latin typeface="Calibri" pitchFamily="34" charset="0"/>
                <a:ea typeface="Calibri" pitchFamily="34" charset="-122"/>
                <a:cs typeface="Calibri" pitchFamily="34" charset="-120"/>
              </a:rPr>
              <a:t>Class split: </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~98% normal · ~2% pre-failure</a:t>
            </a:r>
            <a:endParaRPr lang="en-US" sz="1250" dirty="0"/>
          </a:p>
        </p:txBody>
      </p:sp>
      <p:sp>
        <p:nvSpPr>
          <p:cNvPr id="8" name="Shape 6"/>
          <p:cNvSpPr/>
          <p:nvPr/>
        </p:nvSpPr>
        <p:spPr>
          <a:xfrm>
            <a:off x="4663440" y="1261872"/>
            <a:ext cx="2084832" cy="1143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9" name="Shape 7"/>
          <p:cNvSpPr/>
          <p:nvPr/>
        </p:nvSpPr>
        <p:spPr>
          <a:xfrm>
            <a:off x="4663440" y="1261872"/>
            <a:ext cx="2084832" cy="64008"/>
          </a:xfrm>
          <a:prstGeom prst="rect">
            <a:avLst/>
          </a:prstGeom>
          <a:solidFill>
            <a:srgbClr val="F43F5E"/>
          </a:solidFill>
          <a:ln w="12700">
            <a:solidFill>
              <a:srgbClr val="F43F5E"/>
            </a:solidFill>
            <a:prstDash val="solid"/>
          </a:ln>
        </p:spPr>
      </p:sp>
      <p:sp>
        <p:nvSpPr>
          <p:cNvPr id="10" name="Text 8"/>
          <p:cNvSpPr/>
          <p:nvPr/>
        </p:nvSpPr>
        <p:spPr>
          <a:xfrm>
            <a:off x="4773168" y="1426464"/>
            <a:ext cx="1865376"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Temperature</a:t>
            </a:r>
            <a:endParaRPr lang="en-US" sz="1300" dirty="0"/>
          </a:p>
        </p:txBody>
      </p:sp>
      <p:sp>
        <p:nvSpPr>
          <p:cNvPr id="11" name="Text 9"/>
          <p:cNvSpPr/>
          <p:nvPr/>
        </p:nvSpPr>
        <p:spPr>
          <a:xfrm>
            <a:off x="4773168" y="1737360"/>
            <a:ext cx="1865376" cy="228600"/>
          </a:xfrm>
          <a:prstGeom prst="rect">
            <a:avLst/>
          </a:prstGeom>
          <a:noFill/>
          <a:ln/>
        </p:spPr>
        <p:txBody>
          <a:bodyPr wrap="square" rtlCol="0" anchor="ctr"/>
          <a:lstStyle/>
          <a:p>
            <a:pPr indent="0" marL="0">
              <a:buNone/>
            </a:pPr>
            <a:r>
              <a:rPr lang="en-US" sz="1100" dirty="0">
                <a:solidFill>
                  <a:srgbClr val="F43F5E"/>
                </a:solidFill>
                <a:latin typeface="Calibri" pitchFamily="34" charset="0"/>
                <a:ea typeface="Calibri" pitchFamily="34" charset="-122"/>
                <a:cs typeface="Calibri" pitchFamily="34" charset="-120"/>
              </a:rPr>
              <a:t>°C</a:t>
            </a:r>
            <a:endParaRPr lang="en-US" sz="1100" dirty="0"/>
          </a:p>
        </p:txBody>
      </p:sp>
      <p:sp>
        <p:nvSpPr>
          <p:cNvPr id="12" name="Text 10"/>
          <p:cNvSpPr/>
          <p:nvPr/>
        </p:nvSpPr>
        <p:spPr>
          <a:xfrm>
            <a:off x="4773168" y="2011680"/>
            <a:ext cx="1865376"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Continuous sensor</a:t>
            </a:r>
            <a:endParaRPr lang="en-US" sz="1000" dirty="0"/>
          </a:p>
        </p:txBody>
      </p:sp>
      <p:sp>
        <p:nvSpPr>
          <p:cNvPr id="13" name="Shape 11"/>
          <p:cNvSpPr/>
          <p:nvPr/>
        </p:nvSpPr>
        <p:spPr>
          <a:xfrm>
            <a:off x="6949440" y="1261872"/>
            <a:ext cx="2084832" cy="1143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4" name="Shape 12"/>
          <p:cNvSpPr/>
          <p:nvPr/>
        </p:nvSpPr>
        <p:spPr>
          <a:xfrm>
            <a:off x="6949440" y="1261872"/>
            <a:ext cx="2084832" cy="64008"/>
          </a:xfrm>
          <a:prstGeom prst="rect">
            <a:avLst/>
          </a:prstGeom>
          <a:solidFill>
            <a:srgbClr val="F59E0B"/>
          </a:solidFill>
          <a:ln w="12700">
            <a:solidFill>
              <a:srgbClr val="F59E0B"/>
            </a:solidFill>
            <a:prstDash val="solid"/>
          </a:ln>
        </p:spPr>
      </p:sp>
      <p:sp>
        <p:nvSpPr>
          <p:cNvPr id="15" name="Text 13"/>
          <p:cNvSpPr/>
          <p:nvPr/>
        </p:nvSpPr>
        <p:spPr>
          <a:xfrm>
            <a:off x="7059168" y="1426464"/>
            <a:ext cx="1865376"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Vibration</a:t>
            </a:r>
            <a:endParaRPr lang="en-US" sz="1300" dirty="0"/>
          </a:p>
        </p:txBody>
      </p:sp>
      <p:sp>
        <p:nvSpPr>
          <p:cNvPr id="16" name="Text 14"/>
          <p:cNvSpPr/>
          <p:nvPr/>
        </p:nvSpPr>
        <p:spPr>
          <a:xfrm>
            <a:off x="7059168" y="1737360"/>
            <a:ext cx="1865376" cy="228600"/>
          </a:xfrm>
          <a:prstGeom prst="rect">
            <a:avLst/>
          </a:prstGeom>
          <a:noFill/>
          <a:ln/>
        </p:spPr>
        <p:txBody>
          <a:bodyPr wrap="square" rtlCol="0" anchor="ctr"/>
          <a:lstStyle/>
          <a:p>
            <a:pPr indent="0" marL="0">
              <a:buNone/>
            </a:pPr>
            <a:r>
              <a:rPr lang="en-US" sz="1100" dirty="0">
                <a:solidFill>
                  <a:srgbClr val="F59E0B"/>
                </a:solidFill>
                <a:latin typeface="Calibri" pitchFamily="34" charset="0"/>
                <a:ea typeface="Calibri" pitchFamily="34" charset="-122"/>
                <a:cs typeface="Calibri" pitchFamily="34" charset="-120"/>
              </a:rPr>
              <a:t>mm/s</a:t>
            </a:r>
            <a:endParaRPr lang="en-US" sz="1100" dirty="0"/>
          </a:p>
        </p:txBody>
      </p:sp>
      <p:sp>
        <p:nvSpPr>
          <p:cNvPr id="17" name="Text 15"/>
          <p:cNvSpPr/>
          <p:nvPr/>
        </p:nvSpPr>
        <p:spPr>
          <a:xfrm>
            <a:off x="7059168" y="2011680"/>
            <a:ext cx="1865376"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Continuous sensor</a:t>
            </a:r>
            <a:endParaRPr lang="en-US" sz="1000" dirty="0"/>
          </a:p>
        </p:txBody>
      </p:sp>
      <p:sp>
        <p:nvSpPr>
          <p:cNvPr id="18" name="Shape 16"/>
          <p:cNvSpPr/>
          <p:nvPr/>
        </p:nvSpPr>
        <p:spPr>
          <a:xfrm>
            <a:off x="4663440" y="2542032"/>
            <a:ext cx="2084832" cy="1143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9" name="Shape 17"/>
          <p:cNvSpPr/>
          <p:nvPr/>
        </p:nvSpPr>
        <p:spPr>
          <a:xfrm>
            <a:off x="4663440" y="2542032"/>
            <a:ext cx="2084832" cy="64008"/>
          </a:xfrm>
          <a:prstGeom prst="rect">
            <a:avLst/>
          </a:prstGeom>
          <a:solidFill>
            <a:srgbClr val="0EA5E9"/>
          </a:solidFill>
          <a:ln w="12700">
            <a:solidFill>
              <a:srgbClr val="0EA5E9"/>
            </a:solidFill>
            <a:prstDash val="solid"/>
          </a:ln>
        </p:spPr>
      </p:sp>
      <p:sp>
        <p:nvSpPr>
          <p:cNvPr id="20" name="Text 18"/>
          <p:cNvSpPr/>
          <p:nvPr/>
        </p:nvSpPr>
        <p:spPr>
          <a:xfrm>
            <a:off x="4773168" y="2706624"/>
            <a:ext cx="1865376"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Pressure</a:t>
            </a:r>
            <a:endParaRPr lang="en-US" sz="1300" dirty="0"/>
          </a:p>
        </p:txBody>
      </p:sp>
      <p:sp>
        <p:nvSpPr>
          <p:cNvPr id="21" name="Text 19"/>
          <p:cNvSpPr/>
          <p:nvPr/>
        </p:nvSpPr>
        <p:spPr>
          <a:xfrm>
            <a:off x="4773168" y="3017520"/>
            <a:ext cx="1865376" cy="228600"/>
          </a:xfrm>
          <a:prstGeom prst="rect">
            <a:avLst/>
          </a:prstGeom>
          <a:noFill/>
          <a:ln/>
        </p:spPr>
        <p:txBody>
          <a:bodyPr wrap="square" rtlCol="0" anchor="ctr"/>
          <a:lstStyle/>
          <a:p>
            <a:pPr indent="0" marL="0">
              <a:buNone/>
            </a:pPr>
            <a:r>
              <a:rPr lang="en-US" sz="1100" dirty="0">
                <a:solidFill>
                  <a:srgbClr val="0EA5E9"/>
                </a:solidFill>
                <a:latin typeface="Calibri" pitchFamily="34" charset="0"/>
                <a:ea typeface="Calibri" pitchFamily="34" charset="-122"/>
                <a:cs typeface="Calibri" pitchFamily="34" charset="-120"/>
              </a:rPr>
              <a:t>bar</a:t>
            </a:r>
            <a:endParaRPr lang="en-US" sz="1100" dirty="0"/>
          </a:p>
        </p:txBody>
      </p:sp>
      <p:sp>
        <p:nvSpPr>
          <p:cNvPr id="22" name="Text 20"/>
          <p:cNvSpPr/>
          <p:nvPr/>
        </p:nvSpPr>
        <p:spPr>
          <a:xfrm>
            <a:off x="4773168" y="3291840"/>
            <a:ext cx="1865376"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Continuous sensor</a:t>
            </a:r>
            <a:endParaRPr lang="en-US" sz="1000" dirty="0"/>
          </a:p>
        </p:txBody>
      </p:sp>
      <p:sp>
        <p:nvSpPr>
          <p:cNvPr id="23" name="Shape 21"/>
          <p:cNvSpPr/>
          <p:nvPr/>
        </p:nvSpPr>
        <p:spPr>
          <a:xfrm>
            <a:off x="6949440" y="2542032"/>
            <a:ext cx="2084832" cy="1143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4" name="Shape 22"/>
          <p:cNvSpPr/>
          <p:nvPr/>
        </p:nvSpPr>
        <p:spPr>
          <a:xfrm>
            <a:off x="6949440" y="2542032"/>
            <a:ext cx="2084832" cy="64008"/>
          </a:xfrm>
          <a:prstGeom prst="rect">
            <a:avLst/>
          </a:prstGeom>
          <a:solidFill>
            <a:srgbClr val="10B981"/>
          </a:solidFill>
          <a:ln w="12700">
            <a:solidFill>
              <a:srgbClr val="10B981"/>
            </a:solidFill>
            <a:prstDash val="solid"/>
          </a:ln>
        </p:spPr>
      </p:sp>
      <p:sp>
        <p:nvSpPr>
          <p:cNvPr id="25" name="Text 23"/>
          <p:cNvSpPr/>
          <p:nvPr/>
        </p:nvSpPr>
        <p:spPr>
          <a:xfrm>
            <a:off x="7059168" y="2706624"/>
            <a:ext cx="1865376"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RPM</a:t>
            </a:r>
            <a:endParaRPr lang="en-US" sz="1300" dirty="0"/>
          </a:p>
        </p:txBody>
      </p:sp>
      <p:sp>
        <p:nvSpPr>
          <p:cNvPr id="26" name="Text 24"/>
          <p:cNvSpPr/>
          <p:nvPr/>
        </p:nvSpPr>
        <p:spPr>
          <a:xfrm>
            <a:off x="7059168" y="3017520"/>
            <a:ext cx="1865376" cy="228600"/>
          </a:xfrm>
          <a:prstGeom prst="rect">
            <a:avLst/>
          </a:prstGeom>
          <a:noFill/>
          <a:ln/>
        </p:spPr>
        <p:txBody>
          <a:bodyPr wrap="square" rtlCol="0" anchor="ctr"/>
          <a:lstStyle/>
          <a:p>
            <a:pPr indent="0" marL="0">
              <a:buNone/>
            </a:pPr>
            <a:r>
              <a:rPr lang="en-US" sz="1100" dirty="0">
                <a:solidFill>
                  <a:srgbClr val="10B981"/>
                </a:solidFill>
                <a:latin typeface="Calibri" pitchFamily="34" charset="0"/>
                <a:ea typeface="Calibri" pitchFamily="34" charset="-122"/>
                <a:cs typeface="Calibri" pitchFamily="34" charset="-120"/>
              </a:rPr>
              <a:t>RPM</a:t>
            </a:r>
            <a:endParaRPr lang="en-US" sz="1100" dirty="0"/>
          </a:p>
        </p:txBody>
      </p:sp>
      <p:sp>
        <p:nvSpPr>
          <p:cNvPr id="27" name="Text 25"/>
          <p:cNvSpPr/>
          <p:nvPr/>
        </p:nvSpPr>
        <p:spPr>
          <a:xfrm>
            <a:off x="7059168" y="3291840"/>
            <a:ext cx="1865376"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Continuous sensor</a:t>
            </a:r>
            <a:endParaRPr lang="en-US" sz="1000" dirty="0"/>
          </a:p>
        </p:txBody>
      </p:sp>
      <p:sp>
        <p:nvSpPr>
          <p:cNvPr id="28" name="Shape 26"/>
          <p:cNvSpPr/>
          <p:nvPr/>
        </p:nvSpPr>
        <p:spPr>
          <a:xfrm>
            <a:off x="4663440" y="3730752"/>
            <a:ext cx="4480560" cy="100584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9" name="Text 27"/>
          <p:cNvSpPr/>
          <p:nvPr/>
        </p:nvSpPr>
        <p:spPr>
          <a:xfrm>
            <a:off x="4800600" y="3785616"/>
            <a:ext cx="4206240" cy="256032"/>
          </a:xfrm>
          <a:prstGeom prst="rect">
            <a:avLst/>
          </a:prstGeom>
          <a:noFill/>
          <a:ln/>
        </p:spPr>
        <p:txBody>
          <a:bodyPr wrap="square" rtlCol="0" anchor="ctr"/>
          <a:lstStyle/>
          <a:p>
            <a:pPr indent="0" marL="0">
              <a:buNone/>
            </a:pPr>
            <a:r>
              <a:rPr lang="en-US" sz="1100" b="1" dirty="0">
                <a:solidFill>
                  <a:srgbClr val="0EA5E9"/>
                </a:solidFill>
                <a:latin typeface="Calibri" pitchFamily="34" charset="0"/>
                <a:ea typeface="Calibri" pitchFamily="34" charset="-122"/>
                <a:cs typeface="Calibri" pitchFamily="34" charset="-120"/>
              </a:rPr>
              <a:t>3 Failure Modes Injected:</a:t>
            </a:r>
            <a:endParaRPr lang="en-US" sz="1100" dirty="0"/>
          </a:p>
        </p:txBody>
      </p:sp>
      <p:sp>
        <p:nvSpPr>
          <p:cNvPr id="30" name="Text 28"/>
          <p:cNvSpPr/>
          <p:nvPr/>
        </p:nvSpPr>
        <p:spPr>
          <a:xfrm>
            <a:off x="4800600" y="4096512"/>
            <a:ext cx="4206240" cy="2011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Overheat — temperature ramp + spike</a:t>
            </a:r>
            <a:endParaRPr lang="en-US" sz="1050" dirty="0"/>
          </a:p>
        </p:txBody>
      </p:sp>
      <p:sp>
        <p:nvSpPr>
          <p:cNvPr id="31" name="Shape 29"/>
          <p:cNvSpPr/>
          <p:nvPr/>
        </p:nvSpPr>
        <p:spPr>
          <a:xfrm>
            <a:off x="4700016" y="4133088"/>
            <a:ext cx="82296" cy="82296"/>
          </a:xfrm>
          <a:prstGeom prst="ellipse">
            <a:avLst/>
          </a:prstGeom>
          <a:solidFill>
            <a:srgbClr val="0EA5E9"/>
          </a:solidFill>
          <a:ln w="12700">
            <a:solidFill>
              <a:srgbClr val="0EA5E9"/>
            </a:solidFill>
            <a:prstDash val="solid"/>
          </a:ln>
        </p:spPr>
      </p:sp>
      <p:sp>
        <p:nvSpPr>
          <p:cNvPr id="32" name="Text 30"/>
          <p:cNvSpPr/>
          <p:nvPr/>
        </p:nvSpPr>
        <p:spPr>
          <a:xfrm>
            <a:off x="4800600" y="4297680"/>
            <a:ext cx="4206240" cy="2011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Bearing Wear — vibration rise + RPM drop</a:t>
            </a:r>
            <a:endParaRPr lang="en-US" sz="1050" dirty="0"/>
          </a:p>
        </p:txBody>
      </p:sp>
      <p:sp>
        <p:nvSpPr>
          <p:cNvPr id="33" name="Shape 31"/>
          <p:cNvSpPr/>
          <p:nvPr/>
        </p:nvSpPr>
        <p:spPr>
          <a:xfrm>
            <a:off x="4700016" y="4334256"/>
            <a:ext cx="82296" cy="82296"/>
          </a:xfrm>
          <a:prstGeom prst="ellipse">
            <a:avLst/>
          </a:prstGeom>
          <a:solidFill>
            <a:srgbClr val="0EA5E9"/>
          </a:solidFill>
          <a:ln w="12700">
            <a:solidFill>
              <a:srgbClr val="0EA5E9"/>
            </a:solidFill>
            <a:prstDash val="solid"/>
          </a:ln>
        </p:spPr>
      </p:sp>
      <p:sp>
        <p:nvSpPr>
          <p:cNvPr id="34" name="Text 32"/>
          <p:cNvSpPr/>
          <p:nvPr/>
        </p:nvSpPr>
        <p:spPr>
          <a:xfrm>
            <a:off x="4800600" y="4498848"/>
            <a:ext cx="4206240" cy="201168"/>
          </a:xfrm>
          <a:prstGeom prst="rect">
            <a:avLst/>
          </a:prstGeom>
          <a:noFill/>
          <a:ln/>
        </p:spPr>
        <p:txBody>
          <a:bodyPr wrap="square" rtlCol="0" anchor="ctr"/>
          <a:lstStyle/>
          <a:p>
            <a:pPr indent="0" marL="0">
              <a:buNone/>
            </a:pPr>
            <a:r>
              <a:rPr lang="en-US" sz="1050" dirty="0">
                <a:solidFill>
                  <a:srgbClr val="E2E8F0"/>
                </a:solidFill>
                <a:latin typeface="Calibri" pitchFamily="34" charset="0"/>
                <a:ea typeface="Calibri" pitchFamily="34" charset="-122"/>
                <a:cs typeface="Calibri" pitchFamily="34" charset="-120"/>
              </a:rPr>
              <a:t>Pressure Drop — rapid pressure fall</a:t>
            </a:r>
            <a:endParaRPr lang="en-US" sz="1050" dirty="0"/>
          </a:p>
        </p:txBody>
      </p:sp>
      <p:sp>
        <p:nvSpPr>
          <p:cNvPr id="35" name="Shape 33"/>
          <p:cNvSpPr/>
          <p:nvPr/>
        </p:nvSpPr>
        <p:spPr>
          <a:xfrm>
            <a:off x="4700016" y="4535424"/>
            <a:ext cx="82296" cy="82296"/>
          </a:xfrm>
          <a:prstGeom prst="ellipse">
            <a:avLst/>
          </a:prstGeom>
          <a:solidFill>
            <a:srgbClr val="0EA5E9"/>
          </a:solidFill>
          <a:ln w="12700">
            <a:solidFill>
              <a:srgbClr val="0EA5E9"/>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ARCHITECTURE DECISION</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a Transformer?</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61872"/>
            <a:ext cx="2743200" cy="35661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61872"/>
            <a:ext cx="2743200" cy="64008"/>
          </a:xfrm>
          <a:prstGeom prst="rect">
            <a:avLst/>
          </a:prstGeom>
          <a:solidFill>
            <a:srgbClr val="94A3B8"/>
          </a:solidFill>
          <a:ln w="12700">
            <a:solidFill>
              <a:srgbClr val="94A3B8"/>
            </a:solidFill>
            <a:prstDash val="solid"/>
          </a:ln>
        </p:spPr>
      </p:sp>
      <p:pic>
        <p:nvPicPr>
          <p:cNvPr id="7" name="Image 0" descr="preencoded.png">    </p:cNvPr>
          <p:cNvPicPr>
            <a:picLocks noChangeAspect="1"/>
          </p:cNvPicPr>
          <p:nvPr/>
        </p:nvPicPr>
        <p:blipFill>
          <a:blip r:embed="rId1"/>
          <a:stretch>
            <a:fillRect/>
          </a:stretch>
        </p:blipFill>
        <p:spPr>
          <a:xfrm>
            <a:off x="475488" y="1389888"/>
            <a:ext cx="347472" cy="347472"/>
          </a:xfrm>
          <a:prstGeom prst="rect">
            <a:avLst/>
          </a:prstGeom>
        </p:spPr>
      </p:pic>
      <p:sp>
        <p:nvSpPr>
          <p:cNvPr id="8" name="Text 5"/>
          <p:cNvSpPr/>
          <p:nvPr/>
        </p:nvSpPr>
        <p:spPr>
          <a:xfrm>
            <a:off x="877824" y="1417320"/>
            <a:ext cx="210312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Classical ML</a:t>
            </a:r>
            <a:endParaRPr lang="en-US" sz="1500" dirty="0"/>
          </a:p>
        </p:txBody>
      </p:sp>
      <p:sp>
        <p:nvSpPr>
          <p:cNvPr id="9" name="Text 6"/>
          <p:cNvSpPr/>
          <p:nvPr/>
        </p:nvSpPr>
        <p:spPr>
          <a:xfrm>
            <a:off x="493776" y="1883664"/>
            <a:ext cx="2468880" cy="22860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Advantages</a:t>
            </a:r>
            <a:endParaRPr lang="en-US" sz="1000" dirty="0"/>
          </a:p>
        </p:txBody>
      </p:sp>
      <p:sp>
        <p:nvSpPr>
          <p:cNvPr id="10" name="Shape 7"/>
          <p:cNvSpPr/>
          <p:nvPr/>
        </p:nvSpPr>
        <p:spPr>
          <a:xfrm>
            <a:off x="493776" y="2157984"/>
            <a:ext cx="91440" cy="91440"/>
          </a:xfrm>
          <a:prstGeom prst="ellipse">
            <a:avLst/>
          </a:prstGeom>
          <a:solidFill>
            <a:srgbClr val="10B981"/>
          </a:solidFill>
          <a:ln w="12700">
            <a:solidFill>
              <a:srgbClr val="10B981"/>
            </a:solidFill>
            <a:prstDash val="solid"/>
          </a:ln>
        </p:spPr>
      </p:sp>
      <p:sp>
        <p:nvSpPr>
          <p:cNvPr id="11" name="Text 8"/>
          <p:cNvSpPr/>
          <p:nvPr/>
        </p:nvSpPr>
        <p:spPr>
          <a:xfrm>
            <a:off x="640080" y="213055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Fast to train</a:t>
            </a:r>
            <a:endParaRPr lang="en-US" sz="1100" dirty="0"/>
          </a:p>
        </p:txBody>
      </p:sp>
      <p:sp>
        <p:nvSpPr>
          <p:cNvPr id="12" name="Shape 9"/>
          <p:cNvSpPr/>
          <p:nvPr/>
        </p:nvSpPr>
        <p:spPr>
          <a:xfrm>
            <a:off x="493776" y="2478024"/>
            <a:ext cx="91440" cy="91440"/>
          </a:xfrm>
          <a:prstGeom prst="ellipse">
            <a:avLst/>
          </a:prstGeom>
          <a:solidFill>
            <a:srgbClr val="10B981"/>
          </a:solidFill>
          <a:ln w="12700">
            <a:solidFill>
              <a:srgbClr val="10B981"/>
            </a:solidFill>
            <a:prstDash val="solid"/>
          </a:ln>
        </p:spPr>
      </p:sp>
      <p:sp>
        <p:nvSpPr>
          <p:cNvPr id="13" name="Text 10"/>
          <p:cNvSpPr/>
          <p:nvPr/>
        </p:nvSpPr>
        <p:spPr>
          <a:xfrm>
            <a:off x="640080" y="245059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Interpretable</a:t>
            </a:r>
            <a:endParaRPr lang="en-US" sz="1100" dirty="0"/>
          </a:p>
        </p:txBody>
      </p:sp>
      <p:sp>
        <p:nvSpPr>
          <p:cNvPr id="14" name="Shape 11"/>
          <p:cNvSpPr/>
          <p:nvPr/>
        </p:nvSpPr>
        <p:spPr>
          <a:xfrm>
            <a:off x="493776" y="2798064"/>
            <a:ext cx="91440" cy="91440"/>
          </a:xfrm>
          <a:prstGeom prst="ellipse">
            <a:avLst/>
          </a:prstGeom>
          <a:solidFill>
            <a:srgbClr val="10B981"/>
          </a:solidFill>
          <a:ln w="12700">
            <a:solidFill>
              <a:srgbClr val="10B981"/>
            </a:solidFill>
            <a:prstDash val="solid"/>
          </a:ln>
        </p:spPr>
      </p:sp>
      <p:sp>
        <p:nvSpPr>
          <p:cNvPr id="15" name="Text 12"/>
          <p:cNvSpPr/>
          <p:nvPr/>
        </p:nvSpPr>
        <p:spPr>
          <a:xfrm>
            <a:off x="640080" y="277063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Works on small data</a:t>
            </a:r>
            <a:endParaRPr lang="en-US" sz="1100" dirty="0"/>
          </a:p>
        </p:txBody>
      </p:sp>
      <p:sp>
        <p:nvSpPr>
          <p:cNvPr id="16" name="Text 13"/>
          <p:cNvSpPr/>
          <p:nvPr/>
        </p:nvSpPr>
        <p:spPr>
          <a:xfrm>
            <a:off x="493776" y="3255264"/>
            <a:ext cx="2468880" cy="228600"/>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Limitations</a:t>
            </a:r>
            <a:endParaRPr lang="en-US" sz="1000" dirty="0"/>
          </a:p>
        </p:txBody>
      </p:sp>
      <p:sp>
        <p:nvSpPr>
          <p:cNvPr id="17" name="Shape 14"/>
          <p:cNvSpPr/>
          <p:nvPr/>
        </p:nvSpPr>
        <p:spPr>
          <a:xfrm>
            <a:off x="493776" y="3547872"/>
            <a:ext cx="91440" cy="91440"/>
          </a:xfrm>
          <a:prstGeom prst="ellipse">
            <a:avLst/>
          </a:prstGeom>
          <a:solidFill>
            <a:srgbClr val="F43F5E"/>
          </a:solidFill>
          <a:ln w="12700">
            <a:solidFill>
              <a:srgbClr val="F43F5E"/>
            </a:solidFill>
            <a:prstDash val="solid"/>
          </a:ln>
        </p:spPr>
      </p:sp>
      <p:sp>
        <p:nvSpPr>
          <p:cNvPr id="18" name="Text 15"/>
          <p:cNvSpPr/>
          <p:nvPr/>
        </p:nvSpPr>
        <p:spPr>
          <a:xfrm>
            <a:off x="640080" y="352044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Needs manual features</a:t>
            </a:r>
            <a:endParaRPr lang="en-US" sz="1100" dirty="0"/>
          </a:p>
        </p:txBody>
      </p:sp>
      <p:sp>
        <p:nvSpPr>
          <p:cNvPr id="19" name="Shape 16"/>
          <p:cNvSpPr/>
          <p:nvPr/>
        </p:nvSpPr>
        <p:spPr>
          <a:xfrm>
            <a:off x="493776" y="3822192"/>
            <a:ext cx="91440" cy="91440"/>
          </a:xfrm>
          <a:prstGeom prst="ellipse">
            <a:avLst/>
          </a:prstGeom>
          <a:solidFill>
            <a:srgbClr val="F43F5E"/>
          </a:solidFill>
          <a:ln w="12700">
            <a:solidFill>
              <a:srgbClr val="F43F5E"/>
            </a:solidFill>
            <a:prstDash val="solid"/>
          </a:ln>
        </p:spPr>
      </p:sp>
      <p:sp>
        <p:nvSpPr>
          <p:cNvPr id="20" name="Text 17"/>
          <p:cNvSpPr/>
          <p:nvPr/>
        </p:nvSpPr>
        <p:spPr>
          <a:xfrm>
            <a:off x="640080" y="379476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No temporal order</a:t>
            </a:r>
            <a:endParaRPr lang="en-US" sz="1100" dirty="0"/>
          </a:p>
        </p:txBody>
      </p:sp>
      <p:sp>
        <p:nvSpPr>
          <p:cNvPr id="21" name="Shape 18"/>
          <p:cNvSpPr/>
          <p:nvPr/>
        </p:nvSpPr>
        <p:spPr>
          <a:xfrm>
            <a:off x="493776" y="4462272"/>
            <a:ext cx="2487168" cy="274320"/>
          </a:xfrm>
          <a:prstGeom prst="rect">
            <a:avLst/>
          </a:prstGeom>
          <a:solidFill>
            <a:srgbClr val="F43F5E">
              <a:alpha val="18000"/>
            </a:srgbClr>
          </a:solidFill>
          <a:ln w="10160">
            <a:solidFill>
              <a:srgbClr val="F43F5E"/>
            </a:solidFill>
            <a:prstDash val="solid"/>
          </a:ln>
        </p:spPr>
      </p:sp>
      <p:sp>
        <p:nvSpPr>
          <p:cNvPr id="22" name="Text 19"/>
          <p:cNvSpPr/>
          <p:nvPr/>
        </p:nvSpPr>
        <p:spPr>
          <a:xfrm>
            <a:off x="493776" y="4462272"/>
            <a:ext cx="2487168" cy="274320"/>
          </a:xfrm>
          <a:prstGeom prst="rect">
            <a:avLst/>
          </a:prstGeom>
          <a:noFill/>
          <a:ln/>
        </p:spPr>
        <p:txBody>
          <a:bodyPr wrap="square" rtlCol="0" anchor="ctr"/>
          <a:lstStyle/>
          <a:p>
            <a:pPr algn="ctr" indent="0" marL="0">
              <a:buNone/>
            </a:pPr>
            <a:r>
              <a:rPr lang="en-US" sz="1100" b="1" dirty="0">
                <a:solidFill>
                  <a:srgbClr val="F43F5E"/>
                </a:solidFill>
                <a:latin typeface="Calibri" pitchFamily="34" charset="0"/>
                <a:ea typeface="Calibri" pitchFamily="34" charset="-122"/>
                <a:cs typeface="Calibri" pitchFamily="34" charset="-120"/>
              </a:rPr>
              <a:t>Rejected</a:t>
            </a:r>
            <a:endParaRPr lang="en-US" sz="1100" dirty="0"/>
          </a:p>
        </p:txBody>
      </p:sp>
      <p:sp>
        <p:nvSpPr>
          <p:cNvPr id="23" name="Shape 20"/>
          <p:cNvSpPr/>
          <p:nvPr/>
        </p:nvSpPr>
        <p:spPr>
          <a:xfrm>
            <a:off x="3246120" y="1261872"/>
            <a:ext cx="2743200" cy="35661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4" name="Shape 21"/>
          <p:cNvSpPr/>
          <p:nvPr/>
        </p:nvSpPr>
        <p:spPr>
          <a:xfrm>
            <a:off x="3246120" y="1261872"/>
            <a:ext cx="2743200" cy="64008"/>
          </a:xfrm>
          <a:prstGeom prst="rect">
            <a:avLst/>
          </a:prstGeom>
          <a:solidFill>
            <a:srgbClr val="F59E0B"/>
          </a:solidFill>
          <a:ln w="12700">
            <a:solidFill>
              <a:srgbClr val="F59E0B"/>
            </a:solidFill>
            <a:prstDash val="solid"/>
          </a:ln>
        </p:spPr>
      </p:sp>
      <p:pic>
        <p:nvPicPr>
          <p:cNvPr id="25" name="Image 1" descr="preencoded.png">    </p:cNvPr>
          <p:cNvPicPr>
            <a:picLocks noChangeAspect="1"/>
          </p:cNvPicPr>
          <p:nvPr/>
        </p:nvPicPr>
        <p:blipFill>
          <a:blip r:embed="rId2"/>
          <a:stretch>
            <a:fillRect/>
          </a:stretch>
        </p:blipFill>
        <p:spPr>
          <a:xfrm>
            <a:off x="3355848" y="1389888"/>
            <a:ext cx="347472" cy="347472"/>
          </a:xfrm>
          <a:prstGeom prst="rect">
            <a:avLst/>
          </a:prstGeom>
        </p:spPr>
      </p:pic>
      <p:sp>
        <p:nvSpPr>
          <p:cNvPr id="26" name="Text 22"/>
          <p:cNvSpPr/>
          <p:nvPr/>
        </p:nvSpPr>
        <p:spPr>
          <a:xfrm>
            <a:off x="3758184" y="1417320"/>
            <a:ext cx="210312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LSTM</a:t>
            </a:r>
            <a:endParaRPr lang="en-US" sz="1500" dirty="0"/>
          </a:p>
        </p:txBody>
      </p:sp>
      <p:sp>
        <p:nvSpPr>
          <p:cNvPr id="27" name="Text 23"/>
          <p:cNvSpPr/>
          <p:nvPr/>
        </p:nvSpPr>
        <p:spPr>
          <a:xfrm>
            <a:off x="3374136" y="1883664"/>
            <a:ext cx="2468880" cy="22860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Advantages</a:t>
            </a:r>
            <a:endParaRPr lang="en-US" sz="1000" dirty="0"/>
          </a:p>
        </p:txBody>
      </p:sp>
      <p:sp>
        <p:nvSpPr>
          <p:cNvPr id="28" name="Shape 24"/>
          <p:cNvSpPr/>
          <p:nvPr/>
        </p:nvSpPr>
        <p:spPr>
          <a:xfrm>
            <a:off x="3374136" y="2157984"/>
            <a:ext cx="91440" cy="91440"/>
          </a:xfrm>
          <a:prstGeom prst="ellipse">
            <a:avLst/>
          </a:prstGeom>
          <a:solidFill>
            <a:srgbClr val="10B981"/>
          </a:solidFill>
          <a:ln w="12700">
            <a:solidFill>
              <a:srgbClr val="10B981"/>
            </a:solidFill>
            <a:prstDash val="solid"/>
          </a:ln>
        </p:spPr>
      </p:sp>
      <p:sp>
        <p:nvSpPr>
          <p:cNvPr id="29" name="Text 25"/>
          <p:cNvSpPr/>
          <p:nvPr/>
        </p:nvSpPr>
        <p:spPr>
          <a:xfrm>
            <a:off x="3520440" y="213055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Temporal sequence learning</a:t>
            </a:r>
            <a:endParaRPr lang="en-US" sz="1100" dirty="0"/>
          </a:p>
        </p:txBody>
      </p:sp>
      <p:sp>
        <p:nvSpPr>
          <p:cNvPr id="30" name="Shape 26"/>
          <p:cNvSpPr/>
          <p:nvPr/>
        </p:nvSpPr>
        <p:spPr>
          <a:xfrm>
            <a:off x="3374136" y="2478024"/>
            <a:ext cx="91440" cy="91440"/>
          </a:xfrm>
          <a:prstGeom prst="ellipse">
            <a:avLst/>
          </a:prstGeom>
          <a:solidFill>
            <a:srgbClr val="10B981"/>
          </a:solidFill>
          <a:ln w="12700">
            <a:solidFill>
              <a:srgbClr val="10B981"/>
            </a:solidFill>
            <a:prstDash val="solid"/>
          </a:ln>
        </p:spPr>
      </p:sp>
      <p:sp>
        <p:nvSpPr>
          <p:cNvPr id="31" name="Text 27"/>
          <p:cNvSpPr/>
          <p:nvPr/>
        </p:nvSpPr>
        <p:spPr>
          <a:xfrm>
            <a:off x="3520440" y="245059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Moderate data needs</a:t>
            </a:r>
            <a:endParaRPr lang="en-US" sz="1100" dirty="0"/>
          </a:p>
        </p:txBody>
      </p:sp>
      <p:sp>
        <p:nvSpPr>
          <p:cNvPr id="32" name="Text 28"/>
          <p:cNvSpPr/>
          <p:nvPr/>
        </p:nvSpPr>
        <p:spPr>
          <a:xfrm>
            <a:off x="3374136" y="2935224"/>
            <a:ext cx="2468880" cy="228600"/>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Limitations</a:t>
            </a:r>
            <a:endParaRPr lang="en-US" sz="1000" dirty="0"/>
          </a:p>
        </p:txBody>
      </p:sp>
      <p:sp>
        <p:nvSpPr>
          <p:cNvPr id="33" name="Shape 29"/>
          <p:cNvSpPr/>
          <p:nvPr/>
        </p:nvSpPr>
        <p:spPr>
          <a:xfrm>
            <a:off x="3374136" y="3227832"/>
            <a:ext cx="91440" cy="91440"/>
          </a:xfrm>
          <a:prstGeom prst="ellipse">
            <a:avLst/>
          </a:prstGeom>
          <a:solidFill>
            <a:srgbClr val="F43F5E"/>
          </a:solidFill>
          <a:ln w="12700">
            <a:solidFill>
              <a:srgbClr val="F43F5E"/>
            </a:solidFill>
            <a:prstDash val="solid"/>
          </a:ln>
        </p:spPr>
      </p:sp>
      <p:sp>
        <p:nvSpPr>
          <p:cNvPr id="34" name="Text 30"/>
          <p:cNvSpPr/>
          <p:nvPr/>
        </p:nvSpPr>
        <p:spPr>
          <a:xfrm>
            <a:off x="3520440" y="320040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Sequential — slow</a:t>
            </a:r>
            <a:endParaRPr lang="en-US" sz="1100" dirty="0"/>
          </a:p>
        </p:txBody>
      </p:sp>
      <p:sp>
        <p:nvSpPr>
          <p:cNvPr id="35" name="Shape 31"/>
          <p:cNvSpPr/>
          <p:nvPr/>
        </p:nvSpPr>
        <p:spPr>
          <a:xfrm>
            <a:off x="3374136" y="3502152"/>
            <a:ext cx="91440" cy="91440"/>
          </a:xfrm>
          <a:prstGeom prst="ellipse">
            <a:avLst/>
          </a:prstGeom>
          <a:solidFill>
            <a:srgbClr val="F43F5E"/>
          </a:solidFill>
          <a:ln w="12700">
            <a:solidFill>
              <a:srgbClr val="F43F5E"/>
            </a:solidFill>
            <a:prstDash val="solid"/>
          </a:ln>
        </p:spPr>
      </p:sp>
      <p:sp>
        <p:nvSpPr>
          <p:cNvPr id="36" name="Text 32"/>
          <p:cNvSpPr/>
          <p:nvPr/>
        </p:nvSpPr>
        <p:spPr>
          <a:xfrm>
            <a:off x="3520440" y="347472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Gradient decay over long windows</a:t>
            </a:r>
            <a:endParaRPr lang="en-US" sz="1100" dirty="0"/>
          </a:p>
        </p:txBody>
      </p:sp>
      <p:sp>
        <p:nvSpPr>
          <p:cNvPr id="37" name="Shape 33"/>
          <p:cNvSpPr/>
          <p:nvPr/>
        </p:nvSpPr>
        <p:spPr>
          <a:xfrm>
            <a:off x="3374136" y="4462272"/>
            <a:ext cx="2487168" cy="274320"/>
          </a:xfrm>
          <a:prstGeom prst="rect">
            <a:avLst/>
          </a:prstGeom>
          <a:solidFill>
            <a:srgbClr val="F59E0B">
              <a:alpha val="18000"/>
            </a:srgbClr>
          </a:solidFill>
          <a:ln w="10160">
            <a:solidFill>
              <a:srgbClr val="F59E0B"/>
            </a:solidFill>
            <a:prstDash val="solid"/>
          </a:ln>
        </p:spPr>
      </p:sp>
      <p:sp>
        <p:nvSpPr>
          <p:cNvPr id="38" name="Text 34"/>
          <p:cNvSpPr/>
          <p:nvPr/>
        </p:nvSpPr>
        <p:spPr>
          <a:xfrm>
            <a:off x="3374136" y="4462272"/>
            <a:ext cx="2487168" cy="274320"/>
          </a:xfrm>
          <a:prstGeom prst="rect">
            <a:avLst/>
          </a:prstGeom>
          <a:noFill/>
          <a:ln/>
        </p:spPr>
        <p:txBody>
          <a:bodyPr wrap="square"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Baseline only</a:t>
            </a:r>
            <a:endParaRPr lang="en-US" sz="1100" dirty="0"/>
          </a:p>
        </p:txBody>
      </p:sp>
      <p:sp>
        <p:nvSpPr>
          <p:cNvPr id="39" name="Shape 35"/>
          <p:cNvSpPr/>
          <p:nvPr/>
        </p:nvSpPr>
        <p:spPr>
          <a:xfrm>
            <a:off x="6126480" y="1261872"/>
            <a:ext cx="2743200" cy="35661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40" name="Shape 36"/>
          <p:cNvSpPr/>
          <p:nvPr/>
        </p:nvSpPr>
        <p:spPr>
          <a:xfrm>
            <a:off x="6126480" y="1261872"/>
            <a:ext cx="2743200" cy="64008"/>
          </a:xfrm>
          <a:prstGeom prst="rect">
            <a:avLst/>
          </a:prstGeom>
          <a:solidFill>
            <a:srgbClr val="0EA5E9"/>
          </a:solidFill>
          <a:ln w="12700">
            <a:solidFill>
              <a:srgbClr val="0EA5E9"/>
            </a:solidFill>
            <a:prstDash val="solid"/>
          </a:ln>
        </p:spPr>
      </p:sp>
      <p:pic>
        <p:nvPicPr>
          <p:cNvPr id="41" name="Image 2" descr="preencoded.png">    </p:cNvPr>
          <p:cNvPicPr>
            <a:picLocks noChangeAspect="1"/>
          </p:cNvPicPr>
          <p:nvPr/>
        </p:nvPicPr>
        <p:blipFill>
          <a:blip r:embed="rId3"/>
          <a:stretch>
            <a:fillRect/>
          </a:stretch>
        </p:blipFill>
        <p:spPr>
          <a:xfrm>
            <a:off x="6236208" y="1389888"/>
            <a:ext cx="347472" cy="347472"/>
          </a:xfrm>
          <a:prstGeom prst="rect">
            <a:avLst/>
          </a:prstGeom>
        </p:spPr>
      </p:pic>
      <p:sp>
        <p:nvSpPr>
          <p:cNvPr id="42" name="Text 37"/>
          <p:cNvSpPr/>
          <p:nvPr/>
        </p:nvSpPr>
        <p:spPr>
          <a:xfrm>
            <a:off x="6638544" y="1417320"/>
            <a:ext cx="210312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PatchTST</a:t>
            </a:r>
            <a:endParaRPr lang="en-US" sz="1500" dirty="0"/>
          </a:p>
        </p:txBody>
      </p:sp>
      <p:sp>
        <p:nvSpPr>
          <p:cNvPr id="43" name="Text 38"/>
          <p:cNvSpPr/>
          <p:nvPr/>
        </p:nvSpPr>
        <p:spPr>
          <a:xfrm>
            <a:off x="6254496" y="1883664"/>
            <a:ext cx="2468880" cy="22860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Advantages</a:t>
            </a:r>
            <a:endParaRPr lang="en-US" sz="1000" dirty="0"/>
          </a:p>
        </p:txBody>
      </p:sp>
      <p:sp>
        <p:nvSpPr>
          <p:cNvPr id="44" name="Shape 39"/>
          <p:cNvSpPr/>
          <p:nvPr/>
        </p:nvSpPr>
        <p:spPr>
          <a:xfrm>
            <a:off x="6254496" y="2157984"/>
            <a:ext cx="91440" cy="91440"/>
          </a:xfrm>
          <a:prstGeom prst="ellipse">
            <a:avLst/>
          </a:prstGeom>
          <a:solidFill>
            <a:srgbClr val="10B981"/>
          </a:solidFill>
          <a:ln w="12700">
            <a:solidFill>
              <a:srgbClr val="10B981"/>
            </a:solidFill>
            <a:prstDash val="solid"/>
          </a:ln>
        </p:spPr>
      </p:sp>
      <p:sp>
        <p:nvSpPr>
          <p:cNvPr id="45" name="Text 40"/>
          <p:cNvSpPr/>
          <p:nvPr/>
        </p:nvSpPr>
        <p:spPr>
          <a:xfrm>
            <a:off x="6400800" y="213055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Parallel self-attention</a:t>
            </a:r>
            <a:endParaRPr lang="en-US" sz="1100" dirty="0"/>
          </a:p>
        </p:txBody>
      </p:sp>
      <p:sp>
        <p:nvSpPr>
          <p:cNvPr id="46" name="Shape 41"/>
          <p:cNvSpPr/>
          <p:nvPr/>
        </p:nvSpPr>
        <p:spPr>
          <a:xfrm>
            <a:off x="6254496" y="2478024"/>
            <a:ext cx="91440" cy="91440"/>
          </a:xfrm>
          <a:prstGeom prst="ellipse">
            <a:avLst/>
          </a:prstGeom>
          <a:solidFill>
            <a:srgbClr val="10B981"/>
          </a:solidFill>
          <a:ln w="12700">
            <a:solidFill>
              <a:srgbClr val="10B981"/>
            </a:solidFill>
            <a:prstDash val="solid"/>
          </a:ln>
        </p:spPr>
      </p:sp>
      <p:sp>
        <p:nvSpPr>
          <p:cNvPr id="47" name="Text 42"/>
          <p:cNvSpPr/>
          <p:nvPr/>
        </p:nvSpPr>
        <p:spPr>
          <a:xfrm>
            <a:off x="6400800" y="245059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Long-range dependencies</a:t>
            </a:r>
            <a:endParaRPr lang="en-US" sz="1100" dirty="0"/>
          </a:p>
        </p:txBody>
      </p:sp>
      <p:sp>
        <p:nvSpPr>
          <p:cNvPr id="48" name="Shape 43"/>
          <p:cNvSpPr/>
          <p:nvPr/>
        </p:nvSpPr>
        <p:spPr>
          <a:xfrm>
            <a:off x="6254496" y="2798064"/>
            <a:ext cx="91440" cy="91440"/>
          </a:xfrm>
          <a:prstGeom prst="ellipse">
            <a:avLst/>
          </a:prstGeom>
          <a:solidFill>
            <a:srgbClr val="10B981"/>
          </a:solidFill>
          <a:ln w="12700">
            <a:solidFill>
              <a:srgbClr val="10B981"/>
            </a:solidFill>
            <a:prstDash val="solid"/>
          </a:ln>
        </p:spPr>
      </p:sp>
      <p:sp>
        <p:nvSpPr>
          <p:cNvPr id="49" name="Text 44"/>
          <p:cNvSpPr/>
          <p:nvPr/>
        </p:nvSpPr>
        <p:spPr>
          <a:xfrm>
            <a:off x="6400800" y="277063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Patch tokens = richer context</a:t>
            </a:r>
            <a:endParaRPr lang="en-US" sz="1100" dirty="0"/>
          </a:p>
        </p:txBody>
      </p:sp>
      <p:sp>
        <p:nvSpPr>
          <p:cNvPr id="50" name="Shape 45"/>
          <p:cNvSpPr/>
          <p:nvPr/>
        </p:nvSpPr>
        <p:spPr>
          <a:xfrm>
            <a:off x="6254496" y="3118104"/>
            <a:ext cx="91440" cy="91440"/>
          </a:xfrm>
          <a:prstGeom prst="ellipse">
            <a:avLst/>
          </a:prstGeom>
          <a:solidFill>
            <a:srgbClr val="10B981"/>
          </a:solidFill>
          <a:ln w="12700">
            <a:solidFill>
              <a:srgbClr val="10B981"/>
            </a:solidFill>
            <a:prstDash val="solid"/>
          </a:ln>
        </p:spPr>
      </p:sp>
      <p:sp>
        <p:nvSpPr>
          <p:cNvPr id="51" name="Text 46"/>
          <p:cNvSpPr/>
          <p:nvPr/>
        </p:nvSpPr>
        <p:spPr>
          <a:xfrm>
            <a:off x="6400800" y="3090672"/>
            <a:ext cx="2331720" cy="274320"/>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Inspectable attention weights</a:t>
            </a:r>
            <a:endParaRPr lang="en-US" sz="1100" dirty="0"/>
          </a:p>
        </p:txBody>
      </p:sp>
      <p:sp>
        <p:nvSpPr>
          <p:cNvPr id="52" name="Text 47"/>
          <p:cNvSpPr/>
          <p:nvPr/>
        </p:nvSpPr>
        <p:spPr>
          <a:xfrm>
            <a:off x="6254496" y="3575304"/>
            <a:ext cx="2468880" cy="228600"/>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Limitations</a:t>
            </a:r>
            <a:endParaRPr lang="en-US" sz="1000" dirty="0"/>
          </a:p>
        </p:txBody>
      </p:sp>
      <p:sp>
        <p:nvSpPr>
          <p:cNvPr id="53" name="Shape 48"/>
          <p:cNvSpPr/>
          <p:nvPr/>
        </p:nvSpPr>
        <p:spPr>
          <a:xfrm>
            <a:off x="6254496" y="3867912"/>
            <a:ext cx="91440" cy="91440"/>
          </a:xfrm>
          <a:prstGeom prst="ellipse">
            <a:avLst/>
          </a:prstGeom>
          <a:solidFill>
            <a:srgbClr val="F43F5E"/>
          </a:solidFill>
          <a:ln w="12700">
            <a:solidFill>
              <a:srgbClr val="F43F5E"/>
            </a:solidFill>
            <a:prstDash val="solid"/>
          </a:ln>
        </p:spPr>
      </p:sp>
      <p:sp>
        <p:nvSpPr>
          <p:cNvPr id="54" name="Text 49"/>
          <p:cNvSpPr/>
          <p:nvPr/>
        </p:nvSpPr>
        <p:spPr>
          <a:xfrm>
            <a:off x="6400800" y="3840480"/>
            <a:ext cx="2331720" cy="256032"/>
          </a:xfrm>
          <a:prstGeom prst="rect">
            <a:avLst/>
          </a:prstGeom>
          <a:noFill/>
          <a:ln/>
        </p:spPr>
        <p:txBody>
          <a:bodyPr wrap="square" rtlCol="0" anchor="ctr"/>
          <a:lstStyle/>
          <a:p>
            <a:pPr indent="0" marL="0">
              <a:buNone/>
            </a:pPr>
            <a:r>
              <a:rPr lang="en-US" sz="1100" dirty="0">
                <a:solidFill>
                  <a:srgbClr val="E2E8F0"/>
                </a:solidFill>
                <a:latin typeface="Calibri" pitchFamily="34" charset="0"/>
                <a:ea typeface="Calibri" pitchFamily="34" charset="-122"/>
                <a:cs typeface="Calibri" pitchFamily="34" charset="-120"/>
              </a:rPr>
              <a:t>Needs class balancing</a:t>
            </a:r>
            <a:endParaRPr lang="en-US" sz="1100" dirty="0"/>
          </a:p>
        </p:txBody>
      </p:sp>
      <p:sp>
        <p:nvSpPr>
          <p:cNvPr id="55" name="Shape 50"/>
          <p:cNvSpPr/>
          <p:nvPr/>
        </p:nvSpPr>
        <p:spPr>
          <a:xfrm>
            <a:off x="6254496" y="4462272"/>
            <a:ext cx="2487168" cy="274320"/>
          </a:xfrm>
          <a:prstGeom prst="rect">
            <a:avLst/>
          </a:prstGeom>
          <a:solidFill>
            <a:srgbClr val="10B981">
              <a:alpha val="18000"/>
            </a:srgbClr>
          </a:solidFill>
          <a:ln w="10160">
            <a:solidFill>
              <a:srgbClr val="10B981"/>
            </a:solidFill>
            <a:prstDash val="solid"/>
          </a:ln>
        </p:spPr>
      </p:sp>
      <p:sp>
        <p:nvSpPr>
          <p:cNvPr id="56" name="Text 51"/>
          <p:cNvSpPr/>
          <p:nvPr/>
        </p:nvSpPr>
        <p:spPr>
          <a:xfrm>
            <a:off x="6254496" y="4462272"/>
            <a:ext cx="2487168" cy="274320"/>
          </a:xfrm>
          <a:prstGeom prst="rect">
            <a:avLst/>
          </a:prstGeom>
          <a:noFill/>
          <a:ln/>
        </p:spPr>
        <p:txBody>
          <a:bodyPr wrap="square"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Selected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OUR MODEL</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PatchTST Architecture</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98448"/>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98448"/>
            <a:ext cx="54864" cy="493776"/>
          </a:xfrm>
          <a:prstGeom prst="rect">
            <a:avLst/>
          </a:prstGeom>
          <a:solidFill>
            <a:srgbClr val="94A3B8"/>
          </a:solidFill>
          <a:ln w="12700">
            <a:solidFill>
              <a:srgbClr val="94A3B8"/>
            </a:solidFill>
            <a:prstDash val="solid"/>
          </a:ln>
        </p:spPr>
      </p:sp>
      <p:sp>
        <p:nvSpPr>
          <p:cNvPr id="7" name="Text 5"/>
          <p:cNvSpPr/>
          <p:nvPr/>
        </p:nvSpPr>
        <p:spPr>
          <a:xfrm>
            <a:off x="548640" y="1335024"/>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p>
        </p:txBody>
      </p:sp>
      <p:sp>
        <p:nvSpPr>
          <p:cNvPr id="8" name="Text 6"/>
          <p:cNvSpPr/>
          <p:nvPr/>
        </p:nvSpPr>
        <p:spPr>
          <a:xfrm>
            <a:off x="548640" y="1554480"/>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60 steps × 4 channels</a:t>
            </a:r>
            <a:endParaRPr lang="en-US" sz="1050" dirty="0"/>
          </a:p>
        </p:txBody>
      </p:sp>
      <p:sp>
        <p:nvSpPr>
          <p:cNvPr id="9" name="Shape 7"/>
          <p:cNvSpPr/>
          <p:nvPr/>
        </p:nvSpPr>
        <p:spPr>
          <a:xfrm>
            <a:off x="2194560" y="1792224"/>
            <a:ext cx="45720" cy="109728"/>
          </a:xfrm>
          <a:prstGeom prst="rect">
            <a:avLst/>
          </a:prstGeom>
          <a:solidFill>
            <a:srgbClr val="0EA5E9"/>
          </a:solidFill>
          <a:ln w="12700">
            <a:solidFill>
              <a:srgbClr val="0EA5E9"/>
            </a:solidFill>
            <a:prstDash val="solid"/>
          </a:ln>
        </p:spPr>
      </p:sp>
      <p:sp>
        <p:nvSpPr>
          <p:cNvPr id="10" name="Shape 8"/>
          <p:cNvSpPr/>
          <p:nvPr/>
        </p:nvSpPr>
        <p:spPr>
          <a:xfrm>
            <a:off x="365760" y="1901952"/>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1" name="Shape 9"/>
          <p:cNvSpPr/>
          <p:nvPr/>
        </p:nvSpPr>
        <p:spPr>
          <a:xfrm>
            <a:off x="365760" y="1901952"/>
            <a:ext cx="54864" cy="493776"/>
          </a:xfrm>
          <a:prstGeom prst="rect">
            <a:avLst/>
          </a:prstGeom>
          <a:solidFill>
            <a:srgbClr val="0EA5E9"/>
          </a:solidFill>
          <a:ln w="12700">
            <a:solidFill>
              <a:srgbClr val="0EA5E9"/>
            </a:solidFill>
            <a:prstDash val="solid"/>
          </a:ln>
        </p:spPr>
      </p:sp>
      <p:sp>
        <p:nvSpPr>
          <p:cNvPr id="12" name="Text 10"/>
          <p:cNvSpPr/>
          <p:nvPr/>
        </p:nvSpPr>
        <p:spPr>
          <a:xfrm>
            <a:off x="548640" y="1938528"/>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Patch Embedding</a:t>
            </a:r>
            <a:endParaRPr lang="en-US" sz="1200" dirty="0"/>
          </a:p>
        </p:txBody>
      </p:sp>
      <p:sp>
        <p:nvSpPr>
          <p:cNvPr id="13" name="Text 11"/>
          <p:cNvSpPr/>
          <p:nvPr/>
        </p:nvSpPr>
        <p:spPr>
          <a:xfrm>
            <a:off x="548640" y="2157984"/>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12 steps/patch → 5 patches</a:t>
            </a:r>
            <a:endParaRPr lang="en-US" sz="1050" dirty="0"/>
          </a:p>
        </p:txBody>
      </p:sp>
      <p:sp>
        <p:nvSpPr>
          <p:cNvPr id="14" name="Shape 12"/>
          <p:cNvSpPr/>
          <p:nvPr/>
        </p:nvSpPr>
        <p:spPr>
          <a:xfrm>
            <a:off x="2194560" y="2395728"/>
            <a:ext cx="45720" cy="109728"/>
          </a:xfrm>
          <a:prstGeom prst="rect">
            <a:avLst/>
          </a:prstGeom>
          <a:solidFill>
            <a:srgbClr val="0EA5E9"/>
          </a:solidFill>
          <a:ln w="12700">
            <a:solidFill>
              <a:srgbClr val="0EA5E9"/>
            </a:solidFill>
            <a:prstDash val="solid"/>
          </a:ln>
        </p:spPr>
      </p:sp>
      <p:sp>
        <p:nvSpPr>
          <p:cNvPr id="15" name="Shape 13"/>
          <p:cNvSpPr/>
          <p:nvPr/>
        </p:nvSpPr>
        <p:spPr>
          <a:xfrm>
            <a:off x="365760" y="2505456"/>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6" name="Shape 14"/>
          <p:cNvSpPr/>
          <p:nvPr/>
        </p:nvSpPr>
        <p:spPr>
          <a:xfrm>
            <a:off x="365760" y="2505456"/>
            <a:ext cx="54864" cy="493776"/>
          </a:xfrm>
          <a:prstGeom prst="rect">
            <a:avLst/>
          </a:prstGeom>
          <a:solidFill>
            <a:srgbClr val="0EA5E9"/>
          </a:solidFill>
          <a:ln w="12700">
            <a:solidFill>
              <a:srgbClr val="0EA5E9"/>
            </a:solidFill>
            <a:prstDash val="solid"/>
          </a:ln>
        </p:spPr>
      </p:sp>
      <p:sp>
        <p:nvSpPr>
          <p:cNvPr id="17" name="Text 15"/>
          <p:cNvSpPr/>
          <p:nvPr/>
        </p:nvSpPr>
        <p:spPr>
          <a:xfrm>
            <a:off x="548640" y="2542032"/>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Transformer Encoder</a:t>
            </a:r>
            <a:endParaRPr lang="en-US" sz="1200" dirty="0"/>
          </a:p>
        </p:txBody>
      </p:sp>
      <p:sp>
        <p:nvSpPr>
          <p:cNvPr id="18" name="Text 16"/>
          <p:cNvSpPr/>
          <p:nvPr/>
        </p:nvSpPr>
        <p:spPr>
          <a:xfrm>
            <a:off x="548640" y="2761488"/>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3 layers · 4 heads · d=64</a:t>
            </a:r>
            <a:endParaRPr lang="en-US" sz="1050" dirty="0"/>
          </a:p>
        </p:txBody>
      </p:sp>
      <p:sp>
        <p:nvSpPr>
          <p:cNvPr id="19" name="Shape 17"/>
          <p:cNvSpPr/>
          <p:nvPr/>
        </p:nvSpPr>
        <p:spPr>
          <a:xfrm>
            <a:off x="2194560" y="2999232"/>
            <a:ext cx="45720" cy="109728"/>
          </a:xfrm>
          <a:prstGeom prst="rect">
            <a:avLst/>
          </a:prstGeom>
          <a:solidFill>
            <a:srgbClr val="0EA5E9"/>
          </a:solidFill>
          <a:ln w="12700">
            <a:solidFill>
              <a:srgbClr val="0EA5E9"/>
            </a:solidFill>
            <a:prstDash val="solid"/>
          </a:ln>
        </p:spPr>
      </p:sp>
      <p:sp>
        <p:nvSpPr>
          <p:cNvPr id="20" name="Shape 18"/>
          <p:cNvSpPr/>
          <p:nvPr/>
        </p:nvSpPr>
        <p:spPr>
          <a:xfrm>
            <a:off x="365760" y="3108960"/>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1" name="Shape 19"/>
          <p:cNvSpPr/>
          <p:nvPr/>
        </p:nvSpPr>
        <p:spPr>
          <a:xfrm>
            <a:off x="365760" y="3108960"/>
            <a:ext cx="54864" cy="493776"/>
          </a:xfrm>
          <a:prstGeom prst="rect">
            <a:avLst/>
          </a:prstGeom>
          <a:solidFill>
            <a:srgbClr val="0284C7"/>
          </a:solidFill>
          <a:ln w="12700">
            <a:solidFill>
              <a:srgbClr val="0284C7"/>
            </a:solidFill>
            <a:prstDash val="solid"/>
          </a:ln>
        </p:spPr>
      </p:sp>
      <p:sp>
        <p:nvSpPr>
          <p:cNvPr id="22" name="Text 20"/>
          <p:cNvSpPr/>
          <p:nvPr/>
        </p:nvSpPr>
        <p:spPr>
          <a:xfrm>
            <a:off x="548640" y="3145536"/>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Mean Pooling</a:t>
            </a:r>
            <a:endParaRPr lang="en-US" sz="1200" dirty="0"/>
          </a:p>
        </p:txBody>
      </p:sp>
      <p:sp>
        <p:nvSpPr>
          <p:cNvPr id="23" name="Text 21"/>
          <p:cNvSpPr/>
          <p:nvPr/>
        </p:nvSpPr>
        <p:spPr>
          <a:xfrm>
            <a:off x="548640" y="3364992"/>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Aggregate patch representations</a:t>
            </a:r>
            <a:endParaRPr lang="en-US" sz="1050" dirty="0"/>
          </a:p>
        </p:txBody>
      </p:sp>
      <p:sp>
        <p:nvSpPr>
          <p:cNvPr id="24" name="Shape 22"/>
          <p:cNvSpPr/>
          <p:nvPr/>
        </p:nvSpPr>
        <p:spPr>
          <a:xfrm>
            <a:off x="2194560" y="3602736"/>
            <a:ext cx="45720" cy="109728"/>
          </a:xfrm>
          <a:prstGeom prst="rect">
            <a:avLst/>
          </a:prstGeom>
          <a:solidFill>
            <a:srgbClr val="0EA5E9"/>
          </a:solidFill>
          <a:ln w="12700">
            <a:solidFill>
              <a:srgbClr val="0EA5E9"/>
            </a:solidFill>
            <a:prstDash val="solid"/>
          </a:ln>
        </p:spPr>
      </p:sp>
      <p:sp>
        <p:nvSpPr>
          <p:cNvPr id="25" name="Shape 23"/>
          <p:cNvSpPr/>
          <p:nvPr/>
        </p:nvSpPr>
        <p:spPr>
          <a:xfrm>
            <a:off x="365760" y="3712464"/>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365760" y="3712464"/>
            <a:ext cx="54864" cy="493776"/>
          </a:xfrm>
          <a:prstGeom prst="rect">
            <a:avLst/>
          </a:prstGeom>
          <a:solidFill>
            <a:srgbClr val="0284C7"/>
          </a:solidFill>
          <a:ln w="12700">
            <a:solidFill>
              <a:srgbClr val="0284C7"/>
            </a:solidFill>
            <a:prstDash val="solid"/>
          </a:ln>
        </p:spPr>
      </p:sp>
      <p:sp>
        <p:nvSpPr>
          <p:cNvPr id="27" name="Text 25"/>
          <p:cNvSpPr/>
          <p:nvPr/>
        </p:nvSpPr>
        <p:spPr>
          <a:xfrm>
            <a:off x="548640" y="3749040"/>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Channel Merge</a:t>
            </a:r>
            <a:endParaRPr lang="en-US" sz="1200" dirty="0"/>
          </a:p>
        </p:txBody>
      </p:sp>
      <p:sp>
        <p:nvSpPr>
          <p:cNvPr id="28" name="Text 26"/>
          <p:cNvSpPr/>
          <p:nvPr/>
        </p:nvSpPr>
        <p:spPr>
          <a:xfrm>
            <a:off x="548640" y="3968496"/>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Concatenate all 4 channels</a:t>
            </a:r>
            <a:endParaRPr lang="en-US" sz="1050" dirty="0"/>
          </a:p>
        </p:txBody>
      </p:sp>
      <p:sp>
        <p:nvSpPr>
          <p:cNvPr id="29" name="Shape 27"/>
          <p:cNvSpPr/>
          <p:nvPr/>
        </p:nvSpPr>
        <p:spPr>
          <a:xfrm>
            <a:off x="2194560" y="4206240"/>
            <a:ext cx="45720" cy="109728"/>
          </a:xfrm>
          <a:prstGeom prst="rect">
            <a:avLst/>
          </a:prstGeom>
          <a:solidFill>
            <a:srgbClr val="0EA5E9"/>
          </a:solidFill>
          <a:ln w="12700">
            <a:solidFill>
              <a:srgbClr val="0EA5E9"/>
            </a:solidFill>
            <a:prstDash val="solid"/>
          </a:ln>
        </p:spPr>
      </p:sp>
      <p:sp>
        <p:nvSpPr>
          <p:cNvPr id="30" name="Shape 28"/>
          <p:cNvSpPr/>
          <p:nvPr/>
        </p:nvSpPr>
        <p:spPr>
          <a:xfrm>
            <a:off x="365760" y="4315968"/>
            <a:ext cx="3931920" cy="493776"/>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31" name="Shape 29"/>
          <p:cNvSpPr/>
          <p:nvPr/>
        </p:nvSpPr>
        <p:spPr>
          <a:xfrm>
            <a:off x="365760" y="4315968"/>
            <a:ext cx="54864" cy="493776"/>
          </a:xfrm>
          <a:prstGeom prst="rect">
            <a:avLst/>
          </a:prstGeom>
          <a:solidFill>
            <a:srgbClr val="10B981"/>
          </a:solidFill>
          <a:ln w="12700">
            <a:solidFill>
              <a:srgbClr val="10B981"/>
            </a:solidFill>
            <a:prstDash val="solid"/>
          </a:ln>
        </p:spPr>
      </p:sp>
      <p:sp>
        <p:nvSpPr>
          <p:cNvPr id="32" name="Text 30"/>
          <p:cNvSpPr/>
          <p:nvPr/>
        </p:nvSpPr>
        <p:spPr>
          <a:xfrm>
            <a:off x="548640" y="4352544"/>
            <a:ext cx="3566160" cy="2286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MLP Head</a:t>
            </a:r>
            <a:endParaRPr lang="en-US" sz="1200" dirty="0"/>
          </a:p>
        </p:txBody>
      </p:sp>
      <p:sp>
        <p:nvSpPr>
          <p:cNvPr id="33" name="Text 31"/>
          <p:cNvSpPr/>
          <p:nvPr/>
        </p:nvSpPr>
        <p:spPr>
          <a:xfrm>
            <a:off x="548640" y="4572000"/>
            <a:ext cx="3566160" cy="201168"/>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 Binary classification</a:t>
            </a:r>
            <a:endParaRPr lang="en-US" sz="1050" dirty="0"/>
          </a:p>
        </p:txBody>
      </p:sp>
      <p:sp>
        <p:nvSpPr>
          <p:cNvPr id="34" name="Shape 32"/>
          <p:cNvSpPr/>
          <p:nvPr/>
        </p:nvSpPr>
        <p:spPr>
          <a:xfrm>
            <a:off x="4663440" y="1298448"/>
            <a:ext cx="4114800" cy="352044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35" name="Text 33"/>
          <p:cNvSpPr/>
          <p:nvPr/>
        </p:nvSpPr>
        <p:spPr>
          <a:xfrm>
            <a:off x="4800600" y="1417320"/>
            <a:ext cx="3840480" cy="274320"/>
          </a:xfrm>
          <a:prstGeom prst="rect">
            <a:avLst/>
          </a:prstGeom>
          <a:noFill/>
          <a:ln/>
        </p:spPr>
        <p:txBody>
          <a:bodyPr wrap="square" rtlCol="0" anchor="ctr"/>
          <a:lstStyle/>
          <a:p>
            <a:pPr indent="0" marL="0">
              <a:buNone/>
            </a:pPr>
            <a:r>
              <a:rPr lang="en-US" sz="1300" b="1" dirty="0">
                <a:solidFill>
                  <a:srgbClr val="0EA5E9"/>
                </a:solidFill>
                <a:latin typeface="Calibri" pitchFamily="34" charset="0"/>
                <a:ea typeface="Calibri" pitchFamily="34" charset="-122"/>
                <a:cs typeface="Calibri" pitchFamily="34" charset="-120"/>
              </a:rPr>
              <a:t>Hyperparameters</a:t>
            </a:r>
            <a:endParaRPr lang="en-US" sz="1300" dirty="0"/>
          </a:p>
        </p:txBody>
      </p:sp>
      <p:sp>
        <p:nvSpPr>
          <p:cNvPr id="36" name="Shape 34"/>
          <p:cNvSpPr/>
          <p:nvPr/>
        </p:nvSpPr>
        <p:spPr>
          <a:xfrm>
            <a:off x="4663440" y="1810512"/>
            <a:ext cx="4114800" cy="274320"/>
          </a:xfrm>
          <a:prstGeom prst="rect">
            <a:avLst/>
          </a:prstGeom>
          <a:solidFill>
            <a:srgbClr val="0F2044"/>
          </a:solidFill>
          <a:ln w="12700">
            <a:solidFill>
              <a:srgbClr val="0F2044"/>
            </a:solidFill>
            <a:prstDash val="solid"/>
          </a:ln>
        </p:spPr>
      </p:sp>
      <p:sp>
        <p:nvSpPr>
          <p:cNvPr id="37" name="Text 35"/>
          <p:cNvSpPr/>
          <p:nvPr/>
        </p:nvSpPr>
        <p:spPr>
          <a:xfrm>
            <a:off x="4754880" y="184708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Sequence length (T)</a:t>
            </a:r>
            <a:endParaRPr lang="en-US" sz="1050" dirty="0"/>
          </a:p>
        </p:txBody>
      </p:sp>
      <p:sp>
        <p:nvSpPr>
          <p:cNvPr id="38" name="Text 36"/>
          <p:cNvSpPr/>
          <p:nvPr/>
        </p:nvSpPr>
        <p:spPr>
          <a:xfrm>
            <a:off x="7086600" y="184708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60 timesteps</a:t>
            </a:r>
            <a:endParaRPr lang="en-US" sz="1050" dirty="0"/>
          </a:p>
        </p:txBody>
      </p:sp>
      <p:sp>
        <p:nvSpPr>
          <p:cNvPr id="39" name="Text 37"/>
          <p:cNvSpPr/>
          <p:nvPr/>
        </p:nvSpPr>
        <p:spPr>
          <a:xfrm>
            <a:off x="4754880" y="212140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Patch length (P)</a:t>
            </a:r>
            <a:endParaRPr lang="en-US" sz="1050" dirty="0"/>
          </a:p>
        </p:txBody>
      </p:sp>
      <p:sp>
        <p:nvSpPr>
          <p:cNvPr id="40" name="Text 38"/>
          <p:cNvSpPr/>
          <p:nvPr/>
        </p:nvSpPr>
        <p:spPr>
          <a:xfrm>
            <a:off x="7086600" y="212140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12 → 5 patches/channel</a:t>
            </a:r>
            <a:endParaRPr lang="en-US" sz="1050" dirty="0"/>
          </a:p>
        </p:txBody>
      </p:sp>
      <p:sp>
        <p:nvSpPr>
          <p:cNvPr id="41" name="Shape 39"/>
          <p:cNvSpPr/>
          <p:nvPr/>
        </p:nvSpPr>
        <p:spPr>
          <a:xfrm>
            <a:off x="4663440" y="2359152"/>
            <a:ext cx="4114800" cy="274320"/>
          </a:xfrm>
          <a:prstGeom prst="rect">
            <a:avLst/>
          </a:prstGeom>
          <a:solidFill>
            <a:srgbClr val="0F2044"/>
          </a:solidFill>
          <a:ln w="12700">
            <a:solidFill>
              <a:srgbClr val="0F2044"/>
            </a:solidFill>
            <a:prstDash val="solid"/>
          </a:ln>
        </p:spPr>
      </p:sp>
      <p:sp>
        <p:nvSpPr>
          <p:cNvPr id="42" name="Text 40"/>
          <p:cNvSpPr/>
          <p:nvPr/>
        </p:nvSpPr>
        <p:spPr>
          <a:xfrm>
            <a:off x="4754880" y="239572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d_model</a:t>
            </a:r>
            <a:endParaRPr lang="en-US" sz="1050" dirty="0"/>
          </a:p>
        </p:txBody>
      </p:sp>
      <p:sp>
        <p:nvSpPr>
          <p:cNvPr id="43" name="Text 41"/>
          <p:cNvSpPr/>
          <p:nvPr/>
        </p:nvSpPr>
        <p:spPr>
          <a:xfrm>
            <a:off x="7086600" y="239572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64</a:t>
            </a:r>
            <a:endParaRPr lang="en-US" sz="1050" dirty="0"/>
          </a:p>
        </p:txBody>
      </p:sp>
      <p:sp>
        <p:nvSpPr>
          <p:cNvPr id="44" name="Text 42"/>
          <p:cNvSpPr/>
          <p:nvPr/>
        </p:nvSpPr>
        <p:spPr>
          <a:xfrm>
            <a:off x="4754880" y="267004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Attention heads</a:t>
            </a:r>
            <a:endParaRPr lang="en-US" sz="1050" dirty="0"/>
          </a:p>
        </p:txBody>
      </p:sp>
      <p:sp>
        <p:nvSpPr>
          <p:cNvPr id="45" name="Text 43"/>
          <p:cNvSpPr/>
          <p:nvPr/>
        </p:nvSpPr>
        <p:spPr>
          <a:xfrm>
            <a:off x="7086600" y="267004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4</a:t>
            </a:r>
            <a:endParaRPr lang="en-US" sz="1050" dirty="0"/>
          </a:p>
        </p:txBody>
      </p:sp>
      <p:sp>
        <p:nvSpPr>
          <p:cNvPr id="46" name="Shape 44"/>
          <p:cNvSpPr/>
          <p:nvPr/>
        </p:nvSpPr>
        <p:spPr>
          <a:xfrm>
            <a:off x="4663440" y="2907792"/>
            <a:ext cx="4114800" cy="274320"/>
          </a:xfrm>
          <a:prstGeom prst="rect">
            <a:avLst/>
          </a:prstGeom>
          <a:solidFill>
            <a:srgbClr val="0F2044"/>
          </a:solidFill>
          <a:ln w="12700">
            <a:solidFill>
              <a:srgbClr val="0F2044"/>
            </a:solidFill>
            <a:prstDash val="solid"/>
          </a:ln>
        </p:spPr>
      </p:sp>
      <p:sp>
        <p:nvSpPr>
          <p:cNvPr id="47" name="Text 45"/>
          <p:cNvSpPr/>
          <p:nvPr/>
        </p:nvSpPr>
        <p:spPr>
          <a:xfrm>
            <a:off x="4754880" y="294436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Encoder layers</a:t>
            </a:r>
            <a:endParaRPr lang="en-US" sz="1050" dirty="0"/>
          </a:p>
        </p:txBody>
      </p:sp>
      <p:sp>
        <p:nvSpPr>
          <p:cNvPr id="48" name="Text 46"/>
          <p:cNvSpPr/>
          <p:nvPr/>
        </p:nvSpPr>
        <p:spPr>
          <a:xfrm>
            <a:off x="7086600" y="294436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3</a:t>
            </a:r>
            <a:endParaRPr lang="en-US" sz="1050" dirty="0"/>
          </a:p>
        </p:txBody>
      </p:sp>
      <p:sp>
        <p:nvSpPr>
          <p:cNvPr id="49" name="Text 47"/>
          <p:cNvSpPr/>
          <p:nvPr/>
        </p:nvSpPr>
        <p:spPr>
          <a:xfrm>
            <a:off x="4754880" y="321868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Feed-forward dim</a:t>
            </a:r>
            <a:endParaRPr lang="en-US" sz="1050" dirty="0"/>
          </a:p>
        </p:txBody>
      </p:sp>
      <p:sp>
        <p:nvSpPr>
          <p:cNvPr id="50" name="Text 48"/>
          <p:cNvSpPr/>
          <p:nvPr/>
        </p:nvSpPr>
        <p:spPr>
          <a:xfrm>
            <a:off x="7086600" y="321868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128</a:t>
            </a:r>
            <a:endParaRPr lang="en-US" sz="1050" dirty="0"/>
          </a:p>
        </p:txBody>
      </p:sp>
      <p:sp>
        <p:nvSpPr>
          <p:cNvPr id="51" name="Shape 49"/>
          <p:cNvSpPr/>
          <p:nvPr/>
        </p:nvSpPr>
        <p:spPr>
          <a:xfrm>
            <a:off x="4663440" y="3456432"/>
            <a:ext cx="4114800" cy="274320"/>
          </a:xfrm>
          <a:prstGeom prst="rect">
            <a:avLst/>
          </a:prstGeom>
          <a:solidFill>
            <a:srgbClr val="0F2044"/>
          </a:solidFill>
          <a:ln w="12700">
            <a:solidFill>
              <a:srgbClr val="0F2044"/>
            </a:solidFill>
            <a:prstDash val="solid"/>
          </a:ln>
        </p:spPr>
      </p:sp>
      <p:sp>
        <p:nvSpPr>
          <p:cNvPr id="52" name="Text 50"/>
          <p:cNvSpPr/>
          <p:nvPr/>
        </p:nvSpPr>
        <p:spPr>
          <a:xfrm>
            <a:off x="4754880" y="349300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Dropout</a:t>
            </a:r>
            <a:endParaRPr lang="en-US" sz="1050" dirty="0"/>
          </a:p>
        </p:txBody>
      </p:sp>
      <p:sp>
        <p:nvSpPr>
          <p:cNvPr id="53" name="Text 51"/>
          <p:cNvSpPr/>
          <p:nvPr/>
        </p:nvSpPr>
        <p:spPr>
          <a:xfrm>
            <a:off x="7086600" y="349300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0.1</a:t>
            </a:r>
            <a:endParaRPr lang="en-US" sz="1050" dirty="0"/>
          </a:p>
        </p:txBody>
      </p:sp>
      <p:sp>
        <p:nvSpPr>
          <p:cNvPr id="54" name="Text 52"/>
          <p:cNvSpPr/>
          <p:nvPr/>
        </p:nvSpPr>
        <p:spPr>
          <a:xfrm>
            <a:off x="4754880" y="376732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Total parameters</a:t>
            </a:r>
            <a:endParaRPr lang="en-US" sz="1050" dirty="0"/>
          </a:p>
        </p:txBody>
      </p:sp>
      <p:sp>
        <p:nvSpPr>
          <p:cNvPr id="55" name="Text 53"/>
          <p:cNvSpPr/>
          <p:nvPr/>
        </p:nvSpPr>
        <p:spPr>
          <a:xfrm>
            <a:off x="7086600" y="376732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118,146</a:t>
            </a:r>
            <a:endParaRPr lang="en-US" sz="1050" dirty="0"/>
          </a:p>
        </p:txBody>
      </p:sp>
      <p:sp>
        <p:nvSpPr>
          <p:cNvPr id="56" name="Shape 54"/>
          <p:cNvSpPr/>
          <p:nvPr/>
        </p:nvSpPr>
        <p:spPr>
          <a:xfrm>
            <a:off x="4663440" y="4005072"/>
            <a:ext cx="4114800" cy="274320"/>
          </a:xfrm>
          <a:prstGeom prst="rect">
            <a:avLst/>
          </a:prstGeom>
          <a:solidFill>
            <a:srgbClr val="0F2044"/>
          </a:solidFill>
          <a:ln w="12700">
            <a:solidFill>
              <a:srgbClr val="0F2044"/>
            </a:solidFill>
            <a:prstDash val="solid"/>
          </a:ln>
        </p:spPr>
      </p:sp>
      <p:sp>
        <p:nvSpPr>
          <p:cNvPr id="57" name="Text 55"/>
          <p:cNvSpPr/>
          <p:nvPr/>
        </p:nvSpPr>
        <p:spPr>
          <a:xfrm>
            <a:off x="4754880" y="404164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Optimizer</a:t>
            </a:r>
            <a:endParaRPr lang="en-US" sz="1050" dirty="0"/>
          </a:p>
        </p:txBody>
      </p:sp>
      <p:sp>
        <p:nvSpPr>
          <p:cNvPr id="58" name="Text 56"/>
          <p:cNvSpPr/>
          <p:nvPr/>
        </p:nvSpPr>
        <p:spPr>
          <a:xfrm>
            <a:off x="7086600" y="404164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AdamW (lr = 3e-4)</a:t>
            </a:r>
            <a:endParaRPr lang="en-US" sz="1050" dirty="0"/>
          </a:p>
        </p:txBody>
      </p:sp>
      <p:sp>
        <p:nvSpPr>
          <p:cNvPr id="59" name="Text 57"/>
          <p:cNvSpPr/>
          <p:nvPr/>
        </p:nvSpPr>
        <p:spPr>
          <a:xfrm>
            <a:off x="4754880" y="431596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LR schedule</a:t>
            </a:r>
            <a:endParaRPr lang="en-US" sz="1050" dirty="0"/>
          </a:p>
        </p:txBody>
      </p:sp>
      <p:sp>
        <p:nvSpPr>
          <p:cNvPr id="60" name="Text 58"/>
          <p:cNvSpPr/>
          <p:nvPr/>
        </p:nvSpPr>
        <p:spPr>
          <a:xfrm>
            <a:off x="7086600" y="431596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Cosine annealing</a:t>
            </a:r>
            <a:endParaRPr lang="en-US" sz="1050" dirty="0"/>
          </a:p>
        </p:txBody>
      </p:sp>
      <p:sp>
        <p:nvSpPr>
          <p:cNvPr id="61" name="Shape 59"/>
          <p:cNvSpPr/>
          <p:nvPr/>
        </p:nvSpPr>
        <p:spPr>
          <a:xfrm>
            <a:off x="4663440" y="4553712"/>
            <a:ext cx="4114800" cy="274320"/>
          </a:xfrm>
          <a:prstGeom prst="rect">
            <a:avLst/>
          </a:prstGeom>
          <a:solidFill>
            <a:srgbClr val="0F2044"/>
          </a:solidFill>
          <a:ln w="12700">
            <a:solidFill>
              <a:srgbClr val="0F2044"/>
            </a:solidFill>
            <a:prstDash val="solid"/>
          </a:ln>
        </p:spPr>
      </p:sp>
      <p:sp>
        <p:nvSpPr>
          <p:cNvPr id="62" name="Text 60"/>
          <p:cNvSpPr/>
          <p:nvPr/>
        </p:nvSpPr>
        <p:spPr>
          <a:xfrm>
            <a:off x="4754880" y="4590288"/>
            <a:ext cx="2286000" cy="219456"/>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Early stopping</a:t>
            </a:r>
            <a:endParaRPr lang="en-US" sz="1050" dirty="0"/>
          </a:p>
        </p:txBody>
      </p:sp>
      <p:sp>
        <p:nvSpPr>
          <p:cNvPr id="63" name="Text 61"/>
          <p:cNvSpPr/>
          <p:nvPr/>
        </p:nvSpPr>
        <p:spPr>
          <a:xfrm>
            <a:off x="7086600" y="4590288"/>
            <a:ext cx="1554480" cy="219456"/>
          </a:xfrm>
          <a:prstGeom prst="rect">
            <a:avLst/>
          </a:prstGeom>
          <a:noFill/>
          <a:ln/>
        </p:spPr>
        <p:txBody>
          <a:bodyPr wrap="square" rtlCol="0" anchor="ctr"/>
          <a:lstStyle/>
          <a:p>
            <a:pPr algn="r" indent="0" marL="0">
              <a:buNone/>
            </a:pPr>
            <a:r>
              <a:rPr lang="en-US" sz="1050" b="1" dirty="0">
                <a:solidFill>
                  <a:srgbClr val="E2E8F0"/>
                </a:solidFill>
                <a:latin typeface="Calibri" pitchFamily="34" charset="0"/>
                <a:ea typeface="Calibri" pitchFamily="34" charset="-122"/>
                <a:cs typeface="Calibri" pitchFamily="34" charset="-120"/>
              </a:rPr>
              <a:t>Val F1, patience=7</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DATASET</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Synthetic Sensor Dataset</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57200" y="1371600"/>
            <a:ext cx="1874520" cy="548640"/>
          </a:xfrm>
          <a:prstGeom prst="rect">
            <a:avLst/>
          </a:prstGeom>
          <a:noFill/>
          <a:ln/>
        </p:spPr>
        <p:txBody>
          <a:bodyPr wrap="square" rtlCol="0" anchor="ctr"/>
          <a:lstStyle/>
          <a:p>
            <a:pPr algn="ctr" indent="0" marL="0">
              <a:buNone/>
            </a:pPr>
            <a:r>
              <a:rPr lang="en-US" sz="3600" b="1" dirty="0">
                <a:solidFill>
                  <a:srgbClr val="0EA5E9"/>
                </a:solidFill>
                <a:latin typeface="Calibri" pitchFamily="34" charset="0"/>
                <a:ea typeface="Calibri" pitchFamily="34" charset="-122"/>
                <a:cs typeface="Calibri" pitchFamily="34" charset="-120"/>
              </a:rPr>
              <a:t>50,000</a:t>
            </a:r>
            <a:endParaRPr lang="en-US" sz="3600" dirty="0"/>
          </a:p>
        </p:txBody>
      </p:sp>
      <p:sp>
        <p:nvSpPr>
          <p:cNvPr id="7" name="Text 5"/>
          <p:cNvSpPr/>
          <p:nvPr/>
        </p:nvSpPr>
        <p:spPr>
          <a:xfrm>
            <a:off x="457200"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timesteps at 1 Hz</a:t>
            </a:r>
            <a:endParaRPr lang="en-US" sz="1100" dirty="0"/>
          </a:p>
        </p:txBody>
      </p:sp>
      <p:sp>
        <p:nvSpPr>
          <p:cNvPr id="8" name="Shape 6"/>
          <p:cNvSpPr/>
          <p:nvPr/>
        </p:nvSpPr>
        <p:spPr>
          <a:xfrm>
            <a:off x="2578608"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2670048" y="1371600"/>
            <a:ext cx="1874520" cy="548640"/>
          </a:xfrm>
          <a:prstGeom prst="rect">
            <a:avLst/>
          </a:prstGeom>
          <a:noFill/>
          <a:ln/>
        </p:spPr>
        <p:txBody>
          <a:bodyPr wrap="square"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49,940</a:t>
            </a:r>
            <a:endParaRPr lang="en-US" sz="3600" dirty="0"/>
          </a:p>
        </p:txBody>
      </p:sp>
      <p:sp>
        <p:nvSpPr>
          <p:cNvPr id="10" name="Text 8"/>
          <p:cNvSpPr/>
          <p:nvPr/>
        </p:nvSpPr>
        <p:spPr>
          <a:xfrm>
            <a:off x="2670048"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sequence windows</a:t>
            </a:r>
            <a:endParaRPr lang="en-US" sz="1100" dirty="0"/>
          </a:p>
        </p:txBody>
      </p:sp>
      <p:sp>
        <p:nvSpPr>
          <p:cNvPr id="11" name="Shape 9"/>
          <p:cNvSpPr/>
          <p:nvPr/>
        </p:nvSpPr>
        <p:spPr>
          <a:xfrm>
            <a:off x="4791456"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4882896" y="1371600"/>
            <a:ext cx="1874520" cy="548640"/>
          </a:xfrm>
          <a:prstGeom prst="rect">
            <a:avLst/>
          </a:prstGeom>
          <a:noFill/>
          <a:ln/>
        </p:spPr>
        <p:txBody>
          <a:bodyPr wrap="square"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60</a:t>
            </a:r>
            <a:endParaRPr lang="en-US" sz="3600" dirty="0"/>
          </a:p>
        </p:txBody>
      </p:sp>
      <p:sp>
        <p:nvSpPr>
          <p:cNvPr id="13" name="Text 11"/>
          <p:cNvSpPr/>
          <p:nvPr/>
        </p:nvSpPr>
        <p:spPr>
          <a:xfrm>
            <a:off x="4882896"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steps per window</a:t>
            </a:r>
            <a:endParaRPr lang="en-US" sz="1100" dirty="0"/>
          </a:p>
        </p:txBody>
      </p:sp>
      <p:sp>
        <p:nvSpPr>
          <p:cNvPr id="14" name="Shape 12"/>
          <p:cNvSpPr/>
          <p:nvPr/>
        </p:nvSpPr>
        <p:spPr>
          <a:xfrm>
            <a:off x="7004304"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7095744" y="1371600"/>
            <a:ext cx="1874520" cy="548640"/>
          </a:xfrm>
          <a:prstGeom prst="rect">
            <a:avLst/>
          </a:prstGeom>
          <a:noFill/>
          <a:ln/>
        </p:spPr>
        <p:txBody>
          <a:bodyPr wrap="square" rtlCol="0" anchor="ctr"/>
          <a:lstStyle/>
          <a:p>
            <a:pPr algn="ctr" indent="0" marL="0">
              <a:buNone/>
            </a:pPr>
            <a:r>
              <a:rPr lang="en-US" sz="3600" b="1" dirty="0">
                <a:solidFill>
                  <a:srgbClr val="F43F5E"/>
                </a:solidFill>
                <a:latin typeface="Calibri" pitchFamily="34" charset="0"/>
                <a:ea typeface="Calibri" pitchFamily="34" charset="-122"/>
                <a:cs typeface="Calibri" pitchFamily="34" charset="-120"/>
              </a:rPr>
              <a:t>~2%</a:t>
            </a:r>
            <a:endParaRPr lang="en-US" sz="3600" dirty="0"/>
          </a:p>
        </p:txBody>
      </p:sp>
      <p:sp>
        <p:nvSpPr>
          <p:cNvPr id="16" name="Text 14"/>
          <p:cNvSpPr/>
          <p:nvPr/>
        </p:nvSpPr>
        <p:spPr>
          <a:xfrm>
            <a:off x="7095744"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pre-failure windows</a:t>
            </a:r>
            <a:endParaRPr lang="en-US" sz="1100" dirty="0"/>
          </a:p>
        </p:txBody>
      </p:sp>
      <p:sp>
        <p:nvSpPr>
          <p:cNvPr id="17" name="Shape 15"/>
          <p:cNvSpPr/>
          <p:nvPr/>
        </p:nvSpPr>
        <p:spPr>
          <a:xfrm>
            <a:off x="365760" y="2487168"/>
            <a:ext cx="2743200" cy="2286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8" name="Shape 16"/>
          <p:cNvSpPr/>
          <p:nvPr/>
        </p:nvSpPr>
        <p:spPr>
          <a:xfrm>
            <a:off x="365760" y="2487168"/>
            <a:ext cx="2743200" cy="54864"/>
          </a:xfrm>
          <a:prstGeom prst="rect">
            <a:avLst/>
          </a:prstGeom>
          <a:solidFill>
            <a:srgbClr val="F43F5E"/>
          </a:solidFill>
          <a:ln w="12700">
            <a:solidFill>
              <a:srgbClr val="F43F5E"/>
            </a:solidFill>
            <a:prstDash val="solid"/>
          </a:ln>
        </p:spPr>
      </p:sp>
      <p:sp>
        <p:nvSpPr>
          <p:cNvPr id="19" name="Text 17"/>
          <p:cNvSpPr/>
          <p:nvPr/>
        </p:nvSpPr>
        <p:spPr>
          <a:xfrm>
            <a:off x="502920" y="2587752"/>
            <a:ext cx="246888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Overheat</a:t>
            </a:r>
            <a:endParaRPr lang="en-US" sz="1300" dirty="0"/>
          </a:p>
        </p:txBody>
      </p:sp>
      <p:sp>
        <p:nvSpPr>
          <p:cNvPr id="20" name="Text 18"/>
          <p:cNvSpPr/>
          <p:nvPr/>
        </p:nvSpPr>
        <p:spPr>
          <a:xfrm>
            <a:off x="502920" y="2907792"/>
            <a:ext cx="2468880" cy="173736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Temperature ramps +25°C over ~200 steps, then spikes. Vibration also rises slightly. Easiest to detect — strong monotonic signal.</a:t>
            </a:r>
            <a:endParaRPr lang="en-US" sz="1100" dirty="0"/>
          </a:p>
        </p:txBody>
      </p:sp>
      <p:sp>
        <p:nvSpPr>
          <p:cNvPr id="21" name="Shape 19"/>
          <p:cNvSpPr/>
          <p:nvPr/>
        </p:nvSpPr>
        <p:spPr>
          <a:xfrm>
            <a:off x="3291840" y="2487168"/>
            <a:ext cx="2743200" cy="2286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2" name="Shape 20"/>
          <p:cNvSpPr/>
          <p:nvPr/>
        </p:nvSpPr>
        <p:spPr>
          <a:xfrm>
            <a:off x="3291840" y="2487168"/>
            <a:ext cx="2743200" cy="54864"/>
          </a:xfrm>
          <a:prstGeom prst="rect">
            <a:avLst/>
          </a:prstGeom>
          <a:solidFill>
            <a:srgbClr val="F59E0B"/>
          </a:solidFill>
          <a:ln w="12700">
            <a:solidFill>
              <a:srgbClr val="F59E0B"/>
            </a:solidFill>
            <a:prstDash val="solid"/>
          </a:ln>
        </p:spPr>
      </p:sp>
      <p:sp>
        <p:nvSpPr>
          <p:cNvPr id="23" name="Text 21"/>
          <p:cNvSpPr/>
          <p:nvPr/>
        </p:nvSpPr>
        <p:spPr>
          <a:xfrm>
            <a:off x="3429000" y="2587752"/>
            <a:ext cx="246888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Bearing Wear</a:t>
            </a:r>
            <a:endParaRPr lang="en-US" sz="1300" dirty="0"/>
          </a:p>
        </p:txBody>
      </p:sp>
      <p:sp>
        <p:nvSpPr>
          <p:cNvPr id="24" name="Text 22"/>
          <p:cNvSpPr/>
          <p:nvPr/>
        </p:nvSpPr>
        <p:spPr>
          <a:xfrm>
            <a:off x="3429000" y="2907792"/>
            <a:ext cx="2468880" cy="173736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Vibration slowly increases (+3.5 mm/s), RPM drops (~80 RPM) over ~300 steps. Hardest to detect — gradual, cross-channel.</a:t>
            </a:r>
            <a:endParaRPr lang="en-US" sz="1100" dirty="0"/>
          </a:p>
        </p:txBody>
      </p:sp>
      <p:sp>
        <p:nvSpPr>
          <p:cNvPr id="25" name="Shape 23"/>
          <p:cNvSpPr/>
          <p:nvPr/>
        </p:nvSpPr>
        <p:spPr>
          <a:xfrm>
            <a:off x="6217920" y="2487168"/>
            <a:ext cx="2743200" cy="22860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6217920" y="2487168"/>
            <a:ext cx="2743200" cy="54864"/>
          </a:xfrm>
          <a:prstGeom prst="rect">
            <a:avLst/>
          </a:prstGeom>
          <a:solidFill>
            <a:srgbClr val="0EA5E9"/>
          </a:solidFill>
          <a:ln w="12700">
            <a:solidFill>
              <a:srgbClr val="0EA5E9"/>
            </a:solidFill>
            <a:prstDash val="solid"/>
          </a:ln>
        </p:spPr>
      </p:sp>
      <p:sp>
        <p:nvSpPr>
          <p:cNvPr id="27" name="Text 25"/>
          <p:cNvSpPr/>
          <p:nvPr/>
        </p:nvSpPr>
        <p:spPr>
          <a:xfrm>
            <a:off x="6355080" y="2587752"/>
            <a:ext cx="246888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Pressure Drop</a:t>
            </a:r>
            <a:endParaRPr lang="en-US" sz="1300" dirty="0"/>
          </a:p>
        </p:txBody>
      </p:sp>
      <p:sp>
        <p:nvSpPr>
          <p:cNvPr id="28" name="Text 26"/>
          <p:cNvSpPr/>
          <p:nvPr/>
        </p:nvSpPr>
        <p:spPr>
          <a:xfrm>
            <a:off x="6355080" y="2907792"/>
            <a:ext cx="2468880" cy="173736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Pressure falls sharply (-3.5 bar) over ~120 steps. RPM becomes unstable. Short precursor window.</a:t>
            </a:r>
            <a:endParaRPr lang="en-US" sz="1100" dirty="0"/>
          </a:p>
        </p:txBody>
      </p:sp>
      <p:sp>
        <p:nvSpPr>
          <p:cNvPr id="29" name="Shape 27"/>
          <p:cNvSpPr/>
          <p:nvPr/>
        </p:nvSpPr>
        <p:spPr>
          <a:xfrm>
            <a:off x="365760" y="4846320"/>
            <a:ext cx="8412480" cy="18288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30" name="Text 28"/>
          <p:cNvSpPr/>
          <p:nvPr/>
        </p:nvSpPr>
        <p:spPr>
          <a:xfrm>
            <a:off x="502920" y="4855464"/>
            <a:ext cx="8229600" cy="173736"/>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Split: 70% train · 15% val · 15% test  —  Chronological split, no data leakage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RESULTS</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Experimental Results</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Text 4"/>
          <p:cNvSpPr/>
          <p:nvPr/>
        </p:nvSpPr>
        <p:spPr>
          <a:xfrm>
            <a:off x="457200" y="1371600"/>
            <a:ext cx="1874520" cy="548640"/>
          </a:xfrm>
          <a:prstGeom prst="rect">
            <a:avLst/>
          </a:prstGeom>
          <a:noFill/>
          <a:ln/>
        </p:spPr>
        <p:txBody>
          <a:bodyPr wrap="square"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0.997</a:t>
            </a:r>
            <a:endParaRPr lang="en-US" sz="3600" dirty="0"/>
          </a:p>
        </p:txBody>
      </p:sp>
      <p:sp>
        <p:nvSpPr>
          <p:cNvPr id="7" name="Text 5"/>
          <p:cNvSpPr/>
          <p:nvPr/>
        </p:nvSpPr>
        <p:spPr>
          <a:xfrm>
            <a:off x="457200"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ROC-AUC</a:t>
            </a:r>
            <a:endParaRPr lang="en-US" sz="1100" dirty="0"/>
          </a:p>
        </p:txBody>
      </p:sp>
      <p:sp>
        <p:nvSpPr>
          <p:cNvPr id="8" name="Shape 6"/>
          <p:cNvSpPr/>
          <p:nvPr/>
        </p:nvSpPr>
        <p:spPr>
          <a:xfrm>
            <a:off x="2578608"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9" name="Text 7"/>
          <p:cNvSpPr/>
          <p:nvPr/>
        </p:nvSpPr>
        <p:spPr>
          <a:xfrm>
            <a:off x="2670048" y="1371600"/>
            <a:ext cx="1874520" cy="548640"/>
          </a:xfrm>
          <a:prstGeom prst="rect">
            <a:avLst/>
          </a:prstGeom>
          <a:noFill/>
          <a:ln/>
        </p:spPr>
        <p:txBody>
          <a:bodyPr wrap="square" rtlCol="0" anchor="ctr"/>
          <a:lstStyle/>
          <a:p>
            <a:pPr algn="ctr" indent="0" marL="0">
              <a:buNone/>
            </a:pPr>
            <a:r>
              <a:rPr lang="en-US" sz="3600" b="1" dirty="0">
                <a:solidFill>
                  <a:srgbClr val="0EA5E9"/>
                </a:solidFill>
                <a:latin typeface="Calibri" pitchFamily="34" charset="0"/>
                <a:ea typeface="Calibri" pitchFamily="34" charset="-122"/>
                <a:cs typeface="Calibri" pitchFamily="34" charset="-120"/>
              </a:rPr>
              <a:t>97%</a:t>
            </a:r>
            <a:endParaRPr lang="en-US" sz="3600" dirty="0"/>
          </a:p>
        </p:txBody>
      </p:sp>
      <p:sp>
        <p:nvSpPr>
          <p:cNvPr id="10" name="Text 8"/>
          <p:cNvSpPr/>
          <p:nvPr/>
        </p:nvSpPr>
        <p:spPr>
          <a:xfrm>
            <a:off x="2670048"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Recall (Failure)</a:t>
            </a:r>
            <a:endParaRPr lang="en-US" sz="1100" dirty="0"/>
          </a:p>
        </p:txBody>
      </p:sp>
      <p:sp>
        <p:nvSpPr>
          <p:cNvPr id="11" name="Shape 9"/>
          <p:cNvSpPr/>
          <p:nvPr/>
        </p:nvSpPr>
        <p:spPr>
          <a:xfrm>
            <a:off x="4791456"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2" name="Text 10"/>
          <p:cNvSpPr/>
          <p:nvPr/>
        </p:nvSpPr>
        <p:spPr>
          <a:xfrm>
            <a:off x="4882896" y="1371600"/>
            <a:ext cx="1874520" cy="548640"/>
          </a:xfrm>
          <a:prstGeom prst="rect">
            <a:avLst/>
          </a:prstGeom>
          <a:noFill/>
          <a:ln/>
        </p:spPr>
        <p:txBody>
          <a:bodyPr wrap="square"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118K</a:t>
            </a:r>
            <a:endParaRPr lang="en-US" sz="3600" dirty="0"/>
          </a:p>
        </p:txBody>
      </p:sp>
      <p:sp>
        <p:nvSpPr>
          <p:cNvPr id="13" name="Text 11"/>
          <p:cNvSpPr/>
          <p:nvPr/>
        </p:nvSpPr>
        <p:spPr>
          <a:xfrm>
            <a:off x="4882896"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Parameters</a:t>
            </a:r>
            <a:endParaRPr lang="en-US" sz="1100" dirty="0"/>
          </a:p>
        </p:txBody>
      </p:sp>
      <p:sp>
        <p:nvSpPr>
          <p:cNvPr id="14" name="Shape 12"/>
          <p:cNvSpPr/>
          <p:nvPr/>
        </p:nvSpPr>
        <p:spPr>
          <a:xfrm>
            <a:off x="7004304" y="1261872"/>
            <a:ext cx="2057400" cy="1078992"/>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7095744" y="1371600"/>
            <a:ext cx="1874520" cy="548640"/>
          </a:xfrm>
          <a:prstGeom prst="rect">
            <a:avLst/>
          </a:prstGeom>
          <a:noFill/>
          <a:ln/>
        </p:spPr>
        <p:txBody>
          <a:bodyPr wrap="square" rtlCol="0" anchor="ctr"/>
          <a:lstStyle/>
          <a:p>
            <a:pPr algn="ctr" indent="0" marL="0">
              <a:buNone/>
            </a:pPr>
            <a:r>
              <a:rPr lang="en-US" sz="3600" b="1" dirty="0">
                <a:solidFill>
                  <a:srgbClr val="F43F5E"/>
                </a:solidFill>
                <a:latin typeface="Calibri" pitchFamily="34" charset="0"/>
                <a:ea typeface="Calibri" pitchFamily="34" charset="-122"/>
                <a:cs typeface="Calibri" pitchFamily="34" charset="-120"/>
              </a:rPr>
              <a:t>5</a:t>
            </a:r>
            <a:endParaRPr lang="en-US" sz="3600" dirty="0"/>
          </a:p>
        </p:txBody>
      </p:sp>
      <p:sp>
        <p:nvSpPr>
          <p:cNvPr id="16" name="Text 14"/>
          <p:cNvSpPr/>
          <p:nvPr/>
        </p:nvSpPr>
        <p:spPr>
          <a:xfrm>
            <a:off x="7095744" y="1920240"/>
            <a:ext cx="1874520" cy="32004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Epochs to converge</a:t>
            </a:r>
            <a:endParaRPr lang="en-US" sz="1100" dirty="0"/>
          </a:p>
        </p:txBody>
      </p:sp>
      <p:sp>
        <p:nvSpPr>
          <p:cNvPr id="17" name="Shape 15"/>
          <p:cNvSpPr/>
          <p:nvPr/>
        </p:nvSpPr>
        <p:spPr>
          <a:xfrm>
            <a:off x="365760" y="2487168"/>
            <a:ext cx="8412480" cy="237744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2487168"/>
          <a:ext cx="8412480" cy="914400"/>
        </p:xfrm>
        <a:graphic>
          <a:graphicData uri="http://schemas.openxmlformats.org/drawingml/2006/table">
            <a:tbl>
              <a:tblPr/>
              <a:tblGrid>
                <a:gridCol w="2377440"/>
                <a:gridCol w="1920240"/>
                <a:gridCol w="1920240"/>
                <a:gridCol w="201168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284C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PatchTST (ours)</a:t>
                      </a:r>
                      <a:endParaRPr lang="en-US" sz="11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284C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LSTM Baseline</a:t>
                      </a:r>
                      <a:endParaRPr lang="en-US" sz="11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284C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Winner</a:t>
                      </a:r>
                      <a:endParaRPr lang="en-US" sz="110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284C7"/>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98.05%</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~95–96%</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F1 Score (failure)</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0.67–0.85+</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0.55–0.72</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0.997</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~0.97</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True Positives</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145 / 150</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~130 / 150</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0F2044"/>
                    </a:solidFill>
                  </a:tcPr>
                </a:tc>
              </a:tr>
              <a:tr h="347472">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Parameters</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118,146</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dirty="0">
                          <a:solidFill>
                            <a:srgbClr val="E2E8F0"/>
                          </a:solidFill>
                          <a:latin typeface="Calibri" pitchFamily="34" charset="0"/>
                          <a:ea typeface="Calibri" pitchFamily="34" charset="-122"/>
                          <a:cs typeface="Calibri" pitchFamily="34" charset="-120"/>
                        </a:rPr>
                        <a:t>143,554</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Transformer (smaller!)</a:t>
                      </a:r>
                      <a:endParaRPr lang="en-US" sz="1050" dirty="0">
                        <a:latin typeface="Calibri" charset="0"/>
                        <a:ea typeface="Calibri" charset="0"/>
                        <a:cs typeface="Calibri" charset="0"/>
                      </a:endParaRPr>
                    </a:p>
                  </a:txBody>
                  <a:tcPr marL="91440" marR="91440" marT="45720" marB="45720">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0" cap="flat" cmpd="sng" algn="ctr">
                      <a:solidFill>
                        <a:srgbClr val="666666"/>
                      </a:solidFill>
                      <a:prstDash val="solid"/>
                      <a:round/>
                      <a:headEnd type="none" w="med" len="med"/>
                      <a:tailEnd type="none" w="med" len="med"/>
                    </a:lnB>
                    <a:solidFill>
                      <a:srgbClr val="111D35"/>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KEY INSIGHT</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Transformer Beats LSTM Here</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98448"/>
            <a:ext cx="4023360" cy="301752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98448"/>
            <a:ext cx="4023360" cy="64008"/>
          </a:xfrm>
          <a:prstGeom prst="rect">
            <a:avLst/>
          </a:prstGeom>
          <a:solidFill>
            <a:srgbClr val="F59E0B"/>
          </a:solidFill>
          <a:ln w="12700">
            <a:solidFill>
              <a:srgbClr val="F59E0B"/>
            </a:solidFill>
            <a:prstDash val="solid"/>
          </a:ln>
        </p:spPr>
      </p:sp>
      <p:sp>
        <p:nvSpPr>
          <p:cNvPr id="7" name="Text 5"/>
          <p:cNvSpPr/>
          <p:nvPr/>
        </p:nvSpPr>
        <p:spPr>
          <a:xfrm>
            <a:off x="548640" y="1426464"/>
            <a:ext cx="3474720" cy="292608"/>
          </a:xfrm>
          <a:prstGeom prst="rect">
            <a:avLst/>
          </a:prstGeom>
          <a:noFill/>
          <a:ln/>
        </p:spPr>
        <p:txBody>
          <a:bodyPr wrap="square"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LSTM</a:t>
            </a:r>
            <a:endParaRPr lang="en-US" sz="1500" dirty="0"/>
          </a:p>
        </p:txBody>
      </p:sp>
      <p:sp>
        <p:nvSpPr>
          <p:cNvPr id="8" name="Text 6"/>
          <p:cNvSpPr/>
          <p:nvPr/>
        </p:nvSpPr>
        <p:spPr>
          <a:xfrm>
            <a:off x="548640" y="1764792"/>
            <a:ext cx="3474720" cy="2286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Sequential processing</a:t>
            </a:r>
            <a:endParaRPr lang="en-US" sz="1100" dirty="0"/>
          </a:p>
        </p:txBody>
      </p:sp>
      <p:sp>
        <p:nvSpPr>
          <p:cNvPr id="9" name="Shape 7"/>
          <p:cNvSpPr/>
          <p:nvPr/>
        </p:nvSpPr>
        <p:spPr>
          <a:xfrm>
            <a:off x="502920" y="2103120"/>
            <a:ext cx="365760" cy="292608"/>
          </a:xfrm>
          <a:prstGeom prst="rect">
            <a:avLst/>
          </a:prstGeom>
          <a:solidFill>
            <a:srgbClr val="162D5A"/>
          </a:solidFill>
          <a:ln w="6350">
            <a:solidFill>
              <a:srgbClr val="1E3A5F"/>
            </a:solidFill>
            <a:prstDash val="solid"/>
          </a:ln>
        </p:spPr>
      </p:sp>
      <p:sp>
        <p:nvSpPr>
          <p:cNvPr id="10" name="Shape 8"/>
          <p:cNvSpPr/>
          <p:nvPr/>
        </p:nvSpPr>
        <p:spPr>
          <a:xfrm>
            <a:off x="868680" y="2212848"/>
            <a:ext cx="91440" cy="73152"/>
          </a:xfrm>
          <a:prstGeom prst="rect">
            <a:avLst/>
          </a:prstGeom>
          <a:solidFill>
            <a:srgbClr val="F59E0B"/>
          </a:solidFill>
          <a:ln w="12700">
            <a:solidFill>
              <a:srgbClr val="F59E0B"/>
            </a:solidFill>
            <a:prstDash val="solid"/>
          </a:ln>
        </p:spPr>
      </p:sp>
      <p:sp>
        <p:nvSpPr>
          <p:cNvPr id="11" name="Shape 9"/>
          <p:cNvSpPr/>
          <p:nvPr/>
        </p:nvSpPr>
        <p:spPr>
          <a:xfrm>
            <a:off x="960120" y="2103120"/>
            <a:ext cx="365760" cy="292608"/>
          </a:xfrm>
          <a:prstGeom prst="rect">
            <a:avLst/>
          </a:prstGeom>
          <a:solidFill>
            <a:srgbClr val="162D5A"/>
          </a:solidFill>
          <a:ln w="6350">
            <a:solidFill>
              <a:srgbClr val="1E3A5F"/>
            </a:solidFill>
            <a:prstDash val="solid"/>
          </a:ln>
        </p:spPr>
      </p:sp>
      <p:sp>
        <p:nvSpPr>
          <p:cNvPr id="12" name="Shape 10"/>
          <p:cNvSpPr/>
          <p:nvPr/>
        </p:nvSpPr>
        <p:spPr>
          <a:xfrm>
            <a:off x="1325880" y="2212848"/>
            <a:ext cx="91440" cy="73152"/>
          </a:xfrm>
          <a:prstGeom prst="rect">
            <a:avLst/>
          </a:prstGeom>
          <a:solidFill>
            <a:srgbClr val="F59E0B"/>
          </a:solidFill>
          <a:ln w="12700">
            <a:solidFill>
              <a:srgbClr val="F59E0B"/>
            </a:solidFill>
            <a:prstDash val="solid"/>
          </a:ln>
        </p:spPr>
      </p:sp>
      <p:sp>
        <p:nvSpPr>
          <p:cNvPr id="13" name="Shape 11"/>
          <p:cNvSpPr/>
          <p:nvPr/>
        </p:nvSpPr>
        <p:spPr>
          <a:xfrm>
            <a:off x="1417320" y="2103120"/>
            <a:ext cx="365760" cy="292608"/>
          </a:xfrm>
          <a:prstGeom prst="rect">
            <a:avLst/>
          </a:prstGeom>
          <a:solidFill>
            <a:srgbClr val="162D5A"/>
          </a:solidFill>
          <a:ln w="6350">
            <a:solidFill>
              <a:srgbClr val="1E3A5F"/>
            </a:solidFill>
            <a:prstDash val="solid"/>
          </a:ln>
        </p:spPr>
      </p:sp>
      <p:sp>
        <p:nvSpPr>
          <p:cNvPr id="14" name="Shape 12"/>
          <p:cNvSpPr/>
          <p:nvPr/>
        </p:nvSpPr>
        <p:spPr>
          <a:xfrm>
            <a:off x="1783080" y="2212848"/>
            <a:ext cx="91440" cy="73152"/>
          </a:xfrm>
          <a:prstGeom prst="rect">
            <a:avLst/>
          </a:prstGeom>
          <a:solidFill>
            <a:srgbClr val="F59E0B"/>
          </a:solidFill>
          <a:ln w="12700">
            <a:solidFill>
              <a:srgbClr val="F59E0B"/>
            </a:solidFill>
            <a:prstDash val="solid"/>
          </a:ln>
        </p:spPr>
      </p:sp>
      <p:sp>
        <p:nvSpPr>
          <p:cNvPr id="15" name="Shape 13"/>
          <p:cNvSpPr/>
          <p:nvPr/>
        </p:nvSpPr>
        <p:spPr>
          <a:xfrm>
            <a:off x="1874520" y="2103120"/>
            <a:ext cx="365760" cy="292608"/>
          </a:xfrm>
          <a:prstGeom prst="rect">
            <a:avLst/>
          </a:prstGeom>
          <a:solidFill>
            <a:srgbClr val="162D5A"/>
          </a:solidFill>
          <a:ln w="6350">
            <a:solidFill>
              <a:srgbClr val="1E3A5F"/>
            </a:solidFill>
            <a:prstDash val="solid"/>
          </a:ln>
        </p:spPr>
      </p:sp>
      <p:sp>
        <p:nvSpPr>
          <p:cNvPr id="16" name="Shape 14"/>
          <p:cNvSpPr/>
          <p:nvPr/>
        </p:nvSpPr>
        <p:spPr>
          <a:xfrm>
            <a:off x="2240280" y="2212848"/>
            <a:ext cx="91440" cy="73152"/>
          </a:xfrm>
          <a:prstGeom prst="rect">
            <a:avLst/>
          </a:prstGeom>
          <a:solidFill>
            <a:srgbClr val="F59E0B"/>
          </a:solidFill>
          <a:ln w="12700">
            <a:solidFill>
              <a:srgbClr val="F59E0B"/>
            </a:solidFill>
            <a:prstDash val="solid"/>
          </a:ln>
        </p:spPr>
      </p:sp>
      <p:sp>
        <p:nvSpPr>
          <p:cNvPr id="17" name="Shape 15"/>
          <p:cNvSpPr/>
          <p:nvPr/>
        </p:nvSpPr>
        <p:spPr>
          <a:xfrm>
            <a:off x="2331720" y="2103120"/>
            <a:ext cx="365760" cy="292608"/>
          </a:xfrm>
          <a:prstGeom prst="rect">
            <a:avLst/>
          </a:prstGeom>
          <a:solidFill>
            <a:srgbClr val="162D5A"/>
          </a:solidFill>
          <a:ln w="6350">
            <a:solidFill>
              <a:srgbClr val="1E3A5F"/>
            </a:solidFill>
            <a:prstDash val="solid"/>
          </a:ln>
        </p:spPr>
      </p:sp>
      <p:sp>
        <p:nvSpPr>
          <p:cNvPr id="18" name="Shape 16"/>
          <p:cNvSpPr/>
          <p:nvPr/>
        </p:nvSpPr>
        <p:spPr>
          <a:xfrm>
            <a:off x="2697480" y="2212848"/>
            <a:ext cx="91440" cy="73152"/>
          </a:xfrm>
          <a:prstGeom prst="rect">
            <a:avLst/>
          </a:prstGeom>
          <a:solidFill>
            <a:srgbClr val="F59E0B"/>
          </a:solidFill>
          <a:ln w="12700">
            <a:solidFill>
              <a:srgbClr val="F59E0B"/>
            </a:solidFill>
            <a:prstDash val="solid"/>
          </a:ln>
        </p:spPr>
      </p:sp>
      <p:sp>
        <p:nvSpPr>
          <p:cNvPr id="19" name="Shape 17"/>
          <p:cNvSpPr/>
          <p:nvPr/>
        </p:nvSpPr>
        <p:spPr>
          <a:xfrm>
            <a:off x="2788920" y="2103120"/>
            <a:ext cx="365760" cy="292608"/>
          </a:xfrm>
          <a:prstGeom prst="rect">
            <a:avLst/>
          </a:prstGeom>
          <a:solidFill>
            <a:srgbClr val="162D5A"/>
          </a:solidFill>
          <a:ln w="6350">
            <a:solidFill>
              <a:srgbClr val="1E3A5F"/>
            </a:solidFill>
            <a:prstDash val="solid"/>
          </a:ln>
        </p:spPr>
      </p:sp>
      <p:sp>
        <p:nvSpPr>
          <p:cNvPr id="20" name="Shape 18"/>
          <p:cNvSpPr/>
          <p:nvPr/>
        </p:nvSpPr>
        <p:spPr>
          <a:xfrm>
            <a:off x="3154680" y="2212848"/>
            <a:ext cx="91440" cy="73152"/>
          </a:xfrm>
          <a:prstGeom prst="rect">
            <a:avLst/>
          </a:prstGeom>
          <a:solidFill>
            <a:srgbClr val="F59E0B"/>
          </a:solidFill>
          <a:ln w="12700">
            <a:solidFill>
              <a:srgbClr val="F59E0B"/>
            </a:solidFill>
            <a:prstDash val="solid"/>
          </a:ln>
        </p:spPr>
      </p:sp>
      <p:sp>
        <p:nvSpPr>
          <p:cNvPr id="21" name="Shape 19"/>
          <p:cNvSpPr/>
          <p:nvPr/>
        </p:nvSpPr>
        <p:spPr>
          <a:xfrm>
            <a:off x="3246120" y="2103120"/>
            <a:ext cx="365760" cy="292608"/>
          </a:xfrm>
          <a:prstGeom prst="rect">
            <a:avLst/>
          </a:prstGeom>
          <a:solidFill>
            <a:srgbClr val="162D5A"/>
          </a:solidFill>
          <a:ln w="6350">
            <a:solidFill>
              <a:srgbClr val="1E3A5F"/>
            </a:solidFill>
            <a:prstDash val="solid"/>
          </a:ln>
        </p:spPr>
      </p:sp>
      <p:sp>
        <p:nvSpPr>
          <p:cNvPr id="22" name="Shape 20"/>
          <p:cNvSpPr/>
          <p:nvPr/>
        </p:nvSpPr>
        <p:spPr>
          <a:xfrm>
            <a:off x="3611880" y="2212848"/>
            <a:ext cx="91440" cy="73152"/>
          </a:xfrm>
          <a:prstGeom prst="rect">
            <a:avLst/>
          </a:prstGeom>
          <a:solidFill>
            <a:srgbClr val="F59E0B"/>
          </a:solidFill>
          <a:ln w="12700">
            <a:solidFill>
              <a:srgbClr val="F59E0B"/>
            </a:solidFill>
            <a:prstDash val="solid"/>
          </a:ln>
        </p:spPr>
      </p:sp>
      <p:sp>
        <p:nvSpPr>
          <p:cNvPr id="23" name="Shape 21"/>
          <p:cNvSpPr/>
          <p:nvPr/>
        </p:nvSpPr>
        <p:spPr>
          <a:xfrm>
            <a:off x="3703320" y="2103120"/>
            <a:ext cx="365760" cy="292608"/>
          </a:xfrm>
          <a:prstGeom prst="rect">
            <a:avLst/>
          </a:prstGeom>
          <a:solidFill>
            <a:srgbClr val="F43F5E"/>
          </a:solidFill>
          <a:ln w="6350">
            <a:solidFill>
              <a:srgbClr val="1E3A5F"/>
            </a:solidFill>
            <a:prstDash val="solid"/>
          </a:ln>
        </p:spPr>
      </p:sp>
      <p:sp>
        <p:nvSpPr>
          <p:cNvPr id="24" name="Text 22"/>
          <p:cNvSpPr/>
          <p:nvPr/>
        </p:nvSpPr>
        <p:spPr>
          <a:xfrm>
            <a:off x="502920" y="2468880"/>
            <a:ext cx="3749040" cy="22860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t1→t2→t3→...→t60  (signal weakens)</a:t>
            </a:r>
            <a:endParaRPr lang="en-US" sz="1000" dirty="0"/>
          </a:p>
        </p:txBody>
      </p:sp>
      <p:sp>
        <p:nvSpPr>
          <p:cNvPr id="25" name="Text 23"/>
          <p:cNvSpPr/>
          <p:nvPr/>
        </p:nvSpPr>
        <p:spPr>
          <a:xfrm>
            <a:off x="548640" y="2816352"/>
            <a:ext cx="3657600" cy="137160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Bearing wear signal starts at step 1 and the RPM drop happens at step 55. By the time the LSTM reaches step 55, the early signal has passed through 54 hidden state updates — and it degrades.</a:t>
            </a:r>
            <a:endParaRPr lang="en-US" sz="1150" dirty="0"/>
          </a:p>
        </p:txBody>
      </p:sp>
      <p:sp>
        <p:nvSpPr>
          <p:cNvPr id="26" name="Shape 24"/>
          <p:cNvSpPr/>
          <p:nvPr/>
        </p:nvSpPr>
        <p:spPr>
          <a:xfrm>
            <a:off x="4663440" y="1298448"/>
            <a:ext cx="4114800" cy="301752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7" name="Shape 25"/>
          <p:cNvSpPr/>
          <p:nvPr/>
        </p:nvSpPr>
        <p:spPr>
          <a:xfrm>
            <a:off x="4663440" y="1298448"/>
            <a:ext cx="4114800" cy="64008"/>
          </a:xfrm>
          <a:prstGeom prst="rect">
            <a:avLst/>
          </a:prstGeom>
          <a:solidFill>
            <a:srgbClr val="0EA5E9"/>
          </a:solidFill>
          <a:ln w="12700">
            <a:solidFill>
              <a:srgbClr val="0EA5E9"/>
            </a:solidFill>
            <a:prstDash val="solid"/>
          </a:ln>
        </p:spPr>
      </p:sp>
      <p:sp>
        <p:nvSpPr>
          <p:cNvPr id="28" name="Text 26"/>
          <p:cNvSpPr/>
          <p:nvPr/>
        </p:nvSpPr>
        <p:spPr>
          <a:xfrm>
            <a:off x="4828032" y="1426464"/>
            <a:ext cx="3657600" cy="292608"/>
          </a:xfrm>
          <a:prstGeom prst="rect">
            <a:avLst/>
          </a:prstGeom>
          <a:noFill/>
          <a:ln/>
        </p:spPr>
        <p:txBody>
          <a:bodyPr wrap="square" rtlCol="0" anchor="ctr"/>
          <a:lstStyle/>
          <a:p>
            <a:pPr indent="0" marL="0">
              <a:buNone/>
            </a:pPr>
            <a:r>
              <a:rPr lang="en-US" sz="1500" b="1" dirty="0">
                <a:solidFill>
                  <a:srgbClr val="0EA5E9"/>
                </a:solidFill>
                <a:latin typeface="Calibri" pitchFamily="34" charset="0"/>
                <a:ea typeface="Calibri" pitchFamily="34" charset="-122"/>
                <a:cs typeface="Calibri" pitchFamily="34" charset="-120"/>
              </a:rPr>
              <a:t>PatchTST</a:t>
            </a:r>
            <a:endParaRPr lang="en-US" sz="1500" dirty="0"/>
          </a:p>
        </p:txBody>
      </p:sp>
      <p:sp>
        <p:nvSpPr>
          <p:cNvPr id="29" name="Text 27"/>
          <p:cNvSpPr/>
          <p:nvPr/>
        </p:nvSpPr>
        <p:spPr>
          <a:xfrm>
            <a:off x="4828032" y="1764792"/>
            <a:ext cx="3657600" cy="2286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Parallel self-attention on patches</a:t>
            </a:r>
            <a:endParaRPr lang="en-US" sz="1100" dirty="0"/>
          </a:p>
        </p:txBody>
      </p:sp>
      <p:sp>
        <p:nvSpPr>
          <p:cNvPr id="30" name="Shape 28"/>
          <p:cNvSpPr/>
          <p:nvPr/>
        </p:nvSpPr>
        <p:spPr>
          <a:xfrm>
            <a:off x="4828032" y="2103120"/>
            <a:ext cx="594360" cy="292608"/>
          </a:xfrm>
          <a:prstGeom prst="rect">
            <a:avLst/>
          </a:prstGeom>
          <a:solidFill>
            <a:srgbClr val="0EA5E9"/>
          </a:solidFill>
          <a:ln w="12700">
            <a:solidFill>
              <a:srgbClr val="0EA5E9"/>
            </a:solidFill>
            <a:prstDash val="solid"/>
          </a:ln>
        </p:spPr>
      </p:sp>
      <p:sp>
        <p:nvSpPr>
          <p:cNvPr id="31" name="Text 29"/>
          <p:cNvSpPr/>
          <p:nvPr/>
        </p:nvSpPr>
        <p:spPr>
          <a:xfrm>
            <a:off x="4828032" y="2121408"/>
            <a:ext cx="59436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32" name="Shape 30"/>
          <p:cNvSpPr/>
          <p:nvPr/>
        </p:nvSpPr>
        <p:spPr>
          <a:xfrm>
            <a:off x="5559552" y="2103120"/>
            <a:ext cx="594360" cy="292608"/>
          </a:xfrm>
          <a:prstGeom prst="rect">
            <a:avLst/>
          </a:prstGeom>
          <a:solidFill>
            <a:srgbClr val="162D5A"/>
          </a:solidFill>
          <a:ln w="6350">
            <a:solidFill>
              <a:srgbClr val="1E3A5F"/>
            </a:solidFill>
            <a:prstDash val="solid"/>
          </a:ln>
        </p:spPr>
      </p:sp>
      <p:sp>
        <p:nvSpPr>
          <p:cNvPr id="33" name="Text 31"/>
          <p:cNvSpPr/>
          <p:nvPr/>
        </p:nvSpPr>
        <p:spPr>
          <a:xfrm>
            <a:off x="5559552" y="2121408"/>
            <a:ext cx="594360" cy="25603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P2</a:t>
            </a:r>
            <a:endParaRPr lang="en-US" sz="1000" dirty="0"/>
          </a:p>
        </p:txBody>
      </p:sp>
      <p:sp>
        <p:nvSpPr>
          <p:cNvPr id="34" name="Shape 32"/>
          <p:cNvSpPr/>
          <p:nvPr/>
        </p:nvSpPr>
        <p:spPr>
          <a:xfrm>
            <a:off x="6291072" y="2103120"/>
            <a:ext cx="594360" cy="292608"/>
          </a:xfrm>
          <a:prstGeom prst="rect">
            <a:avLst/>
          </a:prstGeom>
          <a:solidFill>
            <a:srgbClr val="162D5A"/>
          </a:solidFill>
          <a:ln w="6350">
            <a:solidFill>
              <a:srgbClr val="1E3A5F"/>
            </a:solidFill>
            <a:prstDash val="solid"/>
          </a:ln>
        </p:spPr>
      </p:sp>
      <p:sp>
        <p:nvSpPr>
          <p:cNvPr id="35" name="Text 33"/>
          <p:cNvSpPr/>
          <p:nvPr/>
        </p:nvSpPr>
        <p:spPr>
          <a:xfrm>
            <a:off x="6291072" y="2121408"/>
            <a:ext cx="594360" cy="25603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P3</a:t>
            </a:r>
            <a:endParaRPr lang="en-US" sz="1000" dirty="0"/>
          </a:p>
        </p:txBody>
      </p:sp>
      <p:sp>
        <p:nvSpPr>
          <p:cNvPr id="36" name="Shape 34"/>
          <p:cNvSpPr/>
          <p:nvPr/>
        </p:nvSpPr>
        <p:spPr>
          <a:xfrm>
            <a:off x="7022592" y="2103120"/>
            <a:ext cx="594360" cy="292608"/>
          </a:xfrm>
          <a:prstGeom prst="rect">
            <a:avLst/>
          </a:prstGeom>
          <a:solidFill>
            <a:srgbClr val="162D5A"/>
          </a:solidFill>
          <a:ln w="6350">
            <a:solidFill>
              <a:srgbClr val="1E3A5F"/>
            </a:solidFill>
            <a:prstDash val="solid"/>
          </a:ln>
        </p:spPr>
      </p:sp>
      <p:sp>
        <p:nvSpPr>
          <p:cNvPr id="37" name="Text 35"/>
          <p:cNvSpPr/>
          <p:nvPr/>
        </p:nvSpPr>
        <p:spPr>
          <a:xfrm>
            <a:off x="7022592" y="2121408"/>
            <a:ext cx="594360" cy="256032"/>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P4</a:t>
            </a:r>
            <a:endParaRPr lang="en-US" sz="1000" dirty="0"/>
          </a:p>
        </p:txBody>
      </p:sp>
      <p:sp>
        <p:nvSpPr>
          <p:cNvPr id="38" name="Shape 36"/>
          <p:cNvSpPr/>
          <p:nvPr/>
        </p:nvSpPr>
        <p:spPr>
          <a:xfrm>
            <a:off x="7754112" y="2103120"/>
            <a:ext cx="594360" cy="292608"/>
          </a:xfrm>
          <a:prstGeom prst="rect">
            <a:avLst/>
          </a:prstGeom>
          <a:solidFill>
            <a:srgbClr val="0EA5E9"/>
          </a:solidFill>
          <a:ln w="12700">
            <a:solidFill>
              <a:srgbClr val="0EA5E9"/>
            </a:solidFill>
            <a:prstDash val="solid"/>
          </a:ln>
        </p:spPr>
      </p:sp>
      <p:sp>
        <p:nvSpPr>
          <p:cNvPr id="39" name="Text 37"/>
          <p:cNvSpPr/>
          <p:nvPr/>
        </p:nvSpPr>
        <p:spPr>
          <a:xfrm>
            <a:off x="7754112" y="2121408"/>
            <a:ext cx="59436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P5</a:t>
            </a:r>
            <a:endParaRPr lang="en-US" sz="1000" dirty="0"/>
          </a:p>
        </p:txBody>
      </p:sp>
      <p:sp>
        <p:nvSpPr>
          <p:cNvPr id="40" name="Shape 38"/>
          <p:cNvSpPr/>
          <p:nvPr/>
        </p:nvSpPr>
        <p:spPr>
          <a:xfrm>
            <a:off x="5120640" y="2395728"/>
            <a:ext cx="2926080" cy="0"/>
          </a:xfrm>
          <a:prstGeom prst="line">
            <a:avLst/>
          </a:prstGeom>
          <a:noFill/>
          <a:ln w="19050">
            <a:solidFill>
              <a:srgbClr val="0EA5E9"/>
            </a:solidFill>
            <a:prstDash val="dash"/>
          </a:ln>
        </p:spPr>
      </p:sp>
      <p:sp>
        <p:nvSpPr>
          <p:cNvPr id="41" name="Text 39"/>
          <p:cNvSpPr/>
          <p:nvPr/>
        </p:nvSpPr>
        <p:spPr>
          <a:xfrm>
            <a:off x="4828032" y="2487168"/>
            <a:ext cx="3749040" cy="228600"/>
          </a:xfrm>
          <a:prstGeom prst="rect">
            <a:avLst/>
          </a:prstGeom>
          <a:noFill/>
          <a:ln/>
        </p:spPr>
        <p:txBody>
          <a:bodyPr wrap="square" rtlCol="0" anchor="ctr"/>
          <a:lstStyle/>
          <a:p>
            <a:pPr indent="0" marL="0">
              <a:buNone/>
            </a:pPr>
            <a:r>
              <a:rPr lang="en-US" sz="1000" dirty="0">
                <a:solidFill>
                  <a:srgbClr val="0EA5E9"/>
                </a:solidFill>
                <a:latin typeface="Calibri" pitchFamily="34" charset="0"/>
                <a:ea typeface="Calibri" pitchFamily="34" charset="-122"/>
                <a:cs typeface="Calibri" pitchFamily="34" charset="-120"/>
              </a:rPr>
              <a:t>Direct attention: P1 ↔ P5 in one step</a:t>
            </a:r>
            <a:endParaRPr lang="en-US" sz="1000" dirty="0"/>
          </a:p>
        </p:txBody>
      </p:sp>
      <p:sp>
        <p:nvSpPr>
          <p:cNvPr id="42" name="Text 40"/>
          <p:cNvSpPr/>
          <p:nvPr/>
        </p:nvSpPr>
        <p:spPr>
          <a:xfrm>
            <a:off x="4828032" y="2816352"/>
            <a:ext cx="3749040" cy="137160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All 5 patches attend to each other simultaneously. The early vibration anomaly (P1) connects directly to the RPM drop (P5) — no signal degradation across steps.</a:t>
            </a:r>
            <a:endParaRPr lang="en-US" sz="1150" dirty="0"/>
          </a:p>
        </p:txBody>
      </p:sp>
      <p:sp>
        <p:nvSpPr>
          <p:cNvPr id="43" name="Shape 41"/>
          <p:cNvSpPr/>
          <p:nvPr/>
        </p:nvSpPr>
        <p:spPr>
          <a:xfrm>
            <a:off x="365760" y="4434840"/>
            <a:ext cx="8412480" cy="54864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44" name="Shape 42"/>
          <p:cNvSpPr/>
          <p:nvPr/>
        </p:nvSpPr>
        <p:spPr>
          <a:xfrm>
            <a:off x="365760" y="4434840"/>
            <a:ext cx="54864" cy="548640"/>
          </a:xfrm>
          <a:prstGeom prst="rect">
            <a:avLst/>
          </a:prstGeom>
          <a:solidFill>
            <a:srgbClr val="0EA5E9"/>
          </a:solidFill>
          <a:ln w="12700">
            <a:solidFill>
              <a:srgbClr val="0EA5E9"/>
            </a:solidFill>
            <a:prstDash val="solid"/>
          </a:ln>
        </p:spPr>
      </p:sp>
      <p:sp>
        <p:nvSpPr>
          <p:cNvPr id="45" name="Text 43"/>
          <p:cNvSpPr/>
          <p:nvPr/>
        </p:nvSpPr>
        <p:spPr>
          <a:xfrm>
            <a:off x="548640" y="4526280"/>
            <a:ext cx="8046720" cy="365760"/>
          </a:xfrm>
          <a:prstGeom prst="rect">
            <a:avLst/>
          </a:prstGeom>
          <a:noFill/>
          <a:ln/>
        </p:spPr>
        <p:txBody>
          <a:bodyPr wrap="square" rtlCol="0" anchor="ctr"/>
          <a:lstStyle/>
          <a:p>
            <a:pPr indent="0" marL="0">
              <a:buNone/>
            </a:pPr>
            <a:r>
              <a:rPr lang="en-US" sz="1300" b="1" dirty="0">
                <a:solidFill>
                  <a:srgbClr val="0EA5E9"/>
                </a:solidFill>
                <a:latin typeface="Calibri" pitchFamily="34" charset="0"/>
                <a:ea typeface="Calibri" pitchFamily="34" charset="-122"/>
                <a:cs typeface="Calibri" pitchFamily="34" charset="-120"/>
              </a:rPr>
              <a:t>Key takeaway: Transformer sees the whole sequence at once. LSTM accumulates it step by step.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TRAINING</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Training Strategy &amp; Challenges</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98448"/>
            <a:ext cx="4069080" cy="16002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98448"/>
            <a:ext cx="4069080" cy="54864"/>
          </a:xfrm>
          <a:prstGeom prst="rect">
            <a:avLst/>
          </a:prstGeom>
          <a:solidFill>
            <a:srgbClr val="F43F5E"/>
          </a:solidFill>
          <a:ln w="12700">
            <a:solidFill>
              <a:srgbClr val="F43F5E"/>
            </a:solidFill>
            <a:prstDash val="solid"/>
          </a:ln>
        </p:spPr>
      </p:sp>
      <p:pic>
        <p:nvPicPr>
          <p:cNvPr id="7" name="Image 0" descr="preencoded.png">    </p:cNvPr>
          <p:cNvPicPr>
            <a:picLocks noChangeAspect="1"/>
          </p:cNvPicPr>
          <p:nvPr/>
        </p:nvPicPr>
        <p:blipFill>
          <a:blip r:embed="rId1"/>
          <a:stretch>
            <a:fillRect/>
          </a:stretch>
        </p:blipFill>
        <p:spPr>
          <a:xfrm>
            <a:off x="502920" y="1444752"/>
            <a:ext cx="320040" cy="320040"/>
          </a:xfrm>
          <a:prstGeom prst="rect">
            <a:avLst/>
          </a:prstGeom>
        </p:spPr>
      </p:pic>
      <p:sp>
        <p:nvSpPr>
          <p:cNvPr id="8" name="Text 5"/>
          <p:cNvSpPr/>
          <p:nvPr/>
        </p:nvSpPr>
        <p:spPr>
          <a:xfrm>
            <a:off x="896112" y="1444752"/>
            <a:ext cx="3401568"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Class Imbalance</a:t>
            </a:r>
            <a:endParaRPr lang="en-US" sz="1300" dirty="0"/>
          </a:p>
        </p:txBody>
      </p:sp>
      <p:sp>
        <p:nvSpPr>
          <p:cNvPr id="9" name="Text 6"/>
          <p:cNvSpPr/>
          <p:nvPr/>
        </p:nvSpPr>
        <p:spPr>
          <a:xfrm>
            <a:off x="502920" y="1865376"/>
            <a:ext cx="379476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Only ~2% of windows are pre-failure. Solution: WeightedRandomSampler + CrossEntropyLoss with positive class weight.</a:t>
            </a:r>
            <a:endParaRPr lang="en-US" sz="1100" dirty="0"/>
          </a:p>
        </p:txBody>
      </p:sp>
      <p:sp>
        <p:nvSpPr>
          <p:cNvPr id="10" name="Shape 7"/>
          <p:cNvSpPr/>
          <p:nvPr/>
        </p:nvSpPr>
        <p:spPr>
          <a:xfrm>
            <a:off x="4617720" y="1298448"/>
            <a:ext cx="4069080" cy="16002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4617720" y="1298448"/>
            <a:ext cx="4069080" cy="54864"/>
          </a:xfrm>
          <a:prstGeom prst="rect">
            <a:avLst/>
          </a:prstGeom>
          <a:solidFill>
            <a:srgbClr val="F59E0B"/>
          </a:solidFill>
          <a:ln w="12700">
            <a:solidFill>
              <a:srgbClr val="F59E0B"/>
            </a:solidFill>
            <a:prstDash val="solid"/>
          </a:ln>
        </p:spPr>
      </p:sp>
      <p:pic>
        <p:nvPicPr>
          <p:cNvPr id="12" name="Image 1" descr="preencoded.png">    </p:cNvPr>
          <p:cNvPicPr>
            <a:picLocks noChangeAspect="1"/>
          </p:cNvPicPr>
          <p:nvPr/>
        </p:nvPicPr>
        <p:blipFill>
          <a:blip r:embed="rId2"/>
          <a:stretch>
            <a:fillRect/>
          </a:stretch>
        </p:blipFill>
        <p:spPr>
          <a:xfrm>
            <a:off x="4754880" y="1444752"/>
            <a:ext cx="320040" cy="320040"/>
          </a:xfrm>
          <a:prstGeom prst="rect">
            <a:avLst/>
          </a:prstGeom>
        </p:spPr>
      </p:pic>
      <p:sp>
        <p:nvSpPr>
          <p:cNvPr id="13" name="Text 9"/>
          <p:cNvSpPr/>
          <p:nvPr/>
        </p:nvSpPr>
        <p:spPr>
          <a:xfrm>
            <a:off x="5148072" y="1444752"/>
            <a:ext cx="3401568"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Wrong Metric</a:t>
            </a:r>
            <a:endParaRPr lang="en-US" sz="1300" dirty="0"/>
          </a:p>
        </p:txBody>
      </p:sp>
      <p:sp>
        <p:nvSpPr>
          <p:cNvPr id="14" name="Text 10"/>
          <p:cNvSpPr/>
          <p:nvPr/>
        </p:nvSpPr>
        <p:spPr>
          <a:xfrm>
            <a:off x="4754880" y="1865376"/>
            <a:ext cx="379476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Accuracy is misleading (97% if predicting 'normal' always). We monitor F1 score for early stopping — it reflects minority class performance.</a:t>
            </a:r>
            <a:endParaRPr lang="en-US" sz="1100" dirty="0"/>
          </a:p>
        </p:txBody>
      </p:sp>
      <p:sp>
        <p:nvSpPr>
          <p:cNvPr id="15" name="Shape 11"/>
          <p:cNvSpPr/>
          <p:nvPr/>
        </p:nvSpPr>
        <p:spPr>
          <a:xfrm>
            <a:off x="365760" y="3063240"/>
            <a:ext cx="4069080" cy="16002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6" name="Shape 12"/>
          <p:cNvSpPr/>
          <p:nvPr/>
        </p:nvSpPr>
        <p:spPr>
          <a:xfrm>
            <a:off x="365760" y="3063240"/>
            <a:ext cx="4069080" cy="54864"/>
          </a:xfrm>
          <a:prstGeom prst="rect">
            <a:avLst/>
          </a:prstGeom>
          <a:solidFill>
            <a:srgbClr val="0EA5E9"/>
          </a:solidFill>
          <a:ln w="12700">
            <a:solidFill>
              <a:srgbClr val="0EA5E9"/>
            </a:solidFill>
            <a:prstDash val="solid"/>
          </a:ln>
        </p:spPr>
      </p:sp>
      <p:pic>
        <p:nvPicPr>
          <p:cNvPr id="17" name="Image 2" descr="preencoded.png">    </p:cNvPr>
          <p:cNvPicPr>
            <a:picLocks noChangeAspect="1"/>
          </p:cNvPicPr>
          <p:nvPr/>
        </p:nvPicPr>
        <p:blipFill>
          <a:blip r:embed="rId3"/>
          <a:stretch>
            <a:fillRect/>
          </a:stretch>
        </p:blipFill>
        <p:spPr>
          <a:xfrm>
            <a:off x="502920" y="3209544"/>
            <a:ext cx="320040" cy="320040"/>
          </a:xfrm>
          <a:prstGeom prst="rect">
            <a:avLst/>
          </a:prstGeom>
        </p:spPr>
      </p:pic>
      <p:sp>
        <p:nvSpPr>
          <p:cNvPr id="18" name="Text 13"/>
          <p:cNvSpPr/>
          <p:nvPr/>
        </p:nvSpPr>
        <p:spPr>
          <a:xfrm>
            <a:off x="896112" y="3209544"/>
            <a:ext cx="3401568"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Leakage</a:t>
            </a:r>
            <a:endParaRPr lang="en-US" sz="1300" dirty="0"/>
          </a:p>
        </p:txBody>
      </p:sp>
      <p:sp>
        <p:nvSpPr>
          <p:cNvPr id="19" name="Text 14"/>
          <p:cNvSpPr/>
          <p:nvPr/>
        </p:nvSpPr>
        <p:spPr>
          <a:xfrm>
            <a:off x="502920" y="3630168"/>
            <a:ext cx="379476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Z-score stats computed on training set only. Val and test sets normalized with training stats. Chronological split.</a:t>
            </a:r>
            <a:endParaRPr lang="en-US" sz="1100" dirty="0"/>
          </a:p>
        </p:txBody>
      </p:sp>
      <p:sp>
        <p:nvSpPr>
          <p:cNvPr id="20" name="Shape 15"/>
          <p:cNvSpPr/>
          <p:nvPr/>
        </p:nvSpPr>
        <p:spPr>
          <a:xfrm>
            <a:off x="4617720" y="3063240"/>
            <a:ext cx="4069080" cy="160020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1" name="Shape 16"/>
          <p:cNvSpPr/>
          <p:nvPr/>
        </p:nvSpPr>
        <p:spPr>
          <a:xfrm>
            <a:off x="4617720" y="3063240"/>
            <a:ext cx="4069080" cy="54864"/>
          </a:xfrm>
          <a:prstGeom prst="rect">
            <a:avLst/>
          </a:prstGeom>
          <a:solidFill>
            <a:srgbClr val="10B981"/>
          </a:solidFill>
          <a:ln w="12700">
            <a:solidFill>
              <a:srgbClr val="10B981"/>
            </a:solidFill>
            <a:prstDash val="solid"/>
          </a:ln>
        </p:spPr>
      </p:sp>
      <p:pic>
        <p:nvPicPr>
          <p:cNvPr id="22" name="Image 3" descr="preencoded.png">    </p:cNvPr>
          <p:cNvPicPr>
            <a:picLocks noChangeAspect="1"/>
          </p:cNvPicPr>
          <p:nvPr/>
        </p:nvPicPr>
        <p:blipFill>
          <a:blip r:embed="rId4"/>
          <a:stretch>
            <a:fillRect/>
          </a:stretch>
        </p:blipFill>
        <p:spPr>
          <a:xfrm>
            <a:off x="4754880" y="3209544"/>
            <a:ext cx="320040" cy="320040"/>
          </a:xfrm>
          <a:prstGeom prst="rect">
            <a:avLst/>
          </a:prstGeom>
        </p:spPr>
      </p:pic>
      <p:sp>
        <p:nvSpPr>
          <p:cNvPr id="23" name="Text 17"/>
          <p:cNvSpPr/>
          <p:nvPr/>
        </p:nvSpPr>
        <p:spPr>
          <a:xfrm>
            <a:off x="5148072" y="3209544"/>
            <a:ext cx="3401568"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Overfitting Risk</a:t>
            </a:r>
            <a:endParaRPr lang="en-US" sz="1300" dirty="0"/>
          </a:p>
        </p:txBody>
      </p:sp>
      <p:sp>
        <p:nvSpPr>
          <p:cNvPr id="24" name="Text 18"/>
          <p:cNvSpPr/>
          <p:nvPr/>
        </p:nvSpPr>
        <p:spPr>
          <a:xfrm>
            <a:off x="4754880" y="3630168"/>
            <a:ext cx="379476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Dropout 0.1, weight decay 1e-4, cosine LR annealing, gradient clipping at max norm 1.0.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DISCUSSION</a:t>
            </a:r>
            <a:endParaRPr lang="en-US" sz="800" dirty="0"/>
          </a:p>
        </p:txBody>
      </p:sp>
      <p:sp>
        <p:nvSpPr>
          <p:cNvPr id="3" name="Text 1"/>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Limitations &amp; Future Work</a:t>
            </a:r>
            <a:endParaRPr lang="en-US" sz="3000" dirty="0"/>
          </a:p>
        </p:txBody>
      </p:sp>
      <p:sp>
        <p:nvSpPr>
          <p:cNvPr id="4" name="Shape 2"/>
          <p:cNvSpPr/>
          <p:nvPr/>
        </p:nvSpPr>
        <p:spPr>
          <a:xfrm>
            <a:off x="365760" y="1115568"/>
            <a:ext cx="8412480" cy="36576"/>
          </a:xfrm>
          <a:prstGeom prst="rect">
            <a:avLst/>
          </a:prstGeom>
          <a:solidFill>
            <a:srgbClr val="0EA5E9"/>
          </a:solidFill>
          <a:ln w="12700">
            <a:solidFill>
              <a:srgbClr val="0EA5E9"/>
            </a:solidFill>
            <a:prstDash val="solid"/>
          </a:ln>
        </p:spPr>
      </p:sp>
      <p:sp>
        <p:nvSpPr>
          <p:cNvPr id="5" name="Shape 3"/>
          <p:cNvSpPr/>
          <p:nvPr/>
        </p:nvSpPr>
        <p:spPr>
          <a:xfrm>
            <a:off x="365760" y="1298448"/>
            <a:ext cx="8412480" cy="8229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6" name="Shape 4"/>
          <p:cNvSpPr/>
          <p:nvPr/>
        </p:nvSpPr>
        <p:spPr>
          <a:xfrm>
            <a:off x="365760" y="1298448"/>
            <a:ext cx="54864" cy="822960"/>
          </a:xfrm>
          <a:prstGeom prst="rect">
            <a:avLst/>
          </a:prstGeom>
          <a:solidFill>
            <a:srgbClr val="0EA5E9"/>
          </a:solidFill>
          <a:ln w="12700">
            <a:solidFill>
              <a:srgbClr val="0EA5E9"/>
            </a:solidFill>
            <a:prstDash val="solid"/>
          </a:ln>
        </p:spPr>
      </p:sp>
      <p:pic>
        <p:nvPicPr>
          <p:cNvPr id="7" name="Image 0" descr="preencoded.png">    </p:cNvPr>
          <p:cNvPicPr>
            <a:picLocks noChangeAspect="1"/>
          </p:cNvPicPr>
          <p:nvPr/>
        </p:nvPicPr>
        <p:blipFill>
          <a:blip r:embed="rId1"/>
          <a:stretch>
            <a:fillRect/>
          </a:stretch>
        </p:blipFill>
        <p:spPr>
          <a:xfrm>
            <a:off x="512064" y="1527048"/>
            <a:ext cx="292608" cy="292608"/>
          </a:xfrm>
          <a:prstGeom prst="rect">
            <a:avLst/>
          </a:prstGeom>
        </p:spPr>
      </p:pic>
      <p:sp>
        <p:nvSpPr>
          <p:cNvPr id="8" name="Text 5"/>
          <p:cNvSpPr/>
          <p:nvPr/>
        </p:nvSpPr>
        <p:spPr>
          <a:xfrm>
            <a:off x="896112" y="1389888"/>
            <a:ext cx="2286000" cy="274320"/>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Channel Independence</a:t>
            </a:r>
            <a:endParaRPr lang="en-US" sz="1200" dirty="0"/>
          </a:p>
        </p:txBody>
      </p:sp>
      <p:sp>
        <p:nvSpPr>
          <p:cNvPr id="9" name="Text 6"/>
          <p:cNvSpPr/>
          <p:nvPr/>
        </p:nvSpPr>
        <p:spPr>
          <a:xfrm>
            <a:off x="896112" y="1719072"/>
            <a:ext cx="1188720" cy="219456"/>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Current limit: </a:t>
            </a:r>
            <a:endParaRPr lang="en-US" sz="1000" dirty="0"/>
          </a:p>
        </p:txBody>
      </p:sp>
      <p:sp>
        <p:nvSpPr>
          <p:cNvPr id="10" name="Text 7"/>
          <p:cNvSpPr/>
          <p:nvPr/>
        </p:nvSpPr>
        <p:spPr>
          <a:xfrm>
            <a:off x="2084832" y="1719072"/>
            <a:ext cx="3017520" cy="32918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Each sensor processed independently — cross-channel correlations (RPM ↔ vibration) not captured directly.</a:t>
            </a:r>
            <a:endParaRPr lang="en-US" sz="1000" dirty="0"/>
          </a:p>
        </p:txBody>
      </p:sp>
      <p:sp>
        <p:nvSpPr>
          <p:cNvPr id="11" name="Text 8"/>
          <p:cNvSpPr/>
          <p:nvPr/>
        </p:nvSpPr>
        <p:spPr>
          <a:xfrm>
            <a:off x="5212080" y="1719072"/>
            <a:ext cx="731520" cy="219456"/>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Future: </a:t>
            </a:r>
            <a:endParaRPr lang="en-US" sz="1000" dirty="0"/>
          </a:p>
        </p:txBody>
      </p:sp>
      <p:sp>
        <p:nvSpPr>
          <p:cNvPr id="12" name="Text 9"/>
          <p:cNvSpPr/>
          <p:nvPr/>
        </p:nvSpPr>
        <p:spPr>
          <a:xfrm>
            <a:off x="5925312" y="1719072"/>
            <a:ext cx="2743200" cy="329184"/>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iTransformer: inverted attention over channels instead of timesteps.</a:t>
            </a:r>
            <a:endParaRPr lang="en-US" sz="1000" dirty="0"/>
          </a:p>
        </p:txBody>
      </p:sp>
      <p:sp>
        <p:nvSpPr>
          <p:cNvPr id="13" name="Shape 10"/>
          <p:cNvSpPr/>
          <p:nvPr/>
        </p:nvSpPr>
        <p:spPr>
          <a:xfrm>
            <a:off x="365760" y="2231136"/>
            <a:ext cx="8412480" cy="8229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4" name="Shape 11"/>
          <p:cNvSpPr/>
          <p:nvPr/>
        </p:nvSpPr>
        <p:spPr>
          <a:xfrm>
            <a:off x="365760" y="2231136"/>
            <a:ext cx="54864" cy="822960"/>
          </a:xfrm>
          <a:prstGeom prst="rect">
            <a:avLst/>
          </a:prstGeom>
          <a:solidFill>
            <a:srgbClr val="F59E0B"/>
          </a:solidFill>
          <a:ln w="12700">
            <a:solidFill>
              <a:srgbClr val="F59E0B"/>
            </a:solidFill>
            <a:prstDash val="solid"/>
          </a:ln>
        </p:spPr>
      </p:sp>
      <p:pic>
        <p:nvPicPr>
          <p:cNvPr id="15" name="Image 1" descr="preencoded.png">    </p:cNvPr>
          <p:cNvPicPr>
            <a:picLocks noChangeAspect="1"/>
          </p:cNvPicPr>
          <p:nvPr/>
        </p:nvPicPr>
        <p:blipFill>
          <a:blip r:embed="rId2"/>
          <a:stretch>
            <a:fillRect/>
          </a:stretch>
        </p:blipFill>
        <p:spPr>
          <a:xfrm>
            <a:off x="512064" y="2459736"/>
            <a:ext cx="292608" cy="292608"/>
          </a:xfrm>
          <a:prstGeom prst="rect">
            <a:avLst/>
          </a:prstGeom>
        </p:spPr>
      </p:pic>
      <p:sp>
        <p:nvSpPr>
          <p:cNvPr id="16" name="Text 12"/>
          <p:cNvSpPr/>
          <p:nvPr/>
        </p:nvSpPr>
        <p:spPr>
          <a:xfrm>
            <a:off x="896112" y="2322576"/>
            <a:ext cx="2286000" cy="27432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Fixed Window Size</a:t>
            </a:r>
            <a:endParaRPr lang="en-US" sz="1200" dirty="0"/>
          </a:p>
        </p:txBody>
      </p:sp>
      <p:sp>
        <p:nvSpPr>
          <p:cNvPr id="17" name="Text 13"/>
          <p:cNvSpPr/>
          <p:nvPr/>
        </p:nvSpPr>
        <p:spPr>
          <a:xfrm>
            <a:off x="896112" y="2651760"/>
            <a:ext cx="1188720" cy="219456"/>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Current limit: </a:t>
            </a:r>
            <a:endParaRPr lang="en-US" sz="1000" dirty="0"/>
          </a:p>
        </p:txBody>
      </p:sp>
      <p:sp>
        <p:nvSpPr>
          <p:cNvPr id="18" name="Text 14"/>
          <p:cNvSpPr/>
          <p:nvPr/>
        </p:nvSpPr>
        <p:spPr>
          <a:xfrm>
            <a:off x="2084832" y="2651760"/>
            <a:ext cx="3017520" cy="32918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Bearing wear unfolds over 300 steps; our 60-step window captures only the tail end.</a:t>
            </a:r>
            <a:endParaRPr lang="en-US" sz="1000" dirty="0"/>
          </a:p>
        </p:txBody>
      </p:sp>
      <p:sp>
        <p:nvSpPr>
          <p:cNvPr id="19" name="Text 15"/>
          <p:cNvSpPr/>
          <p:nvPr/>
        </p:nvSpPr>
        <p:spPr>
          <a:xfrm>
            <a:off x="5212080" y="2651760"/>
            <a:ext cx="731520" cy="219456"/>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Future: </a:t>
            </a:r>
            <a:endParaRPr lang="en-US" sz="1000" dirty="0"/>
          </a:p>
        </p:txBody>
      </p:sp>
      <p:sp>
        <p:nvSpPr>
          <p:cNvPr id="20" name="Text 16"/>
          <p:cNvSpPr/>
          <p:nvPr/>
        </p:nvSpPr>
        <p:spPr>
          <a:xfrm>
            <a:off x="5925312" y="2651760"/>
            <a:ext cx="2743200" cy="329184"/>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Multi-scale architecture or longer context (120–300 step windows).</a:t>
            </a:r>
            <a:endParaRPr lang="en-US" sz="1000" dirty="0"/>
          </a:p>
        </p:txBody>
      </p:sp>
      <p:sp>
        <p:nvSpPr>
          <p:cNvPr id="21" name="Shape 17"/>
          <p:cNvSpPr/>
          <p:nvPr/>
        </p:nvSpPr>
        <p:spPr>
          <a:xfrm>
            <a:off x="365760" y="3163824"/>
            <a:ext cx="8412480" cy="8229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22" name="Shape 18"/>
          <p:cNvSpPr/>
          <p:nvPr/>
        </p:nvSpPr>
        <p:spPr>
          <a:xfrm>
            <a:off x="365760" y="3163824"/>
            <a:ext cx="54864" cy="822960"/>
          </a:xfrm>
          <a:prstGeom prst="rect">
            <a:avLst/>
          </a:prstGeom>
          <a:solidFill>
            <a:srgbClr val="10B981"/>
          </a:solidFill>
          <a:ln w="12700">
            <a:solidFill>
              <a:srgbClr val="10B981"/>
            </a:solidFill>
            <a:prstDash val="solid"/>
          </a:ln>
        </p:spPr>
      </p:sp>
      <p:pic>
        <p:nvPicPr>
          <p:cNvPr id="23" name="Image 2" descr="preencoded.png">    </p:cNvPr>
          <p:cNvPicPr>
            <a:picLocks noChangeAspect="1"/>
          </p:cNvPicPr>
          <p:nvPr/>
        </p:nvPicPr>
        <p:blipFill>
          <a:blip r:embed="rId3"/>
          <a:stretch>
            <a:fillRect/>
          </a:stretch>
        </p:blipFill>
        <p:spPr>
          <a:xfrm>
            <a:off x="512064" y="3392424"/>
            <a:ext cx="292608" cy="292608"/>
          </a:xfrm>
          <a:prstGeom prst="rect">
            <a:avLst/>
          </a:prstGeom>
        </p:spPr>
      </p:pic>
      <p:sp>
        <p:nvSpPr>
          <p:cNvPr id="24" name="Text 19"/>
          <p:cNvSpPr/>
          <p:nvPr/>
        </p:nvSpPr>
        <p:spPr>
          <a:xfrm>
            <a:off x="896112" y="3255264"/>
            <a:ext cx="2286000" cy="27432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Pretraining Potential</a:t>
            </a:r>
            <a:endParaRPr lang="en-US" sz="1200" dirty="0"/>
          </a:p>
        </p:txBody>
      </p:sp>
      <p:sp>
        <p:nvSpPr>
          <p:cNvPr id="25" name="Text 20"/>
          <p:cNvSpPr/>
          <p:nvPr/>
        </p:nvSpPr>
        <p:spPr>
          <a:xfrm>
            <a:off x="896112" y="3584448"/>
            <a:ext cx="1188720" cy="219456"/>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Current limit: </a:t>
            </a:r>
            <a:endParaRPr lang="en-US" sz="1000" dirty="0"/>
          </a:p>
        </p:txBody>
      </p:sp>
      <p:sp>
        <p:nvSpPr>
          <p:cNvPr id="26" name="Text 21"/>
          <p:cNvSpPr/>
          <p:nvPr/>
        </p:nvSpPr>
        <p:spPr>
          <a:xfrm>
            <a:off x="2084832" y="3584448"/>
            <a:ext cx="3017520" cy="32918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Model trained on labelled data only (~2% of all windows).</a:t>
            </a:r>
            <a:endParaRPr lang="en-US" sz="1000" dirty="0"/>
          </a:p>
        </p:txBody>
      </p:sp>
      <p:sp>
        <p:nvSpPr>
          <p:cNvPr id="27" name="Text 22"/>
          <p:cNvSpPr/>
          <p:nvPr/>
        </p:nvSpPr>
        <p:spPr>
          <a:xfrm>
            <a:off x="5212080" y="3584448"/>
            <a:ext cx="731520" cy="219456"/>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Future: </a:t>
            </a:r>
            <a:endParaRPr lang="en-US" sz="1000" dirty="0"/>
          </a:p>
        </p:txBody>
      </p:sp>
      <p:sp>
        <p:nvSpPr>
          <p:cNvPr id="28" name="Text 23"/>
          <p:cNvSpPr/>
          <p:nvPr/>
        </p:nvSpPr>
        <p:spPr>
          <a:xfrm>
            <a:off x="5925312" y="3584448"/>
            <a:ext cx="2743200" cy="329184"/>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Self-supervised pretraining on unlabelled sensor streams, then fine-tune.</a:t>
            </a:r>
            <a:endParaRPr lang="en-US" sz="1000" dirty="0"/>
          </a:p>
        </p:txBody>
      </p:sp>
      <p:sp>
        <p:nvSpPr>
          <p:cNvPr id="29" name="Shape 24"/>
          <p:cNvSpPr/>
          <p:nvPr/>
        </p:nvSpPr>
        <p:spPr>
          <a:xfrm>
            <a:off x="365760" y="4096512"/>
            <a:ext cx="8412480" cy="822960"/>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30" name="Shape 25"/>
          <p:cNvSpPr/>
          <p:nvPr/>
        </p:nvSpPr>
        <p:spPr>
          <a:xfrm>
            <a:off x="365760" y="4096512"/>
            <a:ext cx="54864" cy="822960"/>
          </a:xfrm>
          <a:prstGeom prst="rect">
            <a:avLst/>
          </a:prstGeom>
          <a:solidFill>
            <a:srgbClr val="F43F5E"/>
          </a:solidFill>
          <a:ln w="12700">
            <a:solidFill>
              <a:srgbClr val="F43F5E"/>
            </a:solidFill>
            <a:prstDash val="solid"/>
          </a:ln>
        </p:spPr>
      </p:sp>
      <p:pic>
        <p:nvPicPr>
          <p:cNvPr id="31" name="Image 3" descr="preencoded.png">    </p:cNvPr>
          <p:cNvPicPr>
            <a:picLocks noChangeAspect="1"/>
          </p:cNvPicPr>
          <p:nvPr/>
        </p:nvPicPr>
        <p:blipFill>
          <a:blip r:embed="rId4"/>
          <a:stretch>
            <a:fillRect/>
          </a:stretch>
        </p:blipFill>
        <p:spPr>
          <a:xfrm>
            <a:off x="512064" y="4325112"/>
            <a:ext cx="292608" cy="292608"/>
          </a:xfrm>
          <a:prstGeom prst="rect">
            <a:avLst/>
          </a:prstGeom>
        </p:spPr>
      </p:pic>
      <p:sp>
        <p:nvSpPr>
          <p:cNvPr id="32" name="Text 26"/>
          <p:cNvSpPr/>
          <p:nvPr/>
        </p:nvSpPr>
        <p:spPr>
          <a:xfrm>
            <a:off x="896112" y="4187952"/>
            <a:ext cx="2286000" cy="274320"/>
          </a:xfrm>
          <a:prstGeom prst="rect">
            <a:avLst/>
          </a:prstGeom>
          <a:noFill/>
          <a:ln/>
        </p:spPr>
        <p:txBody>
          <a:bodyPr wrap="square" rtlCol="0" anchor="ctr"/>
          <a:lstStyle/>
          <a:p>
            <a:pPr indent="0" marL="0">
              <a:buNone/>
            </a:pPr>
            <a:r>
              <a:rPr lang="en-US" sz="1200" b="1" dirty="0">
                <a:solidFill>
                  <a:srgbClr val="F43F5E"/>
                </a:solidFill>
                <a:latin typeface="Calibri" pitchFamily="34" charset="0"/>
                <a:ea typeface="Calibri" pitchFamily="34" charset="-122"/>
                <a:cs typeface="Calibri" pitchFamily="34" charset="-120"/>
              </a:rPr>
              <a:t>Attention Visualisation</a:t>
            </a:r>
            <a:endParaRPr lang="en-US" sz="1200" dirty="0"/>
          </a:p>
        </p:txBody>
      </p:sp>
      <p:sp>
        <p:nvSpPr>
          <p:cNvPr id="33" name="Text 27"/>
          <p:cNvSpPr/>
          <p:nvPr/>
        </p:nvSpPr>
        <p:spPr>
          <a:xfrm>
            <a:off x="896112" y="4517136"/>
            <a:ext cx="1188720" cy="219456"/>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Current limit: </a:t>
            </a:r>
            <a:endParaRPr lang="en-US" sz="1000" dirty="0"/>
          </a:p>
        </p:txBody>
      </p:sp>
      <p:sp>
        <p:nvSpPr>
          <p:cNvPr id="34" name="Text 28"/>
          <p:cNvSpPr/>
          <p:nvPr/>
        </p:nvSpPr>
        <p:spPr>
          <a:xfrm>
            <a:off x="2084832" y="4517136"/>
            <a:ext cx="3017520" cy="329184"/>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Attention weights not yet systematically visualised per failure mode.</a:t>
            </a:r>
            <a:endParaRPr lang="en-US" sz="1000" dirty="0"/>
          </a:p>
        </p:txBody>
      </p:sp>
      <p:sp>
        <p:nvSpPr>
          <p:cNvPr id="35" name="Text 29"/>
          <p:cNvSpPr/>
          <p:nvPr/>
        </p:nvSpPr>
        <p:spPr>
          <a:xfrm>
            <a:off x="5212080" y="4517136"/>
            <a:ext cx="731520" cy="219456"/>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Future: </a:t>
            </a:r>
            <a:endParaRPr lang="en-US" sz="1000" dirty="0"/>
          </a:p>
        </p:txBody>
      </p:sp>
      <p:sp>
        <p:nvSpPr>
          <p:cNvPr id="36" name="Text 30"/>
          <p:cNvSpPr/>
          <p:nvPr/>
        </p:nvSpPr>
        <p:spPr>
          <a:xfrm>
            <a:off x="5925312" y="4517136"/>
            <a:ext cx="2743200" cy="329184"/>
          </a:xfrm>
          <a:prstGeom prst="rect">
            <a:avLst/>
          </a:prstGeom>
          <a:noFill/>
          <a:ln/>
        </p:spPr>
        <p:txBody>
          <a:bodyPr wrap="square" rtlCol="0" anchor="ctr"/>
          <a:lstStyle/>
          <a:p>
            <a:pPr indent="0" marL="0">
              <a:buNone/>
            </a:pPr>
            <a:r>
              <a:rPr lang="en-US" sz="1000" dirty="0">
                <a:solidFill>
                  <a:srgbClr val="E2E8F0"/>
                </a:solidFill>
                <a:latin typeface="Calibri" pitchFamily="34" charset="0"/>
                <a:ea typeface="Calibri" pitchFamily="34" charset="-122"/>
                <a:cs typeface="Calibri" pitchFamily="34" charset="-120"/>
              </a:rPr>
              <a:t>Heatmaps of patch attention before each failure type — mechanistic interpretability.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04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w="12700">
            <a:solidFill>
              <a:srgbClr val="0EA5E9"/>
            </a:solidFill>
            <a:prstDash val="solid"/>
          </a:ln>
        </p:spPr>
      </p:sp>
      <p:sp>
        <p:nvSpPr>
          <p:cNvPr id="3" name="Text 1"/>
          <p:cNvSpPr/>
          <p:nvPr/>
        </p:nvSpPr>
        <p:spPr>
          <a:xfrm>
            <a:off x="365760" y="201168"/>
            <a:ext cx="2743200" cy="201168"/>
          </a:xfrm>
          <a:prstGeom prst="rect">
            <a:avLst/>
          </a:prstGeom>
          <a:noFill/>
          <a:ln/>
        </p:spPr>
        <p:txBody>
          <a:bodyPr wrap="square" rtlCol="0" anchor="ctr"/>
          <a:lstStyle/>
          <a:p>
            <a:pPr indent="0" marL="0">
              <a:buNone/>
            </a:pPr>
            <a:r>
              <a:rPr lang="en-US" sz="800" b="1" spc="300" kern="0" dirty="0">
                <a:solidFill>
                  <a:srgbClr val="0EA5E9"/>
                </a:solidFill>
                <a:latin typeface="Calibri" pitchFamily="34" charset="0"/>
                <a:ea typeface="Calibri" pitchFamily="34" charset="-122"/>
                <a:cs typeface="Calibri" pitchFamily="34" charset="-120"/>
              </a:rPr>
              <a:t>CONCLUSION</a:t>
            </a:r>
            <a:endParaRPr lang="en-US" sz="800" dirty="0"/>
          </a:p>
        </p:txBody>
      </p:sp>
      <p:sp>
        <p:nvSpPr>
          <p:cNvPr id="4" name="Text 2"/>
          <p:cNvSpPr/>
          <p:nvPr/>
        </p:nvSpPr>
        <p:spPr>
          <a:xfrm>
            <a:off x="365760" y="475488"/>
            <a:ext cx="841248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Summary</a:t>
            </a:r>
            <a:endParaRPr lang="en-US" sz="3000" dirty="0"/>
          </a:p>
        </p:txBody>
      </p:sp>
      <p:sp>
        <p:nvSpPr>
          <p:cNvPr id="5" name="Shape 3"/>
          <p:cNvSpPr/>
          <p:nvPr/>
        </p:nvSpPr>
        <p:spPr>
          <a:xfrm>
            <a:off x="365760" y="1115568"/>
            <a:ext cx="8412480" cy="36576"/>
          </a:xfrm>
          <a:prstGeom prst="rect">
            <a:avLst/>
          </a:prstGeom>
          <a:solidFill>
            <a:srgbClr val="0EA5E9"/>
          </a:solidFill>
          <a:ln w="12700">
            <a:solidFill>
              <a:srgbClr val="0EA5E9"/>
            </a:solidFill>
            <a:prstDash val="solid"/>
          </a:ln>
        </p:spPr>
      </p:sp>
      <p:sp>
        <p:nvSpPr>
          <p:cNvPr id="6" name="Shape 4"/>
          <p:cNvSpPr/>
          <p:nvPr/>
        </p:nvSpPr>
        <p:spPr>
          <a:xfrm>
            <a:off x="365760" y="1298448"/>
            <a:ext cx="8412480" cy="1060704"/>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7" name="Shape 5"/>
          <p:cNvSpPr/>
          <p:nvPr/>
        </p:nvSpPr>
        <p:spPr>
          <a:xfrm>
            <a:off x="365760" y="1298448"/>
            <a:ext cx="8412480" cy="64008"/>
          </a:xfrm>
          <a:prstGeom prst="rect">
            <a:avLst/>
          </a:prstGeom>
          <a:solidFill>
            <a:srgbClr val="10B981"/>
          </a:solidFill>
          <a:ln w="12700">
            <a:solidFill>
              <a:srgbClr val="10B981"/>
            </a:solidFill>
            <a:prstDash val="solid"/>
          </a:ln>
        </p:spPr>
      </p:sp>
      <p:pic>
        <p:nvPicPr>
          <p:cNvPr id="8" name="Image 0" descr="preencoded.png">    </p:cNvPr>
          <p:cNvPicPr>
            <a:picLocks noChangeAspect="1"/>
          </p:cNvPicPr>
          <p:nvPr/>
        </p:nvPicPr>
        <p:blipFill>
          <a:blip r:embed="rId1"/>
          <a:stretch>
            <a:fillRect/>
          </a:stretch>
        </p:blipFill>
        <p:spPr>
          <a:xfrm>
            <a:off x="502920" y="1572768"/>
            <a:ext cx="384048" cy="384048"/>
          </a:xfrm>
          <a:prstGeom prst="rect">
            <a:avLst/>
          </a:prstGeom>
        </p:spPr>
      </p:pic>
      <p:sp>
        <p:nvSpPr>
          <p:cNvPr id="9" name="Text 6"/>
          <p:cNvSpPr/>
          <p:nvPr/>
        </p:nvSpPr>
        <p:spPr>
          <a:xfrm>
            <a:off x="1005840" y="1417320"/>
            <a:ext cx="7223760" cy="27432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Architecture Selection</a:t>
            </a:r>
            <a:endParaRPr lang="en-US" sz="1300" dirty="0"/>
          </a:p>
        </p:txBody>
      </p:sp>
      <p:sp>
        <p:nvSpPr>
          <p:cNvPr id="10" name="Text 7"/>
          <p:cNvSpPr/>
          <p:nvPr/>
        </p:nvSpPr>
        <p:spPr>
          <a:xfrm>
            <a:off x="1005840" y="1755648"/>
            <a:ext cx="7589520" cy="50292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PatchTST selected over Classical ML (no temporal modelling) and LSTM (gradient decay). Patch tokenisation + self-attention captures multi-step failure signatures directly.</a:t>
            </a:r>
            <a:endParaRPr lang="en-US" sz="1150" dirty="0"/>
          </a:p>
        </p:txBody>
      </p:sp>
      <p:sp>
        <p:nvSpPr>
          <p:cNvPr id="11" name="Shape 8"/>
          <p:cNvSpPr/>
          <p:nvPr/>
        </p:nvSpPr>
        <p:spPr>
          <a:xfrm>
            <a:off x="365760" y="2468880"/>
            <a:ext cx="8412480" cy="1060704"/>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2" name="Shape 9"/>
          <p:cNvSpPr/>
          <p:nvPr/>
        </p:nvSpPr>
        <p:spPr>
          <a:xfrm>
            <a:off x="365760" y="2468880"/>
            <a:ext cx="8412480" cy="64008"/>
          </a:xfrm>
          <a:prstGeom prst="rect">
            <a:avLst/>
          </a:prstGeom>
          <a:solidFill>
            <a:srgbClr val="0EA5E9"/>
          </a:solidFill>
          <a:ln w="12700">
            <a:solidFill>
              <a:srgbClr val="0EA5E9"/>
            </a:solidFill>
            <a:prstDash val="solid"/>
          </a:ln>
        </p:spPr>
      </p:sp>
      <p:pic>
        <p:nvPicPr>
          <p:cNvPr id="13" name="Image 1" descr="preencoded.png">    </p:cNvPr>
          <p:cNvPicPr>
            <a:picLocks noChangeAspect="1"/>
          </p:cNvPicPr>
          <p:nvPr/>
        </p:nvPicPr>
        <p:blipFill>
          <a:blip r:embed="rId2"/>
          <a:stretch>
            <a:fillRect/>
          </a:stretch>
        </p:blipFill>
        <p:spPr>
          <a:xfrm>
            <a:off x="502920" y="2743200"/>
            <a:ext cx="384048" cy="384048"/>
          </a:xfrm>
          <a:prstGeom prst="rect">
            <a:avLst/>
          </a:prstGeom>
        </p:spPr>
      </p:pic>
      <p:sp>
        <p:nvSpPr>
          <p:cNvPr id="14" name="Text 10"/>
          <p:cNvSpPr/>
          <p:nvPr/>
        </p:nvSpPr>
        <p:spPr>
          <a:xfrm>
            <a:off x="1005840" y="2587752"/>
            <a:ext cx="7223760" cy="274320"/>
          </a:xfrm>
          <a:prstGeom prst="rect">
            <a:avLst/>
          </a:prstGeom>
          <a:noFill/>
          <a:ln/>
        </p:spPr>
        <p:txBody>
          <a:bodyPr wrap="square" rtlCol="0" anchor="ctr"/>
          <a:lstStyle/>
          <a:p>
            <a:pPr indent="0" marL="0">
              <a:buNone/>
            </a:pPr>
            <a:r>
              <a:rPr lang="en-US" sz="1300" b="1" dirty="0">
                <a:solidFill>
                  <a:srgbClr val="0EA5E9"/>
                </a:solidFill>
                <a:latin typeface="Calibri" pitchFamily="34" charset="0"/>
                <a:ea typeface="Calibri" pitchFamily="34" charset="-122"/>
                <a:cs typeface="Calibri" pitchFamily="34" charset="-120"/>
              </a:rPr>
              <a:t>Strong Results</a:t>
            </a:r>
            <a:endParaRPr lang="en-US" sz="1300" dirty="0"/>
          </a:p>
        </p:txBody>
      </p:sp>
      <p:sp>
        <p:nvSpPr>
          <p:cNvPr id="15" name="Text 11"/>
          <p:cNvSpPr/>
          <p:nvPr/>
        </p:nvSpPr>
        <p:spPr>
          <a:xfrm>
            <a:off x="1005840" y="2926080"/>
            <a:ext cx="7589520" cy="50292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ROC-AUC 0.997 · 145/150 failures detected · 97% recall · 118K params (17% fewer than LSTM).</a:t>
            </a:r>
            <a:endParaRPr lang="en-US" sz="1150" dirty="0"/>
          </a:p>
        </p:txBody>
      </p:sp>
      <p:sp>
        <p:nvSpPr>
          <p:cNvPr id="16" name="Shape 12"/>
          <p:cNvSpPr/>
          <p:nvPr/>
        </p:nvSpPr>
        <p:spPr>
          <a:xfrm>
            <a:off x="365760" y="3639312"/>
            <a:ext cx="8412480" cy="1060704"/>
          </a:xfrm>
          <a:prstGeom prst="rect">
            <a:avLst/>
          </a:prstGeom>
          <a:solidFill>
            <a:srgbClr val="111D35"/>
          </a:solidFill>
          <a:ln w="10160">
            <a:solidFill>
              <a:srgbClr val="1E3A5F"/>
            </a:solidFill>
            <a:prstDash val="solid"/>
          </a:ln>
          <a:effectLst>
            <a:outerShdw sx="100000" sy="100000" kx="0" ky="0" algn="bl" rotWithShape="0" blurRad="101600" dist="38100" dir="8100000">
              <a:srgbClr val="000000">
                <a:alpha val="25000"/>
              </a:srgbClr>
            </a:outerShdw>
          </a:effectLst>
        </p:spPr>
      </p:sp>
      <p:sp>
        <p:nvSpPr>
          <p:cNvPr id="17" name="Shape 13"/>
          <p:cNvSpPr/>
          <p:nvPr/>
        </p:nvSpPr>
        <p:spPr>
          <a:xfrm>
            <a:off x="365760" y="3639312"/>
            <a:ext cx="8412480" cy="64008"/>
          </a:xfrm>
          <a:prstGeom prst="rect">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502920" y="3913632"/>
            <a:ext cx="384048" cy="384048"/>
          </a:xfrm>
          <a:prstGeom prst="rect">
            <a:avLst/>
          </a:prstGeom>
        </p:spPr>
      </p:pic>
      <p:sp>
        <p:nvSpPr>
          <p:cNvPr id="19" name="Text 14"/>
          <p:cNvSpPr/>
          <p:nvPr/>
        </p:nvSpPr>
        <p:spPr>
          <a:xfrm>
            <a:off x="1005840" y="3758184"/>
            <a:ext cx="7223760" cy="27432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Key Insight</a:t>
            </a:r>
            <a:endParaRPr lang="en-US" sz="1300" dirty="0"/>
          </a:p>
        </p:txBody>
      </p:sp>
      <p:sp>
        <p:nvSpPr>
          <p:cNvPr id="20" name="Text 15"/>
          <p:cNvSpPr/>
          <p:nvPr/>
        </p:nvSpPr>
        <p:spPr>
          <a:xfrm>
            <a:off x="1005840" y="4096512"/>
            <a:ext cx="7589520" cy="502920"/>
          </a:xfrm>
          <a:prstGeom prst="rect">
            <a:avLst/>
          </a:prstGeom>
          <a:noFill/>
          <a:ln/>
        </p:spPr>
        <p:txBody>
          <a:bodyPr wrap="square" rtlCol="0" anchor="t"/>
          <a:lstStyle/>
          <a:p>
            <a:pPr indent="0" marL="0">
              <a:buNone/>
            </a:pPr>
            <a:r>
              <a:rPr lang="en-US" sz="1150" dirty="0">
                <a:solidFill>
                  <a:srgbClr val="E2E8F0"/>
                </a:solidFill>
                <a:latin typeface="Calibri" pitchFamily="34" charset="0"/>
                <a:ea typeface="Calibri" pitchFamily="34" charset="-122"/>
                <a:cs typeface="Calibri" pitchFamily="34" charset="-120"/>
              </a:rPr>
              <a:t>The Transformer sees the whole sequence at once. The LSTM accumulates it step by step. For long-range failure precursors, parallel attention is the better inductive bias.</a:t>
            </a:r>
            <a:endParaRPr lang="en-US" sz="1150" dirty="0"/>
          </a:p>
        </p:txBody>
      </p:sp>
      <p:sp>
        <p:nvSpPr>
          <p:cNvPr id="21" name="Shape 16"/>
          <p:cNvSpPr/>
          <p:nvPr/>
        </p:nvSpPr>
        <p:spPr>
          <a:xfrm>
            <a:off x="365760" y="4709160"/>
            <a:ext cx="8412480" cy="384048"/>
          </a:xfrm>
          <a:prstGeom prst="rect">
            <a:avLst/>
          </a:prstGeom>
          <a:solidFill>
            <a:srgbClr val="0EA5E9">
              <a:alpha val="12000"/>
            </a:srgbClr>
          </a:solidFill>
          <a:ln w="10160">
            <a:solidFill>
              <a:srgbClr val="0EA5E9"/>
            </a:solidFill>
            <a:prstDash val="solid"/>
          </a:ln>
        </p:spPr>
      </p:sp>
      <p:sp>
        <p:nvSpPr>
          <p:cNvPr id="22" name="Shape 17"/>
          <p:cNvSpPr/>
          <p:nvPr/>
        </p:nvSpPr>
        <p:spPr>
          <a:xfrm>
            <a:off x="365760" y="4709160"/>
            <a:ext cx="54864" cy="384048"/>
          </a:xfrm>
          <a:prstGeom prst="rect">
            <a:avLst/>
          </a:prstGeom>
          <a:solidFill>
            <a:srgbClr val="0EA5E9"/>
          </a:solidFill>
          <a:ln w="12700">
            <a:solidFill>
              <a:srgbClr val="0EA5E9"/>
            </a:solidFill>
            <a:prstDash val="solid"/>
          </a:ln>
        </p:spPr>
      </p:sp>
      <p:sp>
        <p:nvSpPr>
          <p:cNvPr id="23" name="Text 18"/>
          <p:cNvSpPr/>
          <p:nvPr/>
        </p:nvSpPr>
        <p:spPr>
          <a:xfrm>
            <a:off x="530352" y="4736592"/>
            <a:ext cx="8138160" cy="329184"/>
          </a:xfrm>
          <a:prstGeom prst="rect">
            <a:avLst/>
          </a:prstGeom>
          <a:noFill/>
          <a:ln/>
        </p:spPr>
        <p:txBody>
          <a:bodyPr wrap="square" rtlCol="0" anchor="ctr"/>
          <a:lstStyle/>
          <a:p>
            <a:pPr indent="0" marL="0">
              <a:buNone/>
            </a:pPr>
            <a:r>
              <a:rPr lang="en-US" sz="1050" i="1" dirty="0">
                <a:solidFill>
                  <a:srgbClr val="0EA5E9"/>
                </a:solidFill>
                <a:latin typeface="Calibri" pitchFamily="34" charset="0"/>
                <a:ea typeface="Calibri" pitchFamily="34" charset="-122"/>
                <a:cs typeface="Calibri" pitchFamily="34" charset="-120"/>
              </a:rPr>
              <a:t>"We chose PatchTST because failure signatures unfold over time — self-attention connects early anomalies to later symptoms directly, where LSTMs lose the signal across 60+ sequential updates."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Maintenance with Transformers</dc:title>
  <dc:subject>PptxGenJS Presentation</dc:subject>
  <dc:creator>PptxGenJS</dc:creator>
  <cp:lastModifiedBy>PptxGenJS</cp:lastModifiedBy>
  <cp:revision>1</cp:revision>
  <dcterms:created xsi:type="dcterms:W3CDTF">2026-05-09T12:27:04Z</dcterms:created>
  <dcterms:modified xsi:type="dcterms:W3CDTF">2026-05-09T12:27:04Z</dcterms:modified>
</cp:coreProperties>
</file>